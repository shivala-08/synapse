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6"/>
    <p:sldMasterId id="214748366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400" r:id="rId900"/>
    <p:sldId id="401" r:id="rId910"/>
    <p:sldId id="402" r:id="rId920"/>
    <p:sldId id="265" r:id="rId18"/>
    <p:sldId id="410" r:id="rId800"/>
    <p:sldId id="411" r:id="rId810"/>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Lst>
  <p:sldSz cy="5143500" cx="9144000"/>
  <p:notesSz cx="6858000" cy="9144000"/>
  <p:embeddedFontLst>
    <p:embeddedFont>
      <p:font typeface="Poppins"/>
      <p:regular r:id="rId50"/>
      <p:bold r:id="rId51"/>
      <p:italic r:id="rId52"/>
      <p:boldItalic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Vishnu Gandarapu"/>
  <p:cmAuthor clrIdx="1" id="1" initials="" lastIdx="4" name="Adarsh Singh Chauhan"/>
  <p:cmAuthor clrIdx="2" id="2" initials="" lastIdx="2" name="Aayushi Vashisht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9A8331-18CA-48D6-8124-F7E8F97B184A}">
  <a:tblStyle styleId="{C39A8331-18CA-48D6-8124-F7E8F97B184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3.xml"/><Relationship Id="rId55" Type="http://schemas.openxmlformats.org/officeDocument/2006/relationships/font" Target="fonts/OpenSans-bold.fntdata"/><Relationship Id="rId10" Type="http://schemas.openxmlformats.org/officeDocument/2006/relationships/slide" Target="slides/slide2.xml"/><Relationship Id="rId54" Type="http://schemas.openxmlformats.org/officeDocument/2006/relationships/font" Target="fonts/OpenSans-regular.fntdata"/><Relationship Id="rId13" Type="http://schemas.openxmlformats.org/officeDocument/2006/relationships/slide" Target="slides/slide5.xml"/><Relationship Id="rId57" Type="http://schemas.openxmlformats.org/officeDocument/2006/relationships/font" Target="fonts/OpenSans-boldItalic.fntdata"/><Relationship Id="rId12" Type="http://schemas.openxmlformats.org/officeDocument/2006/relationships/slide" Target="slides/slide4.xml"/><Relationship Id="rId56" Type="http://schemas.openxmlformats.org/officeDocument/2006/relationships/font" Target="fonts/OpenSans-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900" Type="http://schemas.openxmlformats.org/officeDocument/2006/relationships/slide" Target="slides/slide42.xml"/><Relationship Id="rId910" Type="http://schemas.openxmlformats.org/officeDocument/2006/relationships/slide" Target="slides/slide43.xml"/><Relationship Id="rId920" Type="http://schemas.openxmlformats.org/officeDocument/2006/relationships/slide" Target="slides/slide44.xml"/><Relationship Id="rId800" Type="http://schemas.openxmlformats.org/officeDocument/2006/relationships/slide" Target="slides/slide45.xml"/><Relationship Id="rId810" Type="http://schemas.openxmlformats.org/officeDocument/2006/relationships/slide" Target="slides/slide46.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06T06:19:51.804">
    <p:pos x="259" y="324"/>
    <p:text>@adhyyan.awasthi@newtonschool.co 
we have completely missed creating DB and accessing it
2 total reactions
Adarsh Singh Chauhan reacted with 👍 at 2026-08-05 4:40 pm UTC
Aayushi Vashishth reacted with ➕ at 2026-08-06 6:19 am UTC
_Assigned to you_</p:text>
  </p:cm>
  <p:cm authorId="1" idx="1" dt="2026-08-06T10:11:59.155">
    <p:pos x="6000" y="0"/>
    <p:text>@adhyyan.awasthi@newtonschool.co 
We have started writing queries but we haven't talked about installing PG Admin as of now.
Let me know if i misses anything ?
_Reassigned to you_</p:text>
  </p:cm>
  <p:cm authorId="2" idx="1" dt="2026-08-06T06:01:23.693">
    <p:pos x="6000" y="0"/>
    <p:text>@adarsh.chauhan@newtonschool.co we'll have to make students install pgadmin before the lecture so that they can do handson with us , plan is to share the doc with them prior and make sure it is done in the lab1 happening before lec2
_Reassigned to Adarsh Singh Chauhan_</p:text>
  </p:cm>
  <p:cm authorId="1" idx="2" dt="2026-08-06T06:11:26.642">
    <p:pos x="6000" y="0"/>
    <p:text>_Marked as done_</p:text>
  </p:cm>
  <p:cm authorId="1" idx="3" dt="2026-08-06T10:11:59.155">
    <p:pos x="6000" y="0"/>
    <p:text>_Re-opened_
@aayushi.vashishth@newtonschool.co
@adhyyan.awasthi@newtonschool.co
I want to make a point so that It doesn't go unnoticed: kindly prepare the documents for installation "psql" on terminal as well.
In my understanding these things may take time as students are doing it for the first time and without them it would be difficult for us to convey our thoughts in the further lectures. 
Our lab content is also made as per the psql on terminal behaviour.
Let me know if this seems sound.
Thanks
Adarsh Chauhan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2" dt="2026-08-06T07:12:00.522">
    <p:pos x="259" y="276"/>
    <p:text>@adhyyan.awasthi@newtonschool.co @adarsh.chauhan@newtonschool.co i feel this lecture is already stretched enough with DDL , DML commands , now explaining the concept of TCL i feel is going to take up a decent amount of time , chances of spill over , why don't we just talk about briefly of TCL because anyway detailed lecture is going to take place on transactions later .
need both of your's POV
_Reassigned to you_</p:text>
  </p:cm>
  <p:cm authorId="1" idx="4" dt="2026-08-06T07:12:00.522">
    <p:pos x="259" y="276"/>
    <p:text>I agree with this to some extent,
my suggestions would be to just introduce TCL with Types and functionality , we can take the call to reduce the queries.
@adhyyan.awasthi@newtonschool.co @aayushi.vashishth@newtonschool.co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5e66fceca_2_3: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f5e66fceca_2_3: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g3f5e66fceca_2_3: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5e66fceca_2_1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f5e66fceca_2_14: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 name="Google Shape;67;g3f5e66fceca_2_14: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5e66fceca_2_5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f5e66fceca_2_50: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g3f5e66fceca_2_50: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5e66fceca_2_6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f5e66fceca_2_63: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3f5e66fceca_2_63: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5e66fceca_2_8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f5e66fceca_2_85: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f5e66fceca_2_85: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5e66fceca_2_1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f5e66fceca_2_105: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g3f5e66fceca_2_105: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5e66fceca_2_1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f5e66fceca_2_136: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g3f5e66fceca_2_136: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5e66fceca_2_16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f5e66fceca_2_168: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g3f5e66fceca_2_168: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5e66fceca_2_1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f5e66fceca_2_1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f5e66fceca_2_1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5e66fceca_2_20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f5e66fceca_2_20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g3f5e66fceca_2_20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5e66fceca_2_25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f5e66fceca_2_25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g3f5e66fceca_2_25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5e66fceca_2_29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f5e66fceca_2_29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g3f5e66fceca_2_29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f5e66fceca_2_3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f5e66fceca_2_3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3f5e66fceca_2_3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f5e66fceca_2_34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f5e66fceca_2_344: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g3f5e66fceca_2_344: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f5e66fceca_2_35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3f5e66fceca_2_35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3f5e66fceca_2_35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f5e66fceca_2_36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g3f5e66fceca_2_36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g3f5e66fceca_2_36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f5e66fceca_2_42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f5e66fceca_2_42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g3f5e66fceca_2_42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f5e66fceca_2_48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f5e66fceca_2_48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3" name="Google Shape;553;g3f5e66fceca_2_48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f5e66fceca_2_52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f5e66fceca_2_52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g3f5e66fceca_2_52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f5e66fceca_2_57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f5e66fceca_2_57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f5e66fceca_2_57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f5e66fceca_2_59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g3f5e66fceca_2_598: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g3f5e66fceca_2_598: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f5e66fceca_2_60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g3f5e66fceca_2_606: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f5e66fceca_2_606: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f5e66fceca_2_61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g3f5e66fceca_2_61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8" name="Google Shape;688;g3f5e66fceca_2_61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f5e66fceca_2_6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g3f5e66fceca_2_641: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5e66fceca_2_641: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f5e66fceca_2_65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f5e66fceca_2_659: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g3f5e66fceca_2_659: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f5e66fceca_2_68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g3f5e66fceca_2_687: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g3f5e66fceca_2_687: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f5e66fceca_2_7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g3f5e66fceca_2_705: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g3f5e66fceca_2_705: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f5e66fceca_2_7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g3f5e66fceca_2_741: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f5e66fceca_2_741: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f5e66fceca_2_75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g3f5e66fceca_2_759: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f5e66fceca_2_759: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f5e66fceca_2_78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8" name="Google Shape;868;g3f5e66fceca_2_788: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f5e66fceca_2_788: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f5e66fceca_2_79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g3f5e66fceca_2_796: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g3f5e66fceca_2_796: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f5e66fceca_2_80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 name="Google Shape;886;g3f5e66fceca_2_80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7" name="Google Shape;887;g3f5e66fceca_2_80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f5e66fceca_2_81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g3f5e66fceca_2_81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f5e66fceca_2_81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f5e66fceca_2_84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g3f5e66fceca_2_84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f5e66fceca_2_84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f5e66fceca_2_86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g3f5e66fceca_2_866: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2" name="Google Shape;952;g3f5e66fceca_2_866: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f5e66fceca_2_87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g3f5e66fceca_2_874:notes"/>
          <p:cNvSpPr txBox="1"/>
          <p:nvPr>
            <p:ph idx="1" type="body"/>
          </p:nvPr>
        </p:nvSpPr>
        <p:spPr>
          <a:xfrm>
            <a:off x="685800" y="3300413"/>
            <a:ext cx="5486400" cy="27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f5e66fceca_2_874:notes"/>
          <p:cNvSpPr txBox="1"/>
          <p:nvPr>
            <p:ph idx="12" type="sldNum"/>
          </p:nvPr>
        </p:nvSpPr>
        <p:spPr>
          <a:xfrm>
            <a:off x="3884613" y="6513910"/>
            <a:ext cx="2971800" cy="3440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f5e66fceca_2_88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9" name="Google Shape;969;g3f5e66fceca_2_88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f5e66fceca_2_88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f5e66fceca_2_90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7" name="Google Shape;997;g3f5e66fceca_2_90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g3f5e66fceca_2_90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f5e66fceca_2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g3f5e66fceca_2_928:notes"/>
          <p:cNvSpPr/>
          <p:nvPr>
            <p:ph idx="2" type="sldImg"/>
          </p:nvPr>
        </p:nvSpPr>
        <p:spPr>
          <a:xfrm>
            <a:off x="857442"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f5e66fceca_2_934: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g3f5e66fceca_2_934: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g3f5e66fceca_2_934: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f5e66fceca_2_942: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3" name="Google Shape;1033;g3f5e66fceca_2_942: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4" name="Google Shape;1034;g3f5e66fceca_2_942: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comments" Target="../comments/commen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comments" Target="../comments/comment2.xml"/><Relationship Id="rId4" Type="http://schemas.openxmlformats.org/officeDocument/2006/relationships/image" Target="../media/image19.png"/><Relationship Id="rId5"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20.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8.png"/><Relationship Id="rId4" Type="http://schemas.openxmlformats.org/officeDocument/2006/relationships/image" Target="../media/image2.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pic>
        <p:nvPicPr>
          <p:cNvPr descr="assets/title_triangle.png" id="58" name="Google Shape;58;p16"/>
          <p:cNvPicPr preferRelativeResize="0"/>
          <p:nvPr/>
        </p:nvPicPr>
        <p:blipFill rotWithShape="1">
          <a:blip r:embed="rId3">
            <a:alphaModFix/>
          </a:blip>
          <a:srcRect b="0" l="0" r="0" t="0"/>
          <a:stretch/>
        </p:blipFill>
        <p:spPr>
          <a:xfrm>
            <a:off x="0" y="0"/>
            <a:ext cx="3806292" cy="5143501"/>
          </a:xfrm>
          <a:prstGeom prst="rect">
            <a:avLst/>
          </a:prstGeom>
          <a:noFill/>
          <a:ln>
            <a:noFill/>
          </a:ln>
        </p:spPr>
      </p:pic>
      <p:sp>
        <p:nvSpPr>
          <p:cNvPr id="59" name="Google Shape;59;p16"/>
          <p:cNvSpPr/>
          <p:nvPr/>
        </p:nvSpPr>
        <p:spPr>
          <a:xfrm>
            <a:off x="4457819" y="1405890"/>
            <a:ext cx="562200" cy="562200"/>
          </a:xfrm>
          <a:prstGeom prst="ellipse">
            <a:avLst/>
          </a:prstGeom>
          <a:solidFill>
            <a:srgbClr val="2E80C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16"/>
          <p:cNvSpPr/>
          <p:nvPr/>
        </p:nvSpPr>
        <p:spPr>
          <a:xfrm>
            <a:off x="4457819" y="1405890"/>
            <a:ext cx="562200" cy="562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000"/>
              <a:buFont typeface="Poppins"/>
              <a:buNone/>
            </a:pPr>
            <a:r>
              <a:rPr b="1" lang="en-GB" sz="2000">
                <a:solidFill>
                  <a:srgbClr val="FFFFFF"/>
                </a:solidFill>
                <a:latin typeface="Poppins"/>
                <a:ea typeface="Poppins"/>
                <a:cs typeface="Poppins"/>
                <a:sym typeface="Poppins"/>
              </a:rPr>
              <a:t>2</a:t>
            </a:r>
            <a:endParaRPr b="0" i="0" sz="2000" u="none" cap="none" strike="noStrike">
              <a:solidFill>
                <a:schemeClr val="dk1"/>
              </a:solidFill>
              <a:latin typeface="Calibri"/>
              <a:ea typeface="Calibri"/>
              <a:cs typeface="Calibri"/>
              <a:sym typeface="Calibri"/>
            </a:endParaRPr>
          </a:p>
        </p:txBody>
      </p:sp>
      <p:sp>
        <p:nvSpPr>
          <p:cNvPr id="61" name="Google Shape;61;p16"/>
          <p:cNvSpPr/>
          <p:nvPr/>
        </p:nvSpPr>
        <p:spPr>
          <a:xfrm>
            <a:off x="4423528" y="2091690"/>
            <a:ext cx="4389300" cy="1166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800"/>
              </a:spcBef>
              <a:spcAft>
                <a:spcPts val="0"/>
              </a:spcAft>
              <a:buClr>
                <a:schemeClr val="dk1"/>
              </a:buClr>
              <a:buSzPts val="800"/>
              <a:buFont typeface="Arial"/>
              <a:buNone/>
            </a:pPr>
            <a:r>
              <a:rPr b="1" lang="en-GB" sz="2800">
                <a:solidFill>
                  <a:srgbClr val="1E4161"/>
                </a:solidFill>
                <a:latin typeface="Cambria"/>
                <a:ea typeface="Cambria"/>
                <a:cs typeface="Cambria"/>
                <a:sym typeface="Cambria"/>
              </a:rPr>
              <a:t>Introduction to SQL and SQL  Commands</a:t>
            </a:r>
            <a:endParaRPr b="1" sz="2800">
              <a:solidFill>
                <a:srgbClr val="1E4161"/>
              </a:solidFill>
              <a:latin typeface="Cambria"/>
              <a:ea typeface="Cambria"/>
              <a:cs typeface="Cambria"/>
              <a:sym typeface="Cambria"/>
            </a:endParaRPr>
          </a:p>
          <a:p>
            <a:pPr indent="0" lvl="0" marL="0" marR="0" rtl="0" algn="l">
              <a:lnSpc>
                <a:spcPct val="98000"/>
              </a:lnSpc>
              <a:spcBef>
                <a:spcPts val="500"/>
              </a:spcBef>
              <a:spcAft>
                <a:spcPts val="0"/>
              </a:spcAft>
              <a:buClr>
                <a:srgbClr val="17385D"/>
              </a:buClr>
              <a:buSzPts val="3000"/>
              <a:buFont typeface="Poppins"/>
              <a:buNone/>
            </a:pPr>
            <a:r>
              <a:t/>
            </a:r>
            <a:endParaRPr sz="3000">
              <a:solidFill>
                <a:srgbClr val="1E4161"/>
              </a:solidFill>
              <a:latin typeface="Calibri"/>
              <a:ea typeface="Calibri"/>
              <a:cs typeface="Calibri"/>
              <a:sym typeface="Calibri"/>
            </a:endParaRPr>
          </a:p>
        </p:txBody>
      </p:sp>
      <p:sp>
        <p:nvSpPr>
          <p:cNvPr id="62" name="Google Shape;62;p16"/>
          <p:cNvSpPr/>
          <p:nvPr/>
        </p:nvSpPr>
        <p:spPr>
          <a:xfrm>
            <a:off x="6176573" y="4471925"/>
            <a:ext cx="27573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A7A9E"/>
              </a:buClr>
              <a:buSzPts val="1500"/>
              <a:buFont typeface="Poppins"/>
              <a:buNone/>
            </a:pPr>
            <a:r>
              <a:rPr lang="en-GB" sz="1500">
                <a:solidFill>
                  <a:srgbClr val="5A7A9E"/>
                </a:solidFill>
                <a:latin typeface="Poppins"/>
                <a:ea typeface="Poppins"/>
                <a:cs typeface="Poppins"/>
                <a:sym typeface="Poppins"/>
              </a:rPr>
              <a:t>Vrushali Masane </a:t>
            </a:r>
            <a:endParaRPr b="0" i="0" sz="1500" u="none" cap="none" strike="noStrike">
              <a:solidFill>
                <a:schemeClr val="dk1"/>
              </a:solidFill>
              <a:latin typeface="Calibri"/>
              <a:ea typeface="Calibri"/>
              <a:cs typeface="Calibri"/>
              <a:sym typeface="Calibri"/>
            </a:endParaRPr>
          </a:p>
        </p:txBody>
      </p:sp>
      <p:sp>
        <p:nvSpPr>
          <p:cNvPr id="63" name="Google Shape;63;p16"/>
          <p:cNvSpPr/>
          <p:nvPr/>
        </p:nvSpPr>
        <p:spPr>
          <a:xfrm>
            <a:off x="7278266" y="169790"/>
            <a:ext cx="1534471" cy="395992"/>
          </a:xfrm>
          <a:custGeom>
            <a:rect b="b" l="l" r="r" t="t"/>
            <a:pathLst>
              <a:path extrusionOk="0" h="527990" w="2045962">
                <a:moveTo>
                  <a:pt x="0" y="0"/>
                </a:moveTo>
                <a:lnTo>
                  <a:pt x="2045962" y="0"/>
                </a:lnTo>
                <a:lnTo>
                  <a:pt x="2045962" y="527990"/>
                </a:lnTo>
                <a:lnTo>
                  <a:pt x="0" y="527990"/>
                </a:lnTo>
                <a:lnTo>
                  <a:pt x="0" y="0"/>
                </a:lnTo>
                <a:close/>
              </a:path>
            </a:pathLst>
          </a:custGeom>
          <a:blipFill rotWithShape="1">
            <a:blip r:embed="rId4">
              <a:alphaModFix amt="85000"/>
            </a:blip>
            <a:stretch>
              <a:fillRect b="0" l="-330" r="-33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68" name="Shape 68"/>
        <p:cNvGrpSpPr/>
        <p:nvPr/>
      </p:nvGrpSpPr>
      <p:grpSpPr>
        <a:xfrm>
          <a:off x="0" y="0"/>
          <a:ext cx="0" cy="0"/>
          <a:chOff x="0" y="0"/>
          <a:chExt cx="0" cy="0"/>
        </a:xfrm>
      </p:grpSpPr>
      <p:sp>
        <p:nvSpPr>
          <p:cNvPr id="69" name="Google Shape;69;p17"/>
          <p:cNvSpPr/>
          <p:nvPr/>
        </p:nvSpPr>
        <p:spPr>
          <a:xfrm>
            <a:off x="411480" y="288036"/>
            <a:ext cx="54864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000"/>
              <a:buFont typeface="Calibri"/>
              <a:buNone/>
            </a:pPr>
            <a:r>
              <a:rPr b="1" i="0" lang="en-GB" sz="1300" u="none" cap="none" strike="noStrike">
                <a:solidFill>
                  <a:srgbClr val="DBE3EB"/>
                </a:solidFill>
                <a:latin typeface="Calibri"/>
                <a:ea typeface="Calibri"/>
                <a:cs typeface="Calibri"/>
                <a:sym typeface="Calibri"/>
              </a:rPr>
              <a:t>THE BIG QUESTION</a:t>
            </a:r>
            <a:endParaRPr b="0" i="0" sz="1300" u="none" cap="none" strike="noStrike">
              <a:solidFill>
                <a:schemeClr val="dk1"/>
              </a:solidFill>
              <a:latin typeface="Calibri"/>
              <a:ea typeface="Calibri"/>
              <a:cs typeface="Calibri"/>
              <a:sym typeface="Calibri"/>
            </a:endParaRPr>
          </a:p>
        </p:txBody>
      </p:sp>
      <p:sp>
        <p:nvSpPr>
          <p:cNvPr id="70" name="Google Shape;70;p17"/>
          <p:cNvSpPr/>
          <p:nvPr/>
        </p:nvSpPr>
        <p:spPr>
          <a:xfrm>
            <a:off x="411480" y="582930"/>
            <a:ext cx="8298225" cy="754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1700" u="none" cap="none" strike="noStrike">
                <a:solidFill>
                  <a:srgbClr val="FFFFFF"/>
                </a:solidFill>
                <a:latin typeface="Cambria"/>
                <a:ea typeface="Cambria"/>
                <a:cs typeface="Cambria"/>
                <a:sym typeface="Cambria"/>
              </a:rPr>
              <a:t>Databases hold billions of records.</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2000"/>
              <a:buFont typeface="Cambria"/>
              <a:buNone/>
            </a:pPr>
            <a:r>
              <a:rPr b="1" i="0" lang="en-GB" sz="1700" u="none" cap="none" strike="noStrike">
                <a:solidFill>
                  <a:srgbClr val="FFFFFF"/>
                </a:solidFill>
                <a:latin typeface="Cambria"/>
                <a:ea typeface="Cambria"/>
                <a:cs typeface="Cambria"/>
                <a:sym typeface="Cambria"/>
              </a:rPr>
              <a:t>How do humans/applications actually talk to them?</a:t>
            </a:r>
            <a:endParaRPr b="0" i="0" sz="1700" u="none" cap="none" strike="noStrike">
              <a:solidFill>
                <a:schemeClr val="dk1"/>
              </a:solidFill>
              <a:latin typeface="Calibri"/>
              <a:ea typeface="Calibri"/>
              <a:cs typeface="Calibri"/>
              <a:sym typeface="Calibri"/>
            </a:endParaRPr>
          </a:p>
        </p:txBody>
      </p:sp>
      <p:sp>
        <p:nvSpPr>
          <p:cNvPr id="71" name="Google Shape;71;p17"/>
          <p:cNvSpPr/>
          <p:nvPr/>
        </p:nvSpPr>
        <p:spPr>
          <a:xfrm>
            <a:off x="411480" y="1611630"/>
            <a:ext cx="4080600" cy="1337400"/>
          </a:xfrm>
          <a:prstGeom prst="roundRect">
            <a:avLst>
              <a:gd fmla="val 6154" name="adj"/>
            </a:avLst>
          </a:prstGeom>
          <a:solidFill>
            <a:srgbClr val="336C9F"/>
          </a:solidFill>
          <a:ln cap="flat" cmpd="sng" w="12700">
            <a:solidFill>
              <a:srgbClr val="4E88B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 name="Google Shape;72;p17"/>
          <p:cNvSpPr/>
          <p:nvPr/>
        </p:nvSpPr>
        <p:spPr>
          <a:xfrm>
            <a:off x="720090" y="1803654"/>
            <a:ext cx="425250" cy="953325"/>
          </a:xfrm>
          <a:prstGeom prst="roundRect">
            <a:avLst>
              <a:gd fmla="val 14516" name="adj"/>
            </a:avLst>
          </a:prstGeom>
          <a:solidFill>
            <a:srgbClr val="1A3650"/>
          </a:solidFill>
          <a:ln cap="flat" cmpd="sng" w="19050">
            <a:solidFill>
              <a:srgbClr val="64A2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3" name="Google Shape;73;p17"/>
          <p:cNvSpPr/>
          <p:nvPr/>
        </p:nvSpPr>
        <p:spPr>
          <a:xfrm>
            <a:off x="781812" y="1892808"/>
            <a:ext cx="301725" cy="150975"/>
          </a:xfrm>
          <a:prstGeom prst="roundRect">
            <a:avLst>
              <a:gd fmla="val 13636" name="adj"/>
            </a:avLst>
          </a:prstGeom>
          <a:solidFill>
            <a:srgbClr val="64A2D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 name="Google Shape;74;p17"/>
          <p:cNvSpPr/>
          <p:nvPr/>
        </p:nvSpPr>
        <p:spPr>
          <a:xfrm>
            <a:off x="781812" y="2125980"/>
            <a:ext cx="301725" cy="150975"/>
          </a:xfrm>
          <a:prstGeom prst="roundRect">
            <a:avLst>
              <a:gd fmla="val 13636" name="adj"/>
            </a:avLst>
          </a:prstGeom>
          <a:solidFill>
            <a:srgbClr val="5087B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5" name="Google Shape;75;p17"/>
          <p:cNvSpPr/>
          <p:nvPr/>
        </p:nvSpPr>
        <p:spPr>
          <a:xfrm>
            <a:off x="781812" y="2359152"/>
            <a:ext cx="301725" cy="150975"/>
          </a:xfrm>
          <a:prstGeom prst="roundRect">
            <a:avLst>
              <a:gd fmla="val 13636" name="adj"/>
            </a:avLst>
          </a:prstGeom>
          <a:solidFill>
            <a:srgbClr val="5087B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6" name="Google Shape;76;p17"/>
          <p:cNvSpPr/>
          <p:nvPr/>
        </p:nvSpPr>
        <p:spPr>
          <a:xfrm>
            <a:off x="1337310" y="1783080"/>
            <a:ext cx="2983275" cy="99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0" lang="en-GB" sz="1200" u="none" cap="none" strike="noStrike">
                <a:solidFill>
                  <a:srgbClr val="DBE3EB"/>
                </a:solidFill>
                <a:latin typeface="Calibri"/>
                <a:ea typeface="Calibri"/>
                <a:cs typeface="Calibri"/>
                <a:sym typeface="Calibri"/>
              </a:rPr>
              <a:t>How does Instagram fetch your feed in milliseconds?</a:t>
            </a:r>
            <a:endParaRPr b="0" i="0" sz="1200" u="none" cap="none" strike="noStrike">
              <a:solidFill>
                <a:schemeClr val="dk1"/>
              </a:solidFill>
              <a:latin typeface="Calibri"/>
              <a:ea typeface="Calibri"/>
              <a:cs typeface="Calibri"/>
              <a:sym typeface="Calibri"/>
            </a:endParaRPr>
          </a:p>
        </p:txBody>
      </p:sp>
      <p:sp>
        <p:nvSpPr>
          <p:cNvPr id="77" name="Google Shape;77;p17"/>
          <p:cNvSpPr/>
          <p:nvPr/>
        </p:nvSpPr>
        <p:spPr>
          <a:xfrm>
            <a:off x="4635524" y="1611630"/>
            <a:ext cx="4080600" cy="1337400"/>
          </a:xfrm>
          <a:prstGeom prst="roundRect">
            <a:avLst>
              <a:gd fmla="val 6154" name="adj"/>
            </a:avLst>
          </a:prstGeom>
          <a:solidFill>
            <a:srgbClr val="336C9F"/>
          </a:solidFill>
          <a:ln cap="flat" cmpd="sng" w="12700">
            <a:solidFill>
              <a:srgbClr val="4E88B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8" name="Google Shape;78;p17"/>
          <p:cNvSpPr/>
          <p:nvPr/>
        </p:nvSpPr>
        <p:spPr>
          <a:xfrm>
            <a:off x="4917186" y="1851660"/>
            <a:ext cx="582975" cy="857250"/>
          </a:xfrm>
          <a:prstGeom prst="roundRect">
            <a:avLst>
              <a:gd fmla="val 9412" name="adj"/>
            </a:avLst>
          </a:prstGeom>
          <a:solidFill>
            <a:srgbClr val="1A3650"/>
          </a:solidFill>
          <a:ln cap="flat" cmpd="sng" w="19050">
            <a:solidFill>
              <a:srgbClr val="5BA4E4"/>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 name="Google Shape;79;p17"/>
          <p:cNvSpPr/>
          <p:nvPr/>
        </p:nvSpPr>
        <p:spPr>
          <a:xfrm>
            <a:off x="4917174" y="1947675"/>
            <a:ext cx="637800" cy="2193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AFC8DF"/>
              </a:buClr>
              <a:buSzPts val="900"/>
              <a:buFont typeface="Consolas"/>
              <a:buNone/>
            </a:pPr>
            <a:r>
              <a:rPr b="0" i="0" lang="en-GB" sz="1100" u="none" cap="none" strike="sngStrike">
                <a:solidFill>
                  <a:srgbClr val="AFC8DF"/>
                </a:solidFill>
                <a:latin typeface="Consolas"/>
                <a:ea typeface="Consolas"/>
                <a:cs typeface="Consolas"/>
                <a:sym typeface="Consolas"/>
              </a:rPr>
              <a:t>₹1,299</a:t>
            </a:r>
            <a:endParaRPr b="0" i="0" sz="1100" u="none" cap="none" strike="noStrike">
              <a:solidFill>
                <a:schemeClr val="dk1"/>
              </a:solidFill>
              <a:latin typeface="Calibri"/>
              <a:ea typeface="Calibri"/>
              <a:cs typeface="Calibri"/>
              <a:sym typeface="Calibri"/>
            </a:endParaRPr>
          </a:p>
        </p:txBody>
      </p:sp>
      <p:sp>
        <p:nvSpPr>
          <p:cNvPr id="80" name="Google Shape;80;p17"/>
          <p:cNvSpPr/>
          <p:nvPr/>
        </p:nvSpPr>
        <p:spPr>
          <a:xfrm>
            <a:off x="4917186" y="2194560"/>
            <a:ext cx="582975" cy="2742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81B8E9"/>
              </a:buClr>
              <a:buSzPts val="1200"/>
              <a:buFont typeface="Consolas"/>
              <a:buNone/>
            </a:pPr>
            <a:r>
              <a:rPr b="1" i="0" lang="en-GB" sz="1200" u="none" cap="none" strike="noStrike">
                <a:solidFill>
                  <a:srgbClr val="81B8E9"/>
                </a:solidFill>
                <a:latin typeface="Consolas"/>
                <a:ea typeface="Consolas"/>
                <a:cs typeface="Consolas"/>
                <a:sym typeface="Consolas"/>
              </a:rPr>
              <a:t>₹999</a:t>
            </a:r>
            <a:endParaRPr b="0" i="0" sz="1200" u="none" cap="none" strike="noStrike">
              <a:solidFill>
                <a:schemeClr val="dk1"/>
              </a:solidFill>
              <a:latin typeface="Calibri"/>
              <a:ea typeface="Calibri"/>
              <a:cs typeface="Calibri"/>
              <a:sym typeface="Calibri"/>
            </a:endParaRPr>
          </a:p>
        </p:txBody>
      </p:sp>
      <p:sp>
        <p:nvSpPr>
          <p:cNvPr id="81" name="Google Shape;81;p17"/>
          <p:cNvSpPr/>
          <p:nvPr/>
        </p:nvSpPr>
        <p:spPr>
          <a:xfrm>
            <a:off x="5554980" y="1783080"/>
            <a:ext cx="2983275" cy="99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0" lang="en-GB" sz="1200" u="none" cap="none" strike="noStrike">
                <a:solidFill>
                  <a:srgbClr val="DBE3EB"/>
                </a:solidFill>
                <a:latin typeface="Calibri"/>
                <a:ea typeface="Calibri"/>
                <a:cs typeface="Calibri"/>
                <a:sym typeface="Calibri"/>
              </a:rPr>
              <a:t>How does Amazon update prices for millions of users?</a:t>
            </a:r>
            <a:endParaRPr b="0" i="0" sz="1200" u="none" cap="none" strike="noStrike">
              <a:solidFill>
                <a:schemeClr val="dk1"/>
              </a:solidFill>
              <a:latin typeface="Calibri"/>
              <a:ea typeface="Calibri"/>
              <a:cs typeface="Calibri"/>
              <a:sym typeface="Calibri"/>
            </a:endParaRPr>
          </a:p>
        </p:txBody>
      </p:sp>
      <p:sp>
        <p:nvSpPr>
          <p:cNvPr id="82" name="Google Shape;82;p17"/>
          <p:cNvSpPr/>
          <p:nvPr/>
        </p:nvSpPr>
        <p:spPr>
          <a:xfrm>
            <a:off x="411480" y="3120390"/>
            <a:ext cx="4080600" cy="1337400"/>
          </a:xfrm>
          <a:prstGeom prst="roundRect">
            <a:avLst>
              <a:gd fmla="val 6154" name="adj"/>
            </a:avLst>
          </a:prstGeom>
          <a:solidFill>
            <a:srgbClr val="336C9F"/>
          </a:solidFill>
          <a:ln cap="flat" cmpd="sng" w="12700">
            <a:solidFill>
              <a:srgbClr val="4E88B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 name="Google Shape;83;p17"/>
          <p:cNvSpPr/>
          <p:nvPr/>
        </p:nvSpPr>
        <p:spPr>
          <a:xfrm>
            <a:off x="630936" y="3576447"/>
            <a:ext cx="342900" cy="425250"/>
          </a:xfrm>
          <a:prstGeom prst="roundRect">
            <a:avLst>
              <a:gd fmla="val 12000" name="adj"/>
            </a:avLst>
          </a:prstGeom>
          <a:solidFill>
            <a:srgbClr val="1A3650"/>
          </a:solidFill>
          <a:ln cap="flat" cmpd="sng" w="19050">
            <a:solidFill>
              <a:srgbClr val="5B96C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 name="Google Shape;84;p17"/>
          <p:cNvSpPr/>
          <p:nvPr/>
        </p:nvSpPr>
        <p:spPr>
          <a:xfrm>
            <a:off x="630936" y="3576447"/>
            <a:ext cx="342900" cy="4252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9FC5E8"/>
              </a:buClr>
              <a:buSzPts val="1000"/>
              <a:buFont typeface="Calibri"/>
              <a:buNone/>
            </a:pPr>
            <a:r>
              <a:rPr b="1" i="0" lang="en-GB" sz="1100" u="none" cap="none" strike="noStrike">
                <a:solidFill>
                  <a:srgbClr val="9FC5E8"/>
                </a:solidFill>
                <a:latin typeface="Calibri"/>
                <a:ea typeface="Calibri"/>
                <a:cs typeface="Calibri"/>
                <a:sym typeface="Calibri"/>
              </a:rPr>
              <a:t>A</a:t>
            </a:r>
            <a:endParaRPr b="0" i="0" sz="1100" u="none" cap="none" strike="noStrike">
              <a:solidFill>
                <a:schemeClr val="dk1"/>
              </a:solidFill>
              <a:latin typeface="Calibri"/>
              <a:ea typeface="Calibri"/>
              <a:cs typeface="Calibri"/>
              <a:sym typeface="Calibri"/>
            </a:endParaRPr>
          </a:p>
        </p:txBody>
      </p:sp>
      <p:sp>
        <p:nvSpPr>
          <p:cNvPr id="85" name="Google Shape;85;p17"/>
          <p:cNvSpPr/>
          <p:nvPr/>
        </p:nvSpPr>
        <p:spPr>
          <a:xfrm>
            <a:off x="994410" y="3747897"/>
            <a:ext cx="123525" cy="82350"/>
          </a:xfrm>
          <a:prstGeom prst="rightArrow">
            <a:avLst>
              <a:gd fmla="val 50000" name="adj1"/>
              <a:gd fmla="val 50000" name="adj2"/>
            </a:avLst>
          </a:prstGeom>
          <a:solidFill>
            <a:srgbClr val="9FC5E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 name="Google Shape;86;p17"/>
          <p:cNvSpPr/>
          <p:nvPr/>
        </p:nvSpPr>
        <p:spPr>
          <a:xfrm>
            <a:off x="1138428" y="3576447"/>
            <a:ext cx="342900" cy="425250"/>
          </a:xfrm>
          <a:prstGeom prst="roundRect">
            <a:avLst>
              <a:gd fmla="val 12000" name="adj"/>
            </a:avLst>
          </a:prstGeom>
          <a:solidFill>
            <a:srgbClr val="1A3650"/>
          </a:solidFill>
          <a:ln cap="flat" cmpd="sng" w="19050">
            <a:solidFill>
              <a:srgbClr val="5B96C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7" name="Google Shape;87;p17"/>
          <p:cNvSpPr/>
          <p:nvPr/>
        </p:nvSpPr>
        <p:spPr>
          <a:xfrm>
            <a:off x="1138428" y="3576447"/>
            <a:ext cx="342900" cy="4252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9FC5E8"/>
              </a:buClr>
              <a:buSzPts val="1000"/>
              <a:buFont typeface="Calibri"/>
              <a:buNone/>
            </a:pPr>
            <a:r>
              <a:rPr b="1" i="0" lang="en-GB" sz="1100" u="none" cap="none" strike="noStrike">
                <a:solidFill>
                  <a:srgbClr val="9FC5E8"/>
                </a:solidFill>
                <a:latin typeface="Calibri"/>
                <a:ea typeface="Calibri"/>
                <a:cs typeface="Calibri"/>
                <a:sym typeface="Calibri"/>
              </a:rPr>
              <a:t>B</a:t>
            </a:r>
            <a:endParaRPr b="0" i="0" sz="1100" u="none" cap="none" strike="noStrike">
              <a:solidFill>
                <a:schemeClr val="dk1"/>
              </a:solidFill>
              <a:latin typeface="Calibri"/>
              <a:ea typeface="Calibri"/>
              <a:cs typeface="Calibri"/>
              <a:sym typeface="Calibri"/>
            </a:endParaRPr>
          </a:p>
        </p:txBody>
      </p:sp>
      <p:sp>
        <p:nvSpPr>
          <p:cNvPr id="88" name="Google Shape;88;p17"/>
          <p:cNvSpPr/>
          <p:nvPr/>
        </p:nvSpPr>
        <p:spPr>
          <a:xfrm>
            <a:off x="1563622" y="3312409"/>
            <a:ext cx="2983275" cy="99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0" lang="en-GB" sz="1200" u="none" cap="none" strike="noStrike">
                <a:solidFill>
                  <a:srgbClr val="DBE3EB"/>
                </a:solidFill>
                <a:latin typeface="Calibri"/>
                <a:ea typeface="Calibri"/>
                <a:cs typeface="Calibri"/>
                <a:sym typeface="Calibri"/>
              </a:rPr>
              <a:t>How can a bank undo a failed transaction?</a:t>
            </a:r>
            <a:endParaRPr b="0" i="0" sz="1200" u="none" cap="none" strike="noStrike">
              <a:solidFill>
                <a:schemeClr val="dk1"/>
              </a:solidFill>
              <a:latin typeface="Calibri"/>
              <a:ea typeface="Calibri"/>
              <a:cs typeface="Calibri"/>
              <a:sym typeface="Calibri"/>
            </a:endParaRPr>
          </a:p>
        </p:txBody>
      </p:sp>
      <p:sp>
        <p:nvSpPr>
          <p:cNvPr id="89" name="Google Shape;89;p17"/>
          <p:cNvSpPr/>
          <p:nvPr/>
        </p:nvSpPr>
        <p:spPr>
          <a:xfrm>
            <a:off x="4629150" y="3120390"/>
            <a:ext cx="4080600" cy="1337400"/>
          </a:xfrm>
          <a:prstGeom prst="roundRect">
            <a:avLst>
              <a:gd fmla="val 6154" name="adj"/>
            </a:avLst>
          </a:prstGeom>
          <a:solidFill>
            <a:srgbClr val="336C9F"/>
          </a:solidFill>
          <a:ln cap="flat" cmpd="sng" w="12700">
            <a:solidFill>
              <a:srgbClr val="4E88B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0" name="Google Shape;90;p17"/>
          <p:cNvSpPr/>
          <p:nvPr/>
        </p:nvSpPr>
        <p:spPr>
          <a:xfrm>
            <a:off x="4903470" y="3408426"/>
            <a:ext cx="582975" cy="761175"/>
          </a:xfrm>
          <a:prstGeom prst="roundRect">
            <a:avLst>
              <a:gd fmla="val 5882" name="adj"/>
            </a:avLst>
          </a:prstGeom>
          <a:solidFill>
            <a:srgbClr val="1A3650"/>
          </a:solidFill>
          <a:ln cap="flat" cmpd="sng" w="19050">
            <a:solidFill>
              <a:srgbClr val="6BA4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91" name="Google Shape;91;p17"/>
          <p:cNvCxnSpPr/>
          <p:nvPr/>
        </p:nvCxnSpPr>
        <p:spPr>
          <a:xfrm>
            <a:off x="4903470" y="3652022"/>
            <a:ext cx="582975" cy="0"/>
          </a:xfrm>
          <a:prstGeom prst="straightConnector1">
            <a:avLst/>
          </a:prstGeom>
          <a:noFill/>
          <a:ln cap="flat" cmpd="sng" w="15875">
            <a:solidFill>
              <a:srgbClr val="6BA4D8"/>
            </a:solidFill>
            <a:prstDash val="solid"/>
            <a:round/>
            <a:headEnd len="sm" w="sm" type="none"/>
            <a:tailEnd len="sm" w="sm" type="none"/>
          </a:ln>
        </p:spPr>
      </p:cxnSp>
      <p:cxnSp>
        <p:nvCxnSpPr>
          <p:cNvPr id="92" name="Google Shape;92;p17"/>
          <p:cNvCxnSpPr/>
          <p:nvPr/>
        </p:nvCxnSpPr>
        <p:spPr>
          <a:xfrm>
            <a:off x="5097780" y="3408426"/>
            <a:ext cx="0" cy="761175"/>
          </a:xfrm>
          <a:prstGeom prst="straightConnector1">
            <a:avLst/>
          </a:prstGeom>
          <a:noFill/>
          <a:ln cap="flat" cmpd="sng" w="12700">
            <a:solidFill>
              <a:srgbClr val="6BA4D8"/>
            </a:solidFill>
            <a:prstDash val="solid"/>
            <a:round/>
            <a:headEnd len="sm" w="sm" type="none"/>
            <a:tailEnd len="sm" w="sm" type="none"/>
          </a:ln>
        </p:spPr>
      </p:cxnSp>
      <p:cxnSp>
        <p:nvCxnSpPr>
          <p:cNvPr id="93" name="Google Shape;93;p17"/>
          <p:cNvCxnSpPr/>
          <p:nvPr/>
        </p:nvCxnSpPr>
        <p:spPr>
          <a:xfrm>
            <a:off x="5292090" y="3408426"/>
            <a:ext cx="0" cy="761175"/>
          </a:xfrm>
          <a:prstGeom prst="straightConnector1">
            <a:avLst/>
          </a:prstGeom>
          <a:noFill/>
          <a:ln cap="flat" cmpd="sng" w="12700">
            <a:solidFill>
              <a:srgbClr val="6BA4D8"/>
            </a:solidFill>
            <a:prstDash val="solid"/>
            <a:round/>
            <a:headEnd len="sm" w="sm" type="none"/>
            <a:tailEnd len="sm" w="sm" type="none"/>
          </a:ln>
        </p:spPr>
      </p:cxnSp>
      <p:cxnSp>
        <p:nvCxnSpPr>
          <p:cNvPr id="94" name="Google Shape;94;p17"/>
          <p:cNvCxnSpPr/>
          <p:nvPr/>
        </p:nvCxnSpPr>
        <p:spPr>
          <a:xfrm>
            <a:off x="4903470" y="3910843"/>
            <a:ext cx="582975" cy="0"/>
          </a:xfrm>
          <a:prstGeom prst="straightConnector1">
            <a:avLst/>
          </a:prstGeom>
          <a:noFill/>
          <a:ln cap="flat" cmpd="sng" w="12700">
            <a:solidFill>
              <a:srgbClr val="6BA4D8"/>
            </a:solidFill>
            <a:prstDash val="solid"/>
            <a:round/>
            <a:headEnd len="sm" w="sm" type="none"/>
            <a:tailEnd len="sm" w="sm" type="none"/>
          </a:ln>
        </p:spPr>
      </p:cxnSp>
      <p:sp>
        <p:nvSpPr>
          <p:cNvPr id="95" name="Google Shape;95;p17"/>
          <p:cNvSpPr/>
          <p:nvPr/>
        </p:nvSpPr>
        <p:spPr>
          <a:xfrm>
            <a:off x="5349240" y="4032504"/>
            <a:ext cx="274275" cy="274275"/>
          </a:xfrm>
          <a:prstGeom prst="ellipse">
            <a:avLst/>
          </a:prstGeom>
          <a:solidFill>
            <a:srgbClr val="6BA4D8"/>
          </a:solidFill>
          <a:ln cap="flat" cmpd="sng" w="254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6" name="Google Shape;96;p17"/>
          <p:cNvSpPr/>
          <p:nvPr/>
        </p:nvSpPr>
        <p:spPr>
          <a:xfrm>
            <a:off x="5445252" y="4094226"/>
            <a:ext cx="82350" cy="75375"/>
          </a:xfrm>
          <a:prstGeom prst="ellipse">
            <a:avLst/>
          </a:prstGeom>
          <a:noFill/>
          <a:ln cap="flat" cmpd="sng" w="2857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7" name="Google Shape;97;p17"/>
          <p:cNvSpPr/>
          <p:nvPr/>
        </p:nvSpPr>
        <p:spPr>
          <a:xfrm>
            <a:off x="5431536" y="4162806"/>
            <a:ext cx="109800" cy="75375"/>
          </a:xfrm>
          <a:prstGeom prst="roundRect">
            <a:avLst>
              <a:gd fmla="val 18182"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8" name="Google Shape;98;p17"/>
          <p:cNvSpPr/>
          <p:nvPr/>
        </p:nvSpPr>
        <p:spPr>
          <a:xfrm>
            <a:off x="5554980" y="3291840"/>
            <a:ext cx="2983275" cy="99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0" lang="en-GB" sz="1200" u="none" cap="none" strike="noStrike">
                <a:solidFill>
                  <a:srgbClr val="DBE3EB"/>
                </a:solidFill>
                <a:latin typeface="Calibri"/>
                <a:ea typeface="Calibri"/>
                <a:cs typeface="Calibri"/>
                <a:sym typeface="Calibri"/>
              </a:rPr>
              <a:t>How does a company decide who can access sensitive data?</a:t>
            </a:r>
            <a:endParaRPr b="0" i="0" sz="1200" u="none" cap="none" strike="noStrike">
              <a:solidFill>
                <a:schemeClr val="dk1"/>
              </a:solidFill>
              <a:latin typeface="Calibri"/>
              <a:ea typeface="Calibri"/>
              <a:cs typeface="Calibri"/>
              <a:sym typeface="Calibri"/>
            </a:endParaRPr>
          </a:p>
        </p:txBody>
      </p:sp>
      <p:pic>
        <p:nvPicPr>
          <p:cNvPr descr="/home/claude/dbms_lecture2/logo/newton_logo_white.png" id="99" name="Google Shape;99;p17"/>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100" name="Google Shape;100;p17"/>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p:nvPr/>
        </p:nvSpPr>
        <p:spPr>
          <a:xfrm>
            <a:off x="411480" y="288036"/>
            <a:ext cx="54864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000"/>
              <a:buFont typeface="Calibri"/>
              <a:buNone/>
            </a:pPr>
            <a:r>
              <a:rPr b="1" i="0" lang="en-GB" sz="1300" u="none" cap="none" strike="noStrike">
                <a:solidFill>
                  <a:srgbClr val="4597E1"/>
                </a:solidFill>
                <a:latin typeface="Calibri"/>
                <a:ea typeface="Calibri"/>
                <a:cs typeface="Calibri"/>
                <a:sym typeface="Calibri"/>
              </a:rPr>
              <a:t>BEFORE WE BEGIN</a:t>
            </a:r>
            <a:endParaRPr b="0" i="0" sz="1300" u="none" cap="none" strike="noStrike">
              <a:solidFill>
                <a:schemeClr val="dk1"/>
              </a:solidFill>
              <a:latin typeface="Calibri"/>
              <a:ea typeface="Calibri"/>
              <a:cs typeface="Calibri"/>
              <a:sym typeface="Calibri"/>
            </a:endParaRPr>
          </a:p>
        </p:txBody>
      </p:sp>
      <p:sp>
        <p:nvSpPr>
          <p:cNvPr id="107" name="Google Shape;107;p18"/>
          <p:cNvSpPr/>
          <p:nvPr/>
        </p:nvSpPr>
        <p:spPr>
          <a:xfrm>
            <a:off x="411480" y="514350"/>
            <a:ext cx="8092350" cy="5829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1700" u="none" cap="none" strike="noStrike">
                <a:solidFill>
                  <a:srgbClr val="1E4161"/>
                </a:solidFill>
                <a:latin typeface="Cambria"/>
                <a:ea typeface="Cambria"/>
                <a:cs typeface="Cambria"/>
                <a:sym typeface="Cambria"/>
              </a:rPr>
              <a:t>Quick recap — where we left off</a:t>
            </a:r>
            <a:endParaRPr b="0" i="0" sz="1700" u="none" cap="none" strike="noStrike">
              <a:solidFill>
                <a:schemeClr val="dk1"/>
              </a:solidFill>
              <a:latin typeface="Calibri"/>
              <a:ea typeface="Calibri"/>
              <a:cs typeface="Calibri"/>
              <a:sym typeface="Calibri"/>
            </a:endParaRPr>
          </a:p>
        </p:txBody>
      </p:sp>
      <p:sp>
        <p:nvSpPr>
          <p:cNvPr id="108" name="Google Shape;108;p18"/>
          <p:cNvSpPr/>
          <p:nvPr/>
        </p:nvSpPr>
        <p:spPr>
          <a:xfrm>
            <a:off x="411500" y="1097325"/>
            <a:ext cx="7335300" cy="1805700"/>
          </a:xfrm>
          <a:prstGeom prst="roundRect">
            <a:avLst>
              <a:gd fmla="val 4444"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9" name="Google Shape;109;p18"/>
          <p:cNvSpPr/>
          <p:nvPr/>
        </p:nvSpPr>
        <p:spPr>
          <a:xfrm>
            <a:off x="651496" y="1440175"/>
            <a:ext cx="6312300" cy="1542900"/>
          </a:xfrm>
          <a:prstGeom prst="rect">
            <a:avLst/>
          </a:prstGeom>
          <a:noFill/>
          <a:ln>
            <a:noFill/>
          </a:ln>
        </p:spPr>
        <p:txBody>
          <a:bodyPr anchorCtr="0" anchor="t" bIns="34275" lIns="68575" spcFirstLastPara="1" rIns="68575" wrap="square" tIns="34275">
            <a:noAutofit/>
          </a:bodyPr>
          <a:lstStyle/>
          <a:p>
            <a:pPr indent="-273050" lvl="0" marL="254000" marR="0" rtl="0" algn="l">
              <a:lnSpc>
                <a:spcPct val="100000"/>
              </a:lnSpc>
              <a:spcBef>
                <a:spcPts val="0"/>
              </a:spcBef>
              <a:spcAft>
                <a:spcPts val="0"/>
              </a:spcAft>
              <a:buClr>
                <a:srgbClr val="16334D"/>
              </a:buClr>
              <a:buSzPts val="1500"/>
              <a:buFont typeface="Calibri"/>
              <a:buChar char="•"/>
            </a:pPr>
            <a:r>
              <a:rPr b="0" i="0" lang="en-GB" sz="1500" u="none" cap="none" strike="noStrike">
                <a:solidFill>
                  <a:srgbClr val="16334D"/>
                </a:solidFill>
                <a:latin typeface="Calibri"/>
                <a:ea typeface="Calibri"/>
                <a:cs typeface="Calibri"/>
                <a:sym typeface="Calibri"/>
              </a:rPr>
              <a:t>What databases are, and why we store data in Databases ?</a:t>
            </a:r>
            <a:endParaRPr b="0" i="0" sz="1500" u="none" cap="none" strike="noStrike">
              <a:solidFill>
                <a:schemeClr val="dk1"/>
              </a:solidFill>
              <a:latin typeface="Calibri"/>
              <a:ea typeface="Calibri"/>
              <a:cs typeface="Calibri"/>
              <a:sym typeface="Calibri"/>
            </a:endParaRPr>
          </a:p>
          <a:p>
            <a:pPr indent="-273050" lvl="0" marL="254000" marR="0" rtl="0" algn="l">
              <a:lnSpc>
                <a:spcPct val="100000"/>
              </a:lnSpc>
              <a:spcBef>
                <a:spcPts val="1400"/>
              </a:spcBef>
              <a:spcAft>
                <a:spcPts val="0"/>
              </a:spcAft>
              <a:buClr>
                <a:srgbClr val="16334D"/>
              </a:buClr>
              <a:buSzPts val="1500"/>
              <a:buFont typeface="Calibri"/>
              <a:buChar char="•"/>
            </a:pPr>
            <a:r>
              <a:rPr b="0" i="0" lang="en-GB" sz="1500" u="none" cap="none" strike="noStrike">
                <a:solidFill>
                  <a:srgbClr val="16334D"/>
                </a:solidFill>
                <a:latin typeface="Calibri"/>
                <a:ea typeface="Calibri"/>
                <a:cs typeface="Calibri"/>
                <a:sym typeface="Calibri"/>
              </a:rPr>
              <a:t>Why DBMS exists — to manage, secure, and organize that data ?</a:t>
            </a:r>
            <a:endParaRPr b="0" i="0" sz="1500" u="none" cap="none" strike="noStrike">
              <a:solidFill>
                <a:schemeClr val="dk1"/>
              </a:solidFill>
              <a:latin typeface="Calibri"/>
              <a:ea typeface="Calibri"/>
              <a:cs typeface="Calibri"/>
              <a:sym typeface="Calibri"/>
            </a:endParaRPr>
          </a:p>
          <a:p>
            <a:pPr indent="-273050" lvl="0" marL="254000" marR="0" rtl="0" algn="l">
              <a:lnSpc>
                <a:spcPct val="100000"/>
              </a:lnSpc>
              <a:spcBef>
                <a:spcPts val="1400"/>
              </a:spcBef>
              <a:spcAft>
                <a:spcPts val="0"/>
              </a:spcAft>
              <a:buClr>
                <a:srgbClr val="16334D"/>
              </a:buClr>
              <a:buSzPts val="1500"/>
              <a:buFont typeface="Calibri"/>
              <a:buChar char="•"/>
            </a:pPr>
            <a:r>
              <a:rPr b="0" i="0" lang="en-GB" sz="1500" u="none" cap="none" strike="noStrike">
                <a:solidFill>
                  <a:srgbClr val="16334D"/>
                </a:solidFill>
                <a:latin typeface="Calibri"/>
                <a:ea typeface="Calibri"/>
                <a:cs typeface="Calibri"/>
                <a:sym typeface="Calibri"/>
              </a:rPr>
              <a:t>Why we prefer DBMS over File Based Storage Systems ?</a:t>
            </a:r>
            <a:endParaRPr b="0" i="0" sz="1500" u="none" cap="none" strike="noStrike">
              <a:solidFill>
                <a:schemeClr val="dk1"/>
              </a:solidFill>
              <a:latin typeface="Calibri"/>
              <a:ea typeface="Calibri"/>
              <a:cs typeface="Calibri"/>
              <a:sym typeface="Calibri"/>
            </a:endParaRPr>
          </a:p>
        </p:txBody>
      </p:sp>
      <p:sp>
        <p:nvSpPr>
          <p:cNvPr id="110" name="Google Shape;110;p18"/>
          <p:cNvSpPr/>
          <p:nvPr/>
        </p:nvSpPr>
        <p:spPr>
          <a:xfrm>
            <a:off x="411488" y="3115802"/>
            <a:ext cx="8298225" cy="1337850"/>
          </a:xfrm>
          <a:prstGeom prst="roundRect">
            <a:avLst>
              <a:gd fmla="val 7742"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1" name="Google Shape;111;p18"/>
          <p:cNvSpPr/>
          <p:nvPr/>
        </p:nvSpPr>
        <p:spPr>
          <a:xfrm>
            <a:off x="651510" y="3325916"/>
            <a:ext cx="54864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100" u="none" cap="none" strike="noStrike">
                <a:solidFill>
                  <a:srgbClr val="368EDE"/>
                </a:solidFill>
                <a:latin typeface="Calibri"/>
                <a:ea typeface="Calibri"/>
                <a:cs typeface="Calibri"/>
                <a:sym typeface="Calibri"/>
              </a:rPr>
              <a:t>THE NEXT QUESTION</a:t>
            </a:r>
            <a:endParaRPr b="0" i="0" sz="1100" u="none" cap="none" strike="noStrike">
              <a:solidFill>
                <a:schemeClr val="dk1"/>
              </a:solidFill>
              <a:latin typeface="Calibri"/>
              <a:ea typeface="Calibri"/>
              <a:cs typeface="Calibri"/>
              <a:sym typeface="Calibri"/>
            </a:endParaRPr>
          </a:p>
        </p:txBody>
      </p:sp>
      <p:sp>
        <p:nvSpPr>
          <p:cNvPr id="112" name="Google Shape;112;p18"/>
          <p:cNvSpPr/>
          <p:nvPr/>
        </p:nvSpPr>
        <p:spPr>
          <a:xfrm>
            <a:off x="651510" y="3648456"/>
            <a:ext cx="7818075" cy="6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400"/>
              <a:buFont typeface="Cambria"/>
              <a:buNone/>
            </a:pPr>
            <a:r>
              <a:rPr b="0" i="1" lang="en-GB" sz="1600" u="none" cap="none" strike="noStrike">
                <a:solidFill>
                  <a:srgbClr val="16334D"/>
                </a:solidFill>
                <a:latin typeface="Cambria"/>
                <a:ea typeface="Cambria"/>
                <a:cs typeface="Cambria"/>
                <a:sym typeface="Cambria"/>
              </a:rPr>
              <a:t>"If the database stores data internally, how do users actually interact with it?"</a:t>
            </a:r>
            <a:endParaRPr b="0" i="0" sz="1600" u="none" cap="none" strike="noStrike">
              <a:solidFill>
                <a:schemeClr val="dk1"/>
              </a:solidFill>
              <a:latin typeface="Calibri"/>
              <a:ea typeface="Calibri"/>
              <a:cs typeface="Calibri"/>
              <a:sym typeface="Calibri"/>
            </a:endParaRPr>
          </a:p>
        </p:txBody>
      </p:sp>
      <p:pic>
        <p:nvPicPr>
          <p:cNvPr descr="/home/claude/dbms_lecture2/logo/newton_logo_transparent.png" id="113" name="Google Shape;113;p18"/>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114" name="Google Shape;114;p18"/>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p:nvPr/>
        </p:nvSpPr>
        <p:spPr>
          <a:xfrm>
            <a:off x="411480" y="288036"/>
            <a:ext cx="54864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000"/>
              <a:buFont typeface="Calibri"/>
              <a:buNone/>
            </a:pPr>
            <a:r>
              <a:rPr b="1" i="0" lang="en-GB" sz="1900" u="none" cap="none" strike="noStrike">
                <a:solidFill>
                  <a:srgbClr val="4597E1"/>
                </a:solidFill>
                <a:latin typeface="Calibri"/>
                <a:ea typeface="Calibri"/>
                <a:cs typeface="Calibri"/>
                <a:sym typeface="Calibri"/>
              </a:rPr>
              <a:t>INTRODUCING </a:t>
            </a:r>
            <a:r>
              <a:rPr b="1" i="0" lang="en-GB" sz="1900" u="none" cap="none" strike="noStrike">
                <a:solidFill>
                  <a:srgbClr val="4597E1"/>
                </a:solidFill>
                <a:latin typeface="Calibri"/>
                <a:ea typeface="Calibri"/>
                <a:cs typeface="Calibri"/>
                <a:sym typeface="Calibri"/>
              </a:rPr>
              <a:t>S</a:t>
            </a:r>
            <a:r>
              <a:rPr b="1" i="0" lang="en-GB" sz="1900" u="none" cap="none" strike="noStrike">
                <a:solidFill>
                  <a:srgbClr val="4597E1"/>
                </a:solidFill>
                <a:latin typeface="Calibri"/>
                <a:ea typeface="Calibri"/>
                <a:cs typeface="Calibri"/>
                <a:sym typeface="Calibri"/>
              </a:rPr>
              <a:t>QL</a:t>
            </a:r>
            <a:endParaRPr b="0" i="0" sz="1900" u="none" cap="none" strike="noStrike">
              <a:solidFill>
                <a:schemeClr val="dk1"/>
              </a:solidFill>
              <a:latin typeface="Calibri"/>
              <a:ea typeface="Calibri"/>
              <a:cs typeface="Calibri"/>
              <a:sym typeface="Calibri"/>
            </a:endParaRPr>
          </a:p>
        </p:txBody>
      </p:sp>
      <p:sp>
        <p:nvSpPr>
          <p:cNvPr id="121" name="Google Shape;121;p19"/>
          <p:cNvSpPr/>
          <p:nvPr/>
        </p:nvSpPr>
        <p:spPr>
          <a:xfrm>
            <a:off x="411480" y="514350"/>
            <a:ext cx="8092350" cy="5829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1700" u="none" cap="none" strike="noStrike">
                <a:solidFill>
                  <a:srgbClr val="1E4161"/>
                </a:solidFill>
                <a:latin typeface="Cambria"/>
                <a:ea typeface="Cambria"/>
                <a:cs typeface="Cambria"/>
                <a:sym typeface="Cambria"/>
              </a:rPr>
              <a:t>SQL — the language of relational databases</a:t>
            </a:r>
            <a:endParaRPr b="0" i="0" sz="1700" u="none" cap="none" strike="noStrike">
              <a:solidFill>
                <a:schemeClr val="dk1"/>
              </a:solidFill>
              <a:latin typeface="Calibri"/>
              <a:ea typeface="Calibri"/>
              <a:cs typeface="Calibri"/>
              <a:sym typeface="Calibri"/>
            </a:endParaRPr>
          </a:p>
        </p:txBody>
      </p:sp>
      <p:sp>
        <p:nvSpPr>
          <p:cNvPr id="122" name="Google Shape;122;p19"/>
          <p:cNvSpPr/>
          <p:nvPr/>
        </p:nvSpPr>
        <p:spPr>
          <a:xfrm>
            <a:off x="411488" y="1747838"/>
            <a:ext cx="4256325" cy="3052800"/>
          </a:xfrm>
          <a:prstGeom prst="roundRect">
            <a:avLst>
              <a:gd fmla="val 2581"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3" name="Google Shape;123;p19"/>
          <p:cNvSpPr/>
          <p:nvPr/>
        </p:nvSpPr>
        <p:spPr>
          <a:xfrm>
            <a:off x="685800" y="2674620"/>
            <a:ext cx="4526325" cy="1645875"/>
          </a:xfrm>
          <a:prstGeom prst="rect">
            <a:avLst/>
          </a:prstGeom>
          <a:noFill/>
          <a:ln>
            <a:noFill/>
          </a:ln>
        </p:spPr>
        <p:txBody>
          <a:bodyPr anchorCtr="0" anchor="t" bIns="34275" lIns="68575" spcFirstLastPara="1" rIns="68575" wrap="square" tIns="34275">
            <a:noAutofit/>
          </a:bodyPr>
          <a:lstStyle/>
          <a:p>
            <a:pPr indent="0" lvl="0" marL="34290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24" name="Google Shape;124;p19"/>
          <p:cNvSpPr/>
          <p:nvPr/>
        </p:nvSpPr>
        <p:spPr>
          <a:xfrm>
            <a:off x="4801800" y="2385263"/>
            <a:ext cx="3943350" cy="2169225"/>
          </a:xfrm>
          <a:prstGeom prst="roundRect">
            <a:avLst>
              <a:gd fmla="val 2410" name="adj"/>
            </a:avLst>
          </a:prstGeom>
          <a:solidFill>
            <a:srgbClr val="F8FAFB"/>
          </a:solidFill>
          <a:ln cap="flat" cmpd="sng" w="12700">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5" name="Google Shape;125;p19"/>
          <p:cNvSpPr/>
          <p:nvPr/>
        </p:nvSpPr>
        <p:spPr>
          <a:xfrm>
            <a:off x="5362463" y="1654800"/>
            <a:ext cx="2900250" cy="5829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800"/>
              <a:buFont typeface="Calibri"/>
              <a:buNone/>
            </a:pPr>
            <a:r>
              <a:rPr b="1" i="0" lang="en-GB" sz="1700" u="none" cap="none" strike="noStrike">
                <a:solidFill>
                  <a:srgbClr val="4597E1"/>
                </a:solidFill>
                <a:latin typeface="Calibri"/>
                <a:ea typeface="Calibri"/>
                <a:cs typeface="Calibri"/>
                <a:sym typeface="Calibri"/>
              </a:rPr>
              <a:t>HOW THE CONVERSATION WORKS</a:t>
            </a:r>
            <a:endParaRPr b="0" i="0" sz="1700" u="none" cap="none" strike="noStrike">
              <a:solidFill>
                <a:schemeClr val="dk1"/>
              </a:solidFill>
              <a:latin typeface="Calibri"/>
              <a:ea typeface="Calibri"/>
              <a:cs typeface="Calibri"/>
              <a:sym typeface="Calibri"/>
            </a:endParaRPr>
          </a:p>
        </p:txBody>
      </p:sp>
      <p:sp>
        <p:nvSpPr>
          <p:cNvPr id="126" name="Google Shape;126;p19"/>
          <p:cNvSpPr/>
          <p:nvPr/>
        </p:nvSpPr>
        <p:spPr>
          <a:xfrm>
            <a:off x="4857094" y="2522498"/>
            <a:ext cx="1028700" cy="1524825"/>
          </a:xfrm>
          <a:prstGeom prst="roundRect">
            <a:avLst>
              <a:gd fmla="val 10667" name="adj"/>
            </a:avLst>
          </a:prstGeom>
          <a:solidFill>
            <a:srgbClr val="1E416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7" name="Google Shape;127;p19"/>
          <p:cNvSpPr/>
          <p:nvPr/>
        </p:nvSpPr>
        <p:spPr>
          <a:xfrm>
            <a:off x="4839985" y="2745244"/>
            <a:ext cx="1062900" cy="972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t/>
            </a:r>
            <a:endParaRPr b="1" i="0" sz="11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t/>
            </a:r>
            <a:endParaRPr b="1" i="0" sz="11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t/>
            </a:r>
            <a:endParaRPr b="1" i="0" sz="11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t/>
            </a:r>
            <a:endParaRPr b="1" i="0" sz="11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rPr b="1" i="0" lang="en-GB" sz="1500" u="none" cap="none" strike="noStrike">
                <a:solidFill>
                  <a:srgbClr val="FFFFFF"/>
                </a:solidFill>
                <a:latin typeface="Calibri"/>
                <a:ea typeface="Calibri"/>
                <a:cs typeface="Calibri"/>
                <a:sym typeface="Calibri"/>
              </a:rPr>
              <a:t>User/ </a:t>
            </a:r>
            <a:endParaRPr b="1" i="0" sz="15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rPr b="1" i="0" lang="en-GB" sz="1500" u="none" cap="none" strike="noStrike">
                <a:solidFill>
                  <a:srgbClr val="FFFFFF"/>
                </a:solidFill>
                <a:latin typeface="Calibri"/>
                <a:ea typeface="Calibri"/>
                <a:cs typeface="Calibri"/>
                <a:sym typeface="Calibri"/>
              </a:rPr>
              <a:t>Application</a:t>
            </a:r>
            <a:endParaRPr b="1" i="0" sz="15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t/>
            </a:r>
            <a:endParaRPr b="1" i="0" sz="11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t/>
            </a:r>
            <a:endParaRPr b="1" i="0" sz="11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t/>
            </a:r>
            <a:endParaRPr b="1" i="0" sz="11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Calibri"/>
              <a:buNone/>
            </a:pPr>
            <a:r>
              <a:t/>
            </a:r>
            <a:endParaRPr b="1" i="0" sz="1100" u="none" cap="none" strike="noStrike">
              <a:solidFill>
                <a:srgbClr val="FFFFFF"/>
              </a:solidFill>
              <a:latin typeface="Calibri"/>
              <a:ea typeface="Calibri"/>
              <a:cs typeface="Calibri"/>
              <a:sym typeface="Calibri"/>
            </a:endParaRPr>
          </a:p>
        </p:txBody>
      </p:sp>
      <p:sp>
        <p:nvSpPr>
          <p:cNvPr id="128" name="Google Shape;128;p19"/>
          <p:cNvSpPr/>
          <p:nvPr/>
        </p:nvSpPr>
        <p:spPr>
          <a:xfrm>
            <a:off x="7362506" y="2522494"/>
            <a:ext cx="1164150" cy="1491300"/>
          </a:xfrm>
          <a:prstGeom prst="roundRect">
            <a:avLst>
              <a:gd fmla="val 10667" name="adj"/>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9" name="Google Shape;129;p19"/>
          <p:cNvSpPr/>
          <p:nvPr/>
        </p:nvSpPr>
        <p:spPr>
          <a:xfrm>
            <a:off x="6138975" y="3169931"/>
            <a:ext cx="843750" cy="123525"/>
          </a:xfrm>
          <a:prstGeom prst="rightArrow">
            <a:avLst>
              <a:gd fmla="val 44262" name="adj1"/>
              <a:gd fmla="val 50000" name="adj2"/>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0" name="Google Shape;130;p19"/>
          <p:cNvSpPr/>
          <p:nvPr/>
        </p:nvSpPr>
        <p:spPr>
          <a:xfrm>
            <a:off x="6001688" y="2438782"/>
            <a:ext cx="1262025" cy="6426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600"/>
              <a:buFont typeface="Consolas"/>
              <a:buNone/>
            </a:pPr>
            <a:r>
              <a:rPr b="0" i="0" lang="en-GB" sz="1100" u="none" cap="none" strike="noStrike">
                <a:solidFill>
                  <a:srgbClr val="2579C4"/>
                </a:solidFill>
                <a:latin typeface="Consolas"/>
                <a:ea typeface="Consolas"/>
                <a:cs typeface="Consolas"/>
                <a:sym typeface="Consolas"/>
              </a:rPr>
              <a:t>SELECT name FROM "students"</a:t>
            </a:r>
            <a:endParaRPr b="0" i="0" sz="1100" u="none" cap="none" strike="noStrike">
              <a:solidFill>
                <a:schemeClr val="dk1"/>
              </a:solidFill>
              <a:latin typeface="Calibri"/>
              <a:ea typeface="Calibri"/>
              <a:cs typeface="Calibri"/>
              <a:sym typeface="Calibri"/>
            </a:endParaRPr>
          </a:p>
        </p:txBody>
      </p:sp>
      <p:sp>
        <p:nvSpPr>
          <p:cNvPr id="131" name="Google Shape;131;p19"/>
          <p:cNvSpPr/>
          <p:nvPr/>
        </p:nvSpPr>
        <p:spPr>
          <a:xfrm>
            <a:off x="6050625" y="3638306"/>
            <a:ext cx="1164150" cy="6426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368EDE"/>
              </a:buClr>
              <a:buSzPts val="600"/>
              <a:buFont typeface="Calibri"/>
              <a:buNone/>
            </a:pPr>
            <a:r>
              <a:rPr b="0" i="1" lang="en-GB" sz="1400" u="none" cap="none" strike="noStrike">
                <a:solidFill>
                  <a:srgbClr val="368EDE"/>
                </a:solidFill>
                <a:latin typeface="Calibri"/>
                <a:ea typeface="Calibri"/>
                <a:cs typeface="Calibri"/>
                <a:sym typeface="Calibri"/>
              </a:rPr>
              <a:t>rows returned</a:t>
            </a:r>
            <a:endParaRPr b="0" i="0" sz="1400" u="none" cap="none" strike="noStrike">
              <a:solidFill>
                <a:schemeClr val="dk1"/>
              </a:solidFill>
              <a:latin typeface="Calibri"/>
              <a:ea typeface="Calibri"/>
              <a:cs typeface="Calibri"/>
              <a:sym typeface="Calibri"/>
            </a:endParaRPr>
          </a:p>
        </p:txBody>
      </p:sp>
      <p:pic>
        <p:nvPicPr>
          <p:cNvPr descr="/home/claude/dbms_lecture2/logo/newton_logo_transparent.png" id="132" name="Google Shape;132;p19"/>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133" name="Google Shape;133;p19"/>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34" name="Google Shape;134;p19"/>
          <p:cNvSpPr/>
          <p:nvPr/>
        </p:nvSpPr>
        <p:spPr>
          <a:xfrm>
            <a:off x="6138975" y="3436791"/>
            <a:ext cx="843750" cy="123525"/>
          </a:xfrm>
          <a:prstGeom prst="leftArrow">
            <a:avLst>
              <a:gd fmla="val 50000" name="adj1"/>
              <a:gd fmla="val 50000" name="adj2"/>
            </a:avLst>
          </a:prstGeom>
          <a:solidFill>
            <a:srgbClr val="65A9E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5" name="Google Shape;135;p19"/>
          <p:cNvSpPr txBox="1"/>
          <p:nvPr/>
        </p:nvSpPr>
        <p:spPr>
          <a:xfrm>
            <a:off x="411488" y="1063181"/>
            <a:ext cx="7542900" cy="554175"/>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16334D"/>
                </a:solidFill>
                <a:latin typeface="Cambria"/>
                <a:ea typeface="Cambria"/>
                <a:cs typeface="Cambria"/>
                <a:sym typeface="Cambria"/>
              </a:rPr>
              <a:t>SQL (Structured Query Language) is the standard language used to communicate with relational databases.</a:t>
            </a:r>
            <a:endParaRPr b="0" i="0" sz="1400" u="none" cap="none" strike="noStrike">
              <a:solidFill>
                <a:schemeClr val="dk1"/>
              </a:solidFill>
              <a:latin typeface="Calibri"/>
              <a:ea typeface="Calibri"/>
              <a:cs typeface="Calibri"/>
              <a:sym typeface="Calibri"/>
            </a:endParaRPr>
          </a:p>
        </p:txBody>
      </p:sp>
      <p:pic>
        <p:nvPicPr>
          <p:cNvPr id="136" name="Google Shape;136;p19" title="Screenshot 2026-07-21 at 2.47.52 PM.png"/>
          <p:cNvPicPr preferRelativeResize="0"/>
          <p:nvPr/>
        </p:nvPicPr>
        <p:blipFill rotWithShape="1">
          <a:blip r:embed="rId4">
            <a:alphaModFix/>
          </a:blip>
          <a:srcRect b="0" l="0" r="0" t="0"/>
          <a:stretch/>
        </p:blipFill>
        <p:spPr>
          <a:xfrm>
            <a:off x="7434056" y="2897963"/>
            <a:ext cx="1028699" cy="740344"/>
          </a:xfrm>
          <a:prstGeom prst="rect">
            <a:avLst/>
          </a:prstGeom>
          <a:noFill/>
          <a:ln>
            <a:noFill/>
          </a:ln>
        </p:spPr>
      </p:pic>
      <p:pic>
        <p:nvPicPr>
          <p:cNvPr id="137" name="Google Shape;137;p19" title="ChatGPT Image Jul 22, 2026, 10_16_09 AM.png"/>
          <p:cNvPicPr preferRelativeResize="0"/>
          <p:nvPr/>
        </p:nvPicPr>
        <p:blipFill rotWithShape="1">
          <a:blip r:embed="rId5">
            <a:alphaModFix/>
          </a:blip>
          <a:srcRect b="-3455" l="0" r="0" t="0"/>
          <a:stretch/>
        </p:blipFill>
        <p:spPr>
          <a:xfrm>
            <a:off x="499031" y="1916625"/>
            <a:ext cx="4104881" cy="2831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142" name="Shape 142"/>
        <p:cNvGrpSpPr/>
        <p:nvPr/>
      </p:nvGrpSpPr>
      <p:grpSpPr>
        <a:xfrm>
          <a:off x="0" y="0"/>
          <a:ext cx="0" cy="0"/>
          <a:chOff x="0" y="0"/>
          <a:chExt cx="0" cy="0"/>
        </a:xfrm>
      </p:grpSpPr>
      <p:sp>
        <p:nvSpPr>
          <p:cNvPr id="143" name="Google Shape;143;p20"/>
          <p:cNvSpPr/>
          <p:nvPr/>
        </p:nvSpPr>
        <p:spPr>
          <a:xfrm>
            <a:off x="411480" y="288036"/>
            <a:ext cx="54864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000"/>
              <a:buFont typeface="Calibri"/>
              <a:buNone/>
            </a:pPr>
            <a:r>
              <a:rPr b="1" i="0" lang="en-GB" sz="1300" u="none" cap="none" strike="noStrike">
                <a:solidFill>
                  <a:srgbClr val="DBE3EB"/>
                </a:solidFill>
                <a:latin typeface="Calibri"/>
                <a:ea typeface="Calibri"/>
                <a:cs typeface="Calibri"/>
                <a:sym typeface="Calibri"/>
              </a:rPr>
              <a:t>THE ANALOGY</a:t>
            </a:r>
            <a:endParaRPr b="0" i="0" sz="1300" u="none" cap="none" strike="noStrike">
              <a:solidFill>
                <a:schemeClr val="dk1"/>
              </a:solidFill>
              <a:latin typeface="Calibri"/>
              <a:ea typeface="Calibri"/>
              <a:cs typeface="Calibri"/>
              <a:sym typeface="Calibri"/>
            </a:endParaRPr>
          </a:p>
        </p:txBody>
      </p:sp>
      <p:sp>
        <p:nvSpPr>
          <p:cNvPr id="144" name="Google Shape;144;p20"/>
          <p:cNvSpPr/>
          <p:nvPr/>
        </p:nvSpPr>
        <p:spPr>
          <a:xfrm>
            <a:off x="411480" y="582930"/>
            <a:ext cx="8298225" cy="6171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1900" u="none" cap="none" strike="noStrike">
                <a:solidFill>
                  <a:srgbClr val="FFFFFF"/>
                </a:solidFill>
                <a:latin typeface="Cambria"/>
                <a:ea typeface="Cambria"/>
                <a:cs typeface="Cambria"/>
                <a:sym typeface="Cambria"/>
              </a:rPr>
              <a:t>A database is a library. SQL is the librarian’s language.</a:t>
            </a:r>
            <a:endParaRPr b="0" i="0" sz="1900" u="none" cap="none" strike="noStrike">
              <a:solidFill>
                <a:schemeClr val="dk1"/>
              </a:solidFill>
              <a:latin typeface="Calibri"/>
              <a:ea typeface="Calibri"/>
              <a:cs typeface="Calibri"/>
              <a:sym typeface="Calibri"/>
            </a:endParaRPr>
          </a:p>
        </p:txBody>
      </p:sp>
      <p:sp>
        <p:nvSpPr>
          <p:cNvPr id="145" name="Google Shape;145;p20"/>
          <p:cNvSpPr/>
          <p:nvPr/>
        </p:nvSpPr>
        <p:spPr>
          <a:xfrm>
            <a:off x="411480" y="1405890"/>
            <a:ext cx="8298225" cy="651600"/>
          </a:xfrm>
          <a:prstGeom prst="roundRect">
            <a:avLst>
              <a:gd fmla="val 10526" name="adj"/>
            </a:avLst>
          </a:prstGeom>
          <a:solidFill>
            <a:srgbClr val="336C9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000000"/>
              </a:solidFill>
              <a:latin typeface="Arial"/>
              <a:ea typeface="Arial"/>
              <a:cs typeface="Arial"/>
              <a:sym typeface="Arial"/>
            </a:endParaRPr>
          </a:p>
        </p:txBody>
      </p:sp>
      <p:sp>
        <p:nvSpPr>
          <p:cNvPr id="146" name="Google Shape;146;p20"/>
          <p:cNvSpPr/>
          <p:nvPr/>
        </p:nvSpPr>
        <p:spPr>
          <a:xfrm>
            <a:off x="651510" y="1488186"/>
            <a:ext cx="1577250"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6BBEA"/>
              </a:buClr>
              <a:buSzPts val="1400"/>
              <a:buFont typeface="Cambria"/>
              <a:buNone/>
            </a:pPr>
            <a:r>
              <a:rPr b="1" i="0" lang="en-GB" sz="1600" u="none" cap="none" strike="noStrike">
                <a:solidFill>
                  <a:srgbClr val="86BBEA"/>
                </a:solidFill>
                <a:latin typeface="Cambria"/>
                <a:ea typeface="Cambria"/>
                <a:cs typeface="Cambria"/>
                <a:sym typeface="Cambria"/>
              </a:rPr>
              <a:t>Organize</a:t>
            </a:r>
            <a:endParaRPr b="0" i="0" sz="1600" u="none" cap="none" strike="noStrike">
              <a:solidFill>
                <a:schemeClr val="dk1"/>
              </a:solidFill>
              <a:latin typeface="Calibri"/>
              <a:ea typeface="Calibri"/>
              <a:cs typeface="Calibri"/>
              <a:sym typeface="Calibri"/>
            </a:endParaRPr>
          </a:p>
        </p:txBody>
      </p:sp>
      <p:sp>
        <p:nvSpPr>
          <p:cNvPr id="147" name="Google Shape;147;p20"/>
          <p:cNvSpPr/>
          <p:nvPr/>
        </p:nvSpPr>
        <p:spPr>
          <a:xfrm>
            <a:off x="2331720" y="1488186"/>
            <a:ext cx="6103575"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0" lang="en-GB" sz="1600" u="none" cap="none" strike="noStrike">
                <a:solidFill>
                  <a:srgbClr val="DBE3EB"/>
                </a:solidFill>
                <a:latin typeface="Calibri"/>
                <a:ea typeface="Calibri"/>
                <a:cs typeface="Calibri"/>
                <a:sym typeface="Calibri"/>
              </a:rPr>
              <a:t>Arranging books on shelves → designing tables and schemas</a:t>
            </a:r>
            <a:endParaRPr b="0" i="0" sz="1600" u="none" cap="none" strike="noStrike">
              <a:solidFill>
                <a:schemeClr val="dk1"/>
              </a:solidFill>
              <a:latin typeface="Calibri"/>
              <a:ea typeface="Calibri"/>
              <a:cs typeface="Calibri"/>
              <a:sym typeface="Calibri"/>
            </a:endParaRPr>
          </a:p>
        </p:txBody>
      </p:sp>
      <p:sp>
        <p:nvSpPr>
          <p:cNvPr id="148" name="Google Shape;148;p20"/>
          <p:cNvSpPr/>
          <p:nvPr/>
        </p:nvSpPr>
        <p:spPr>
          <a:xfrm>
            <a:off x="411480" y="2194560"/>
            <a:ext cx="8298225" cy="651600"/>
          </a:xfrm>
          <a:prstGeom prst="roundRect">
            <a:avLst>
              <a:gd fmla="val 10526" name="adj"/>
            </a:avLst>
          </a:prstGeom>
          <a:solidFill>
            <a:srgbClr val="336C9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000000"/>
              </a:solidFill>
              <a:latin typeface="Arial"/>
              <a:ea typeface="Arial"/>
              <a:cs typeface="Arial"/>
              <a:sym typeface="Arial"/>
            </a:endParaRPr>
          </a:p>
        </p:txBody>
      </p:sp>
      <p:sp>
        <p:nvSpPr>
          <p:cNvPr id="149" name="Google Shape;149;p20"/>
          <p:cNvSpPr/>
          <p:nvPr/>
        </p:nvSpPr>
        <p:spPr>
          <a:xfrm>
            <a:off x="651510" y="2276856"/>
            <a:ext cx="1577250"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6BBEA"/>
              </a:buClr>
              <a:buSzPts val="1400"/>
              <a:buFont typeface="Cambria"/>
              <a:buNone/>
            </a:pPr>
            <a:r>
              <a:rPr b="1" i="0" lang="en-GB" sz="1600" u="none" cap="none" strike="noStrike">
                <a:solidFill>
                  <a:srgbClr val="86BBEA"/>
                </a:solidFill>
                <a:latin typeface="Cambria"/>
                <a:ea typeface="Cambria"/>
                <a:cs typeface="Cambria"/>
                <a:sym typeface="Cambria"/>
              </a:rPr>
              <a:t>Search</a:t>
            </a:r>
            <a:endParaRPr b="0" i="0" sz="1600" u="none" cap="none" strike="noStrike">
              <a:solidFill>
                <a:schemeClr val="dk1"/>
              </a:solidFill>
              <a:latin typeface="Calibri"/>
              <a:ea typeface="Calibri"/>
              <a:cs typeface="Calibri"/>
              <a:sym typeface="Calibri"/>
            </a:endParaRPr>
          </a:p>
        </p:txBody>
      </p:sp>
      <p:sp>
        <p:nvSpPr>
          <p:cNvPr id="150" name="Google Shape;150;p20"/>
          <p:cNvSpPr/>
          <p:nvPr/>
        </p:nvSpPr>
        <p:spPr>
          <a:xfrm>
            <a:off x="2331720" y="2276856"/>
            <a:ext cx="6103575"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0" lang="en-GB" sz="1600" u="none" cap="none" strike="noStrike">
                <a:solidFill>
                  <a:srgbClr val="DBE3EB"/>
                </a:solidFill>
                <a:latin typeface="Calibri"/>
                <a:ea typeface="Calibri"/>
                <a:cs typeface="Calibri"/>
                <a:sym typeface="Calibri"/>
              </a:rPr>
              <a:t>Finding a specific book fast → retrieving exact records</a:t>
            </a:r>
            <a:endParaRPr b="0" i="0" sz="1600" u="none" cap="none" strike="noStrike">
              <a:solidFill>
                <a:schemeClr val="dk1"/>
              </a:solidFill>
              <a:latin typeface="Calibri"/>
              <a:ea typeface="Calibri"/>
              <a:cs typeface="Calibri"/>
              <a:sym typeface="Calibri"/>
            </a:endParaRPr>
          </a:p>
        </p:txBody>
      </p:sp>
      <p:sp>
        <p:nvSpPr>
          <p:cNvPr id="151" name="Google Shape;151;p20"/>
          <p:cNvSpPr/>
          <p:nvPr/>
        </p:nvSpPr>
        <p:spPr>
          <a:xfrm>
            <a:off x="411480" y="2983230"/>
            <a:ext cx="8298225" cy="651600"/>
          </a:xfrm>
          <a:prstGeom prst="roundRect">
            <a:avLst>
              <a:gd fmla="val 10526" name="adj"/>
            </a:avLst>
          </a:prstGeom>
          <a:solidFill>
            <a:srgbClr val="336C9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000000"/>
              </a:solidFill>
              <a:latin typeface="Arial"/>
              <a:ea typeface="Arial"/>
              <a:cs typeface="Arial"/>
              <a:sym typeface="Arial"/>
            </a:endParaRPr>
          </a:p>
        </p:txBody>
      </p:sp>
      <p:sp>
        <p:nvSpPr>
          <p:cNvPr id="152" name="Google Shape;152;p20"/>
          <p:cNvSpPr/>
          <p:nvPr/>
        </p:nvSpPr>
        <p:spPr>
          <a:xfrm>
            <a:off x="651510" y="3065526"/>
            <a:ext cx="1577250"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6BBEA"/>
              </a:buClr>
              <a:buSzPts val="1400"/>
              <a:buFont typeface="Cambria"/>
              <a:buNone/>
            </a:pPr>
            <a:r>
              <a:rPr b="1" i="0" lang="en-GB" sz="1600" u="none" cap="none" strike="noStrike">
                <a:solidFill>
                  <a:srgbClr val="86BBEA"/>
                </a:solidFill>
                <a:latin typeface="Cambria"/>
                <a:ea typeface="Cambria"/>
                <a:cs typeface="Cambria"/>
                <a:sym typeface="Cambria"/>
              </a:rPr>
              <a:t>Modify</a:t>
            </a:r>
            <a:endParaRPr b="0" i="0" sz="1600" u="none" cap="none" strike="noStrike">
              <a:solidFill>
                <a:schemeClr val="dk1"/>
              </a:solidFill>
              <a:latin typeface="Calibri"/>
              <a:ea typeface="Calibri"/>
              <a:cs typeface="Calibri"/>
              <a:sym typeface="Calibri"/>
            </a:endParaRPr>
          </a:p>
        </p:txBody>
      </p:sp>
      <p:sp>
        <p:nvSpPr>
          <p:cNvPr id="153" name="Google Shape;153;p20"/>
          <p:cNvSpPr/>
          <p:nvPr/>
        </p:nvSpPr>
        <p:spPr>
          <a:xfrm>
            <a:off x="2331720" y="3065526"/>
            <a:ext cx="6103575"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0" lang="en-GB" sz="1600" u="none" cap="none" strike="noStrike">
                <a:solidFill>
                  <a:srgbClr val="DBE3EB"/>
                </a:solidFill>
                <a:latin typeface="Calibri"/>
                <a:ea typeface="Calibri"/>
                <a:cs typeface="Calibri"/>
                <a:sym typeface="Calibri"/>
              </a:rPr>
              <a:t>Replacing a damaged book → updating or deleting records</a:t>
            </a:r>
            <a:endParaRPr b="0" i="0" sz="1600" u="none" cap="none" strike="noStrike">
              <a:solidFill>
                <a:schemeClr val="dk1"/>
              </a:solidFill>
              <a:latin typeface="Calibri"/>
              <a:ea typeface="Calibri"/>
              <a:cs typeface="Calibri"/>
              <a:sym typeface="Calibri"/>
            </a:endParaRPr>
          </a:p>
        </p:txBody>
      </p:sp>
      <p:sp>
        <p:nvSpPr>
          <p:cNvPr id="154" name="Google Shape;154;p20"/>
          <p:cNvSpPr/>
          <p:nvPr/>
        </p:nvSpPr>
        <p:spPr>
          <a:xfrm>
            <a:off x="411480" y="3771900"/>
            <a:ext cx="8298225" cy="651600"/>
          </a:xfrm>
          <a:prstGeom prst="roundRect">
            <a:avLst>
              <a:gd fmla="val 10526" name="adj"/>
            </a:avLst>
          </a:prstGeom>
          <a:solidFill>
            <a:srgbClr val="336C9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000000"/>
              </a:solidFill>
              <a:latin typeface="Arial"/>
              <a:ea typeface="Arial"/>
              <a:cs typeface="Arial"/>
              <a:sym typeface="Arial"/>
            </a:endParaRPr>
          </a:p>
        </p:txBody>
      </p:sp>
      <p:sp>
        <p:nvSpPr>
          <p:cNvPr id="155" name="Google Shape;155;p20"/>
          <p:cNvSpPr/>
          <p:nvPr/>
        </p:nvSpPr>
        <p:spPr>
          <a:xfrm>
            <a:off x="651510" y="3854196"/>
            <a:ext cx="1577250"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6BBEA"/>
              </a:buClr>
              <a:buSzPts val="1400"/>
              <a:buFont typeface="Cambria"/>
              <a:buNone/>
            </a:pPr>
            <a:r>
              <a:rPr b="1" i="0" lang="en-GB" sz="1600" u="none" cap="none" strike="noStrike">
                <a:solidFill>
                  <a:srgbClr val="86BBEA"/>
                </a:solidFill>
                <a:latin typeface="Cambria"/>
                <a:ea typeface="Cambria"/>
                <a:cs typeface="Cambria"/>
                <a:sym typeface="Cambria"/>
              </a:rPr>
              <a:t>Secure</a:t>
            </a:r>
            <a:endParaRPr b="0" i="0" sz="1600" u="none" cap="none" strike="noStrike">
              <a:solidFill>
                <a:schemeClr val="dk1"/>
              </a:solidFill>
              <a:latin typeface="Calibri"/>
              <a:ea typeface="Calibri"/>
              <a:cs typeface="Calibri"/>
              <a:sym typeface="Calibri"/>
            </a:endParaRPr>
          </a:p>
        </p:txBody>
      </p:sp>
      <p:sp>
        <p:nvSpPr>
          <p:cNvPr id="156" name="Google Shape;156;p20"/>
          <p:cNvSpPr/>
          <p:nvPr/>
        </p:nvSpPr>
        <p:spPr>
          <a:xfrm>
            <a:off x="2331720" y="3854196"/>
            <a:ext cx="6103575"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0" lang="en-GB" sz="1600" u="none" cap="none" strike="noStrike">
                <a:solidFill>
                  <a:srgbClr val="DBE3EB"/>
                </a:solidFill>
                <a:latin typeface="Calibri"/>
                <a:ea typeface="Calibri"/>
                <a:cs typeface="Calibri"/>
                <a:sym typeface="Calibri"/>
              </a:rPr>
              <a:t>Reference-only sections → controlling who can access what</a:t>
            </a:r>
            <a:endParaRPr b="0" i="0" sz="1600" u="none" cap="none" strike="noStrike">
              <a:solidFill>
                <a:schemeClr val="dk1"/>
              </a:solidFill>
              <a:latin typeface="Calibri"/>
              <a:ea typeface="Calibri"/>
              <a:cs typeface="Calibri"/>
              <a:sym typeface="Calibri"/>
            </a:endParaRPr>
          </a:p>
        </p:txBody>
      </p:sp>
      <p:pic>
        <p:nvPicPr>
          <p:cNvPr descr="/home/claude/dbms_lecture2/logo/newton_logo_white.png" id="157" name="Google Shape;157;p20"/>
          <p:cNvPicPr preferRelativeResize="0"/>
          <p:nvPr/>
        </p:nvPicPr>
        <p:blipFill rotWithShape="1">
          <a:blip r:embed="rId3">
            <a:alphaModFix/>
          </a:blip>
          <a:srcRect b="0" l="0" r="0" t="0"/>
          <a:stretch/>
        </p:blipFill>
        <p:spPr>
          <a:xfrm>
            <a:off x="7746211" y="150875"/>
            <a:ext cx="1020362" cy="432050"/>
          </a:xfrm>
          <a:prstGeom prst="rect">
            <a:avLst/>
          </a:prstGeom>
          <a:noFill/>
          <a:ln>
            <a:noFill/>
          </a:ln>
        </p:spPr>
      </p:pic>
      <p:sp>
        <p:nvSpPr>
          <p:cNvPr id="158" name="Google Shape;158;p20"/>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p:nvPr/>
        </p:nvSpPr>
        <p:spPr>
          <a:xfrm>
            <a:off x="411480" y="288036"/>
            <a:ext cx="54864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000"/>
              <a:buFont typeface="Calibri"/>
              <a:buNone/>
            </a:pPr>
            <a:r>
              <a:rPr b="1" i="0" lang="en-GB" sz="1500" u="none" cap="none" strike="noStrike">
                <a:solidFill>
                  <a:srgbClr val="4597E1"/>
                </a:solidFill>
                <a:latin typeface="Calibri"/>
                <a:ea typeface="Calibri"/>
                <a:cs typeface="Calibri"/>
                <a:sym typeface="Calibri"/>
              </a:rPr>
              <a:t>REAL-WORLD SYSTEMS</a:t>
            </a:r>
            <a:endParaRPr b="0" i="0" sz="1500" u="none" cap="none" strike="noStrike">
              <a:solidFill>
                <a:schemeClr val="dk1"/>
              </a:solidFill>
              <a:latin typeface="Calibri"/>
              <a:ea typeface="Calibri"/>
              <a:cs typeface="Calibri"/>
              <a:sym typeface="Calibri"/>
            </a:endParaRPr>
          </a:p>
        </p:txBody>
      </p:sp>
      <p:sp>
        <p:nvSpPr>
          <p:cNvPr id="165" name="Google Shape;165;p21"/>
          <p:cNvSpPr/>
          <p:nvPr/>
        </p:nvSpPr>
        <p:spPr>
          <a:xfrm>
            <a:off x="411480" y="514350"/>
            <a:ext cx="8092350" cy="5829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1700" u="none" cap="none" strike="noStrike">
                <a:solidFill>
                  <a:srgbClr val="1E4161"/>
                </a:solidFill>
                <a:latin typeface="Cambria"/>
                <a:ea typeface="Cambria"/>
                <a:cs typeface="Cambria"/>
                <a:sym typeface="Cambria"/>
              </a:rPr>
              <a:t>Popular Database Systems That Use SQL</a:t>
            </a:r>
            <a:endParaRPr b="0" i="0" sz="1700" u="none" cap="none" strike="noStrike">
              <a:solidFill>
                <a:schemeClr val="dk1"/>
              </a:solidFill>
              <a:latin typeface="Calibri"/>
              <a:ea typeface="Calibri"/>
              <a:cs typeface="Calibri"/>
              <a:sym typeface="Calibri"/>
            </a:endParaRPr>
          </a:p>
        </p:txBody>
      </p:sp>
      <p:sp>
        <p:nvSpPr>
          <p:cNvPr id="166" name="Google Shape;166;p21"/>
          <p:cNvSpPr/>
          <p:nvPr/>
        </p:nvSpPr>
        <p:spPr>
          <a:xfrm>
            <a:off x="411480" y="1337310"/>
            <a:ext cx="4080600" cy="1268775"/>
          </a:xfrm>
          <a:prstGeom prst="roundRect">
            <a:avLst>
              <a:gd fmla="val 6486"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7" name="Google Shape;167;p21"/>
          <p:cNvSpPr/>
          <p:nvPr/>
        </p:nvSpPr>
        <p:spPr>
          <a:xfrm>
            <a:off x="576825" y="1414631"/>
            <a:ext cx="857250" cy="892125"/>
          </a:xfrm>
          <a:prstGeom prst="ellipse">
            <a:avLst/>
          </a:prstGeom>
          <a:solidFill>
            <a:srgbClr val="1E416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dbms_lecture2/icons/mysql.png" id="168" name="Google Shape;168;p21"/>
          <p:cNvPicPr preferRelativeResize="0"/>
          <p:nvPr/>
        </p:nvPicPr>
        <p:blipFill rotWithShape="1">
          <a:blip r:embed="rId3">
            <a:alphaModFix/>
          </a:blip>
          <a:srcRect b="0" l="0" r="0" t="0"/>
          <a:stretch/>
        </p:blipFill>
        <p:spPr>
          <a:xfrm>
            <a:off x="826389" y="1649349"/>
            <a:ext cx="267462" cy="267462"/>
          </a:xfrm>
          <a:prstGeom prst="rect">
            <a:avLst/>
          </a:prstGeom>
          <a:noFill/>
          <a:ln>
            <a:noFill/>
          </a:ln>
        </p:spPr>
      </p:pic>
      <p:sp>
        <p:nvSpPr>
          <p:cNvPr id="169" name="Google Shape;169;p21"/>
          <p:cNvSpPr/>
          <p:nvPr/>
        </p:nvSpPr>
        <p:spPr>
          <a:xfrm>
            <a:off x="1371600" y="1488186"/>
            <a:ext cx="2983275" cy="2742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400"/>
              <a:buFont typeface="Cambria"/>
              <a:buNone/>
            </a:pPr>
            <a:r>
              <a:rPr b="1" i="0" lang="en-GB" sz="1400" u="none" cap="none" strike="noStrike">
                <a:solidFill>
                  <a:srgbClr val="16334D"/>
                </a:solidFill>
                <a:latin typeface="Cambria"/>
                <a:ea typeface="Cambria"/>
                <a:cs typeface="Cambria"/>
                <a:sym typeface="Cambria"/>
              </a:rPr>
              <a:t>MySQL</a:t>
            </a:r>
            <a:endParaRPr b="0" i="0" sz="1400" u="none" cap="none" strike="noStrike">
              <a:solidFill>
                <a:schemeClr val="dk1"/>
              </a:solidFill>
              <a:latin typeface="Calibri"/>
              <a:ea typeface="Calibri"/>
              <a:cs typeface="Calibri"/>
              <a:sym typeface="Calibri"/>
            </a:endParaRPr>
          </a:p>
        </p:txBody>
      </p:sp>
      <p:sp>
        <p:nvSpPr>
          <p:cNvPr id="170" name="Google Shape;170;p21"/>
          <p:cNvSpPr/>
          <p:nvPr/>
        </p:nvSpPr>
        <p:spPr>
          <a:xfrm>
            <a:off x="1464563" y="1762500"/>
            <a:ext cx="2890500" cy="754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598DBD"/>
              </a:buClr>
              <a:buSzPts val="1000"/>
              <a:buFont typeface="Calibri"/>
              <a:buNone/>
            </a:pPr>
            <a:r>
              <a:rPr b="0" i="0" lang="en-GB" u="none" cap="none" strike="noStrike">
                <a:solidFill>
                  <a:srgbClr val="598DBD"/>
                </a:solidFill>
                <a:latin typeface="Calibri"/>
                <a:ea typeface="Calibri"/>
                <a:cs typeface="Calibri"/>
                <a:sym typeface="Calibri"/>
              </a:rPr>
              <a:t>Widely used for web applications (e.g., WordPress)</a:t>
            </a:r>
            <a:endParaRPr b="0" i="0" u="none" cap="none" strike="noStrike">
              <a:solidFill>
                <a:schemeClr val="dk1"/>
              </a:solidFill>
              <a:latin typeface="Calibri"/>
              <a:ea typeface="Calibri"/>
              <a:cs typeface="Calibri"/>
              <a:sym typeface="Calibri"/>
            </a:endParaRPr>
          </a:p>
        </p:txBody>
      </p:sp>
      <p:sp>
        <p:nvSpPr>
          <p:cNvPr id="171" name="Google Shape;171;p21"/>
          <p:cNvSpPr/>
          <p:nvPr/>
        </p:nvSpPr>
        <p:spPr>
          <a:xfrm>
            <a:off x="4629150" y="1337310"/>
            <a:ext cx="4080600" cy="1268775"/>
          </a:xfrm>
          <a:prstGeom prst="roundRect">
            <a:avLst>
              <a:gd fmla="val 6486"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2" name="Google Shape;172;p21"/>
          <p:cNvSpPr/>
          <p:nvPr/>
        </p:nvSpPr>
        <p:spPr>
          <a:xfrm>
            <a:off x="4714875" y="1525913"/>
            <a:ext cx="857250" cy="850275"/>
          </a:xfrm>
          <a:prstGeom prst="ellipse">
            <a:avLst/>
          </a:prstGeom>
          <a:solidFill>
            <a:srgbClr val="1E416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dbms_lecture2/icons/postgresql.png" id="173" name="Google Shape;173;p21"/>
          <p:cNvPicPr preferRelativeResize="0"/>
          <p:nvPr/>
        </p:nvPicPr>
        <p:blipFill rotWithShape="1">
          <a:blip r:embed="rId4">
            <a:alphaModFix/>
          </a:blip>
          <a:srcRect b="0" l="0" r="0" t="0"/>
          <a:stretch/>
        </p:blipFill>
        <p:spPr>
          <a:xfrm>
            <a:off x="5044059" y="1649349"/>
            <a:ext cx="267462" cy="267462"/>
          </a:xfrm>
          <a:prstGeom prst="rect">
            <a:avLst/>
          </a:prstGeom>
          <a:noFill/>
          <a:ln>
            <a:noFill/>
          </a:ln>
        </p:spPr>
      </p:pic>
      <p:sp>
        <p:nvSpPr>
          <p:cNvPr id="174" name="Google Shape;174;p21"/>
          <p:cNvSpPr/>
          <p:nvPr/>
        </p:nvSpPr>
        <p:spPr>
          <a:xfrm>
            <a:off x="5589270" y="1488186"/>
            <a:ext cx="2983275" cy="2742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400"/>
              <a:buFont typeface="Cambria"/>
              <a:buNone/>
            </a:pPr>
            <a:r>
              <a:rPr b="1" i="0" lang="en-GB" sz="1400" u="none" cap="none" strike="noStrike">
                <a:solidFill>
                  <a:srgbClr val="16334D"/>
                </a:solidFill>
                <a:latin typeface="Cambria"/>
                <a:ea typeface="Cambria"/>
                <a:cs typeface="Cambria"/>
                <a:sym typeface="Cambria"/>
              </a:rPr>
              <a:t>PostgreSQL</a:t>
            </a:r>
            <a:endParaRPr b="0" i="0" sz="1400" u="none" cap="none" strike="noStrike">
              <a:solidFill>
                <a:schemeClr val="dk1"/>
              </a:solidFill>
              <a:latin typeface="Calibri"/>
              <a:ea typeface="Calibri"/>
              <a:cs typeface="Calibri"/>
              <a:sym typeface="Calibri"/>
            </a:endParaRPr>
          </a:p>
        </p:txBody>
      </p:sp>
      <p:sp>
        <p:nvSpPr>
          <p:cNvPr id="175" name="Google Shape;175;p21"/>
          <p:cNvSpPr/>
          <p:nvPr/>
        </p:nvSpPr>
        <p:spPr>
          <a:xfrm>
            <a:off x="5589270" y="1762506"/>
            <a:ext cx="2983275" cy="754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598DBD"/>
              </a:buClr>
              <a:buSzPts val="1000"/>
              <a:buFont typeface="Calibri"/>
              <a:buNone/>
            </a:pPr>
            <a:r>
              <a:rPr b="0" i="0" lang="en-GB" u="none" cap="none" strike="noStrike">
                <a:solidFill>
                  <a:srgbClr val="598DBD"/>
                </a:solidFill>
                <a:latin typeface="Calibri"/>
                <a:ea typeface="Calibri"/>
                <a:cs typeface="Calibri"/>
                <a:sym typeface="Calibri"/>
              </a:rPr>
              <a:t>Open-source database known for advanced features and SQL standards</a:t>
            </a:r>
            <a:endParaRPr b="0" i="0" u="none" cap="none" strike="noStrike">
              <a:solidFill>
                <a:schemeClr val="dk1"/>
              </a:solidFill>
              <a:latin typeface="Calibri"/>
              <a:ea typeface="Calibri"/>
              <a:cs typeface="Calibri"/>
              <a:sym typeface="Calibri"/>
            </a:endParaRPr>
          </a:p>
        </p:txBody>
      </p:sp>
      <p:sp>
        <p:nvSpPr>
          <p:cNvPr id="176" name="Google Shape;176;p21"/>
          <p:cNvSpPr/>
          <p:nvPr/>
        </p:nvSpPr>
        <p:spPr>
          <a:xfrm>
            <a:off x="411480" y="2743200"/>
            <a:ext cx="4080600" cy="1268775"/>
          </a:xfrm>
          <a:prstGeom prst="roundRect">
            <a:avLst>
              <a:gd fmla="val 6486"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7" name="Google Shape;177;p21"/>
          <p:cNvSpPr/>
          <p:nvPr/>
        </p:nvSpPr>
        <p:spPr>
          <a:xfrm>
            <a:off x="497191" y="2931785"/>
            <a:ext cx="720000" cy="686250"/>
          </a:xfrm>
          <a:prstGeom prst="ellipse">
            <a:avLst/>
          </a:prstGeom>
          <a:solidFill>
            <a:srgbClr val="1E416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8" name="Google Shape;178;p21"/>
          <p:cNvSpPr/>
          <p:nvPr/>
        </p:nvSpPr>
        <p:spPr>
          <a:xfrm>
            <a:off x="1371600" y="2894076"/>
            <a:ext cx="2983275" cy="2742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400"/>
              <a:buFont typeface="Cambria"/>
              <a:buNone/>
            </a:pPr>
            <a:r>
              <a:rPr b="1" i="0" lang="en-GB" sz="1400" u="none" cap="none" strike="noStrike">
                <a:solidFill>
                  <a:srgbClr val="16334D"/>
                </a:solidFill>
                <a:latin typeface="Cambria"/>
                <a:ea typeface="Cambria"/>
                <a:cs typeface="Cambria"/>
                <a:sym typeface="Cambria"/>
              </a:rPr>
              <a:t>Oracle</a:t>
            </a:r>
            <a:endParaRPr b="0" i="0" sz="1400" u="none" cap="none" strike="noStrike">
              <a:solidFill>
                <a:schemeClr val="dk1"/>
              </a:solidFill>
              <a:latin typeface="Calibri"/>
              <a:ea typeface="Calibri"/>
              <a:cs typeface="Calibri"/>
              <a:sym typeface="Calibri"/>
            </a:endParaRPr>
          </a:p>
        </p:txBody>
      </p:sp>
      <p:sp>
        <p:nvSpPr>
          <p:cNvPr id="179" name="Google Shape;179;p21"/>
          <p:cNvSpPr/>
          <p:nvPr/>
        </p:nvSpPr>
        <p:spPr>
          <a:xfrm>
            <a:off x="1371600" y="3168396"/>
            <a:ext cx="2983275" cy="754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598DBD"/>
              </a:buClr>
              <a:buSzPts val="1000"/>
              <a:buFont typeface="Calibri"/>
              <a:buNone/>
            </a:pPr>
            <a:r>
              <a:rPr b="0" i="0" lang="en-GB" u="none" cap="none" strike="noStrike">
                <a:solidFill>
                  <a:srgbClr val="598DBD"/>
                </a:solidFill>
                <a:latin typeface="Calibri"/>
                <a:ea typeface="Calibri"/>
                <a:cs typeface="Calibri"/>
                <a:sym typeface="Calibri"/>
              </a:rPr>
              <a:t>Enterprise database used by large organizations — banks, airlines, governments</a:t>
            </a:r>
            <a:endParaRPr b="0" i="0" u="none" cap="none" strike="noStrike">
              <a:solidFill>
                <a:schemeClr val="dk1"/>
              </a:solidFill>
              <a:latin typeface="Calibri"/>
              <a:ea typeface="Calibri"/>
              <a:cs typeface="Calibri"/>
              <a:sym typeface="Calibri"/>
            </a:endParaRPr>
          </a:p>
        </p:txBody>
      </p:sp>
      <p:sp>
        <p:nvSpPr>
          <p:cNvPr id="180" name="Google Shape;180;p21"/>
          <p:cNvSpPr/>
          <p:nvPr/>
        </p:nvSpPr>
        <p:spPr>
          <a:xfrm>
            <a:off x="4629150" y="2743200"/>
            <a:ext cx="4080600" cy="1268775"/>
          </a:xfrm>
          <a:prstGeom prst="roundRect">
            <a:avLst>
              <a:gd fmla="val 6486"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1" name="Google Shape;181;p21"/>
          <p:cNvSpPr/>
          <p:nvPr/>
        </p:nvSpPr>
        <p:spPr>
          <a:xfrm>
            <a:off x="4746770" y="2931785"/>
            <a:ext cx="688275" cy="754425"/>
          </a:xfrm>
          <a:prstGeom prst="ellipse">
            <a:avLst/>
          </a:prstGeom>
          <a:solidFill>
            <a:srgbClr val="1E416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2" name="Google Shape;182;p21"/>
          <p:cNvSpPr/>
          <p:nvPr/>
        </p:nvSpPr>
        <p:spPr>
          <a:xfrm>
            <a:off x="5589270" y="2894076"/>
            <a:ext cx="2983275" cy="2742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400"/>
              <a:buFont typeface="Cambria"/>
              <a:buNone/>
            </a:pPr>
            <a:r>
              <a:rPr b="1" i="0" lang="en-GB" sz="1400" u="none" cap="none" strike="noStrike">
                <a:solidFill>
                  <a:srgbClr val="16334D"/>
                </a:solidFill>
                <a:latin typeface="Cambria"/>
                <a:ea typeface="Cambria"/>
                <a:cs typeface="Cambria"/>
                <a:sym typeface="Cambria"/>
              </a:rPr>
              <a:t>SQL Server</a:t>
            </a:r>
            <a:endParaRPr b="0" i="0" sz="1400" u="none" cap="none" strike="noStrike">
              <a:solidFill>
                <a:schemeClr val="dk1"/>
              </a:solidFill>
              <a:latin typeface="Calibri"/>
              <a:ea typeface="Calibri"/>
              <a:cs typeface="Calibri"/>
              <a:sym typeface="Calibri"/>
            </a:endParaRPr>
          </a:p>
        </p:txBody>
      </p:sp>
      <p:sp>
        <p:nvSpPr>
          <p:cNvPr id="183" name="Google Shape;183;p21"/>
          <p:cNvSpPr/>
          <p:nvPr/>
        </p:nvSpPr>
        <p:spPr>
          <a:xfrm>
            <a:off x="5589270" y="3168396"/>
            <a:ext cx="2983275" cy="754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598DBD"/>
              </a:buClr>
              <a:buSzPts val="1000"/>
              <a:buFont typeface="Calibri"/>
              <a:buNone/>
            </a:pPr>
            <a:r>
              <a:rPr b="0" i="0" lang="en-GB" u="none" cap="none" strike="noStrike">
                <a:solidFill>
                  <a:srgbClr val="598DBD"/>
                </a:solidFill>
                <a:latin typeface="Calibri"/>
                <a:ea typeface="Calibri"/>
                <a:cs typeface="Calibri"/>
                <a:sym typeface="Calibri"/>
              </a:rPr>
              <a:t>Enterprise RDBMS integrated with the Microsoft ecosystem.</a:t>
            </a:r>
            <a:endParaRPr b="0" i="0" u="none" cap="none" strike="noStrike">
              <a:solidFill>
                <a:schemeClr val="dk1"/>
              </a:solidFill>
              <a:latin typeface="Calibri"/>
              <a:ea typeface="Calibri"/>
              <a:cs typeface="Calibri"/>
              <a:sym typeface="Calibri"/>
            </a:endParaRPr>
          </a:p>
        </p:txBody>
      </p:sp>
      <p:sp>
        <p:nvSpPr>
          <p:cNvPr id="184" name="Google Shape;184;p21"/>
          <p:cNvSpPr/>
          <p:nvPr/>
        </p:nvSpPr>
        <p:spPr>
          <a:xfrm>
            <a:off x="411475" y="4217677"/>
            <a:ext cx="7794900" cy="4287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98DBD"/>
              </a:buClr>
              <a:buSzPts val="1100"/>
              <a:buFont typeface="Calibri"/>
              <a:buNone/>
            </a:pPr>
            <a:r>
              <a:rPr b="0" i="1" lang="en-GB" sz="1300" u="none" cap="none" strike="noStrike">
                <a:solidFill>
                  <a:srgbClr val="598DBD"/>
                </a:solidFill>
                <a:latin typeface="Calibri"/>
                <a:ea typeface="Calibri"/>
                <a:cs typeface="Calibri"/>
                <a:sym typeface="Calibri"/>
              </a:rPr>
              <a:t>Although these databases have different features, they all use SQL as their standard language for managing and querying data.</a:t>
            </a:r>
            <a:endParaRPr b="0" i="0" sz="1300" u="none" cap="none" strike="noStrike">
              <a:solidFill>
                <a:schemeClr val="dk1"/>
              </a:solidFill>
              <a:latin typeface="Calibri"/>
              <a:ea typeface="Calibri"/>
              <a:cs typeface="Calibri"/>
              <a:sym typeface="Calibri"/>
            </a:endParaRPr>
          </a:p>
        </p:txBody>
      </p:sp>
      <p:pic>
        <p:nvPicPr>
          <p:cNvPr descr="/home/claude/dbms_lecture2/logo/newton_logo_transparent.png" id="185" name="Google Shape;185;p21"/>
          <p:cNvPicPr preferRelativeResize="0"/>
          <p:nvPr/>
        </p:nvPicPr>
        <p:blipFill rotWithShape="1">
          <a:blip r:embed="rId5">
            <a:alphaModFix/>
          </a:blip>
          <a:srcRect b="0" l="0" r="0" t="0"/>
          <a:stretch/>
        </p:blipFill>
        <p:spPr>
          <a:xfrm>
            <a:off x="8046491" y="150876"/>
            <a:ext cx="720090" cy="304903"/>
          </a:xfrm>
          <a:prstGeom prst="rect">
            <a:avLst/>
          </a:prstGeom>
          <a:noFill/>
          <a:ln>
            <a:noFill/>
          </a:ln>
        </p:spPr>
      </p:pic>
      <p:sp>
        <p:nvSpPr>
          <p:cNvPr id="186" name="Google Shape;186;p21"/>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pic>
        <p:nvPicPr>
          <p:cNvPr id="187" name="Google Shape;187;p21"/>
          <p:cNvPicPr preferRelativeResize="0"/>
          <p:nvPr/>
        </p:nvPicPr>
        <p:blipFill rotWithShape="1">
          <a:blip r:embed="rId6">
            <a:alphaModFix/>
          </a:blip>
          <a:srcRect b="0" l="0" r="0" t="0"/>
          <a:stretch/>
        </p:blipFill>
        <p:spPr>
          <a:xfrm>
            <a:off x="748273" y="1594853"/>
            <a:ext cx="514351" cy="531686"/>
          </a:xfrm>
          <a:prstGeom prst="rect">
            <a:avLst/>
          </a:prstGeom>
          <a:noFill/>
          <a:ln>
            <a:noFill/>
          </a:ln>
        </p:spPr>
      </p:pic>
      <p:pic>
        <p:nvPicPr>
          <p:cNvPr id="188" name="Google Shape;188;p21"/>
          <p:cNvPicPr preferRelativeResize="0"/>
          <p:nvPr/>
        </p:nvPicPr>
        <p:blipFill rotWithShape="1">
          <a:blip r:embed="rId7">
            <a:alphaModFix/>
          </a:blip>
          <a:srcRect b="0" l="0" r="0" t="0"/>
          <a:stretch/>
        </p:blipFill>
        <p:spPr>
          <a:xfrm>
            <a:off x="4803432" y="1690594"/>
            <a:ext cx="688200" cy="503561"/>
          </a:xfrm>
          <a:prstGeom prst="rect">
            <a:avLst/>
          </a:prstGeom>
          <a:noFill/>
          <a:ln>
            <a:noFill/>
          </a:ln>
        </p:spPr>
      </p:pic>
      <p:pic>
        <p:nvPicPr>
          <p:cNvPr id="189" name="Google Shape;189;p21"/>
          <p:cNvPicPr preferRelativeResize="0"/>
          <p:nvPr/>
        </p:nvPicPr>
        <p:blipFill rotWithShape="1">
          <a:blip r:embed="rId8">
            <a:alphaModFix/>
          </a:blip>
          <a:srcRect b="0" l="0" r="0" t="0"/>
          <a:stretch/>
        </p:blipFill>
        <p:spPr>
          <a:xfrm>
            <a:off x="582938" y="3119494"/>
            <a:ext cx="549422" cy="304894"/>
          </a:xfrm>
          <a:prstGeom prst="rect">
            <a:avLst/>
          </a:prstGeom>
          <a:solidFill>
            <a:srgbClr val="65A9E6"/>
          </a:solidFill>
          <a:ln>
            <a:noFill/>
          </a:ln>
        </p:spPr>
      </p:pic>
      <p:pic>
        <p:nvPicPr>
          <p:cNvPr id="190" name="Google Shape;190;p21"/>
          <p:cNvPicPr preferRelativeResize="0"/>
          <p:nvPr/>
        </p:nvPicPr>
        <p:blipFill rotWithShape="1">
          <a:blip r:embed="rId9">
            <a:alphaModFix/>
          </a:blip>
          <a:srcRect b="0" l="0" r="0" t="0"/>
          <a:stretch/>
        </p:blipFill>
        <p:spPr>
          <a:xfrm>
            <a:off x="4805156" y="3082613"/>
            <a:ext cx="571500" cy="428625"/>
          </a:xfrm>
          <a:prstGeom prst="rect">
            <a:avLst/>
          </a:prstGeom>
          <a:solidFill>
            <a:srgbClr val="9BC7EF"/>
          </a:solid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p:nvPr/>
        </p:nvSpPr>
        <p:spPr>
          <a:xfrm>
            <a:off x="411480" y="436838"/>
            <a:ext cx="8092350" cy="5829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One language, four job descriptions</a:t>
            </a:r>
            <a:endParaRPr b="0" i="0" sz="2000" u="none" cap="none" strike="noStrike">
              <a:solidFill>
                <a:schemeClr val="dk1"/>
              </a:solidFill>
              <a:latin typeface="Calibri"/>
              <a:ea typeface="Calibri"/>
              <a:cs typeface="Calibri"/>
              <a:sym typeface="Calibri"/>
            </a:endParaRPr>
          </a:p>
        </p:txBody>
      </p:sp>
      <p:sp>
        <p:nvSpPr>
          <p:cNvPr id="197" name="Google Shape;197;p22"/>
          <p:cNvSpPr/>
          <p:nvPr/>
        </p:nvSpPr>
        <p:spPr>
          <a:xfrm>
            <a:off x="411475" y="990700"/>
            <a:ext cx="8434200" cy="377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98DBD"/>
              </a:buClr>
              <a:buSzPts val="1100"/>
              <a:buFont typeface="Calibri"/>
              <a:buNone/>
            </a:pPr>
            <a:r>
              <a:rPr b="0" i="0" lang="en-GB" u="none" cap="none" strike="noStrike">
                <a:solidFill>
                  <a:srgbClr val="598DBD"/>
                </a:solidFill>
                <a:latin typeface="Calibri"/>
                <a:ea typeface="Calibri"/>
                <a:cs typeface="Calibri"/>
                <a:sym typeface="Calibri"/>
              </a:rPr>
              <a:t>As databases grew larger, SQL commands were grouped by the kind of task they perform — just like running a university.</a:t>
            </a:r>
            <a:endParaRPr b="0" i="0" u="none" cap="none" strike="noStrike">
              <a:solidFill>
                <a:schemeClr val="dk1"/>
              </a:solidFill>
              <a:latin typeface="Calibri"/>
              <a:ea typeface="Calibri"/>
              <a:cs typeface="Calibri"/>
              <a:sym typeface="Calibri"/>
            </a:endParaRPr>
          </a:p>
        </p:txBody>
      </p:sp>
      <p:sp>
        <p:nvSpPr>
          <p:cNvPr id="198" name="Google Shape;198;p22"/>
          <p:cNvSpPr/>
          <p:nvPr/>
        </p:nvSpPr>
        <p:spPr>
          <a:xfrm>
            <a:off x="450274" y="1587600"/>
            <a:ext cx="2002500" cy="2846025"/>
          </a:xfrm>
          <a:prstGeom prst="roundRect">
            <a:avLst>
              <a:gd fmla="val 4795" name="adj"/>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199" name="Google Shape;199;p22"/>
          <p:cNvSpPr/>
          <p:nvPr/>
        </p:nvSpPr>
        <p:spPr>
          <a:xfrm>
            <a:off x="553106" y="1905803"/>
            <a:ext cx="1796850" cy="3771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2300"/>
              <a:buFont typeface="Cambria"/>
              <a:buNone/>
            </a:pPr>
            <a:r>
              <a:rPr b="1" i="0" lang="en-GB" sz="1900" u="none" cap="none" strike="noStrike">
                <a:solidFill>
                  <a:srgbClr val="FFFFFF"/>
                </a:solidFill>
                <a:latin typeface="Cambria"/>
                <a:ea typeface="Cambria"/>
                <a:cs typeface="Cambria"/>
                <a:sym typeface="Cambria"/>
              </a:rPr>
              <a:t>DDL</a:t>
            </a:r>
            <a:endParaRPr b="0" i="0" sz="1900" u="none" cap="none" strike="noStrike">
              <a:solidFill>
                <a:schemeClr val="dk1"/>
              </a:solidFill>
              <a:latin typeface="Calibri"/>
              <a:ea typeface="Calibri"/>
              <a:cs typeface="Calibri"/>
              <a:sym typeface="Calibri"/>
            </a:endParaRPr>
          </a:p>
        </p:txBody>
      </p:sp>
      <p:sp>
        <p:nvSpPr>
          <p:cNvPr id="200" name="Google Shape;200;p22"/>
          <p:cNvSpPr/>
          <p:nvPr/>
        </p:nvSpPr>
        <p:spPr>
          <a:xfrm>
            <a:off x="548584" y="2554526"/>
            <a:ext cx="1728225" cy="48015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400" u="none" cap="none" strike="noStrike">
                <a:solidFill>
                  <a:srgbClr val="FFFFFF"/>
                </a:solidFill>
                <a:latin typeface="Calibri"/>
                <a:ea typeface="Calibri"/>
                <a:cs typeface="Calibri"/>
                <a:sym typeface="Calibri"/>
              </a:rPr>
              <a:t>Data Definition Language</a:t>
            </a:r>
            <a:br>
              <a:rPr b="1" i="0" lang="en-GB" sz="1400" u="none" cap="none" strike="noStrike">
                <a:solidFill>
                  <a:srgbClr val="FFFFFF"/>
                </a:solidFill>
                <a:latin typeface="Calibri"/>
                <a:ea typeface="Calibri"/>
                <a:cs typeface="Calibri"/>
                <a:sym typeface="Calibri"/>
              </a:rPr>
            </a:br>
            <a:r>
              <a:rPr b="1" lang="en-GB">
                <a:solidFill>
                  <a:srgbClr val="FFFFFF"/>
                </a:solidFill>
                <a:latin typeface="Calibri"/>
                <a:ea typeface="Calibri"/>
                <a:cs typeface="Calibri"/>
                <a:sym typeface="Calibri"/>
              </a:rPr>
              <a:t>Statements</a:t>
            </a:r>
            <a:r>
              <a:rPr b="1" i="0" lang="en-GB" sz="1400" u="none" cap="none" strike="noStrike">
                <a:solidFill>
                  <a:srgbClr val="FFFFFF"/>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cxnSp>
        <p:nvCxnSpPr>
          <p:cNvPr id="201" name="Google Shape;201;p22"/>
          <p:cNvCxnSpPr/>
          <p:nvPr/>
        </p:nvCxnSpPr>
        <p:spPr>
          <a:xfrm>
            <a:off x="754380" y="3566160"/>
            <a:ext cx="1316700" cy="0"/>
          </a:xfrm>
          <a:prstGeom prst="straightConnector1">
            <a:avLst/>
          </a:prstGeom>
          <a:noFill/>
          <a:ln cap="flat" cmpd="sng" w="12700">
            <a:solidFill>
              <a:srgbClr val="FFFFFF">
                <a:alpha val="45098"/>
              </a:srgbClr>
            </a:solidFill>
            <a:prstDash val="solid"/>
            <a:round/>
            <a:headEnd len="sm" w="sm" type="none"/>
            <a:tailEnd len="sm" w="sm" type="none"/>
          </a:ln>
        </p:spPr>
      </p:cxnSp>
      <p:sp>
        <p:nvSpPr>
          <p:cNvPr id="202" name="Google Shape;202;p22"/>
          <p:cNvSpPr/>
          <p:nvPr/>
        </p:nvSpPr>
        <p:spPr>
          <a:xfrm>
            <a:off x="548640" y="3840480"/>
            <a:ext cx="1728225" cy="48015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300" u="none" cap="none" strike="noStrike">
                <a:solidFill>
                  <a:srgbClr val="FFFFFF"/>
                </a:solidFill>
                <a:latin typeface="Calibri"/>
                <a:ea typeface="Calibri"/>
                <a:cs typeface="Calibri"/>
                <a:sym typeface="Calibri"/>
              </a:rPr>
              <a:t>Constructing classrooms</a:t>
            </a:r>
            <a:endParaRPr b="0" i="0" sz="1300" u="none" cap="none" strike="noStrike">
              <a:solidFill>
                <a:schemeClr val="dk1"/>
              </a:solidFill>
              <a:latin typeface="Calibri"/>
              <a:ea typeface="Calibri"/>
              <a:cs typeface="Calibri"/>
              <a:sym typeface="Calibri"/>
            </a:endParaRPr>
          </a:p>
        </p:txBody>
      </p:sp>
      <p:sp>
        <p:nvSpPr>
          <p:cNvPr id="203" name="Google Shape;203;p22"/>
          <p:cNvSpPr/>
          <p:nvPr/>
        </p:nvSpPr>
        <p:spPr>
          <a:xfrm>
            <a:off x="2556866" y="1543050"/>
            <a:ext cx="2002500" cy="2846025"/>
          </a:xfrm>
          <a:prstGeom prst="roundRect">
            <a:avLst>
              <a:gd fmla="val 4795" name="adj"/>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204" name="Google Shape;204;p22"/>
          <p:cNvSpPr/>
          <p:nvPr/>
        </p:nvSpPr>
        <p:spPr>
          <a:xfrm>
            <a:off x="2608268" y="1905803"/>
            <a:ext cx="1796850" cy="3771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2300"/>
              <a:buFont typeface="Cambria"/>
              <a:buNone/>
            </a:pPr>
            <a:r>
              <a:rPr b="1" i="0" lang="en-GB" sz="1900" u="none" cap="none" strike="noStrike">
                <a:solidFill>
                  <a:srgbClr val="FFFFFF"/>
                </a:solidFill>
                <a:latin typeface="Cambria"/>
                <a:ea typeface="Cambria"/>
                <a:cs typeface="Cambria"/>
                <a:sym typeface="Cambria"/>
              </a:rPr>
              <a:t>DML</a:t>
            </a:r>
            <a:endParaRPr b="0" i="0" sz="1900" u="none" cap="none" strike="noStrike">
              <a:solidFill>
                <a:schemeClr val="dk1"/>
              </a:solidFill>
              <a:latin typeface="Calibri"/>
              <a:ea typeface="Calibri"/>
              <a:cs typeface="Calibri"/>
              <a:sym typeface="Calibri"/>
            </a:endParaRPr>
          </a:p>
        </p:txBody>
      </p:sp>
      <p:sp>
        <p:nvSpPr>
          <p:cNvPr id="205" name="Google Shape;205;p22"/>
          <p:cNvSpPr/>
          <p:nvPr/>
        </p:nvSpPr>
        <p:spPr>
          <a:xfrm>
            <a:off x="2694007" y="2554526"/>
            <a:ext cx="1728225" cy="48015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400" u="none" cap="none" strike="noStrike">
                <a:solidFill>
                  <a:srgbClr val="FFFFFF"/>
                </a:solidFill>
                <a:latin typeface="Calibri"/>
                <a:ea typeface="Calibri"/>
                <a:cs typeface="Calibri"/>
                <a:sym typeface="Calibri"/>
              </a:rPr>
              <a:t>Data Manipulation Language</a:t>
            </a:r>
            <a:br>
              <a:rPr b="1" i="0" lang="en-GB" sz="1400" u="none" cap="none" strike="noStrike">
                <a:solidFill>
                  <a:srgbClr val="FFFFFF"/>
                </a:solidFill>
                <a:latin typeface="Calibri"/>
                <a:ea typeface="Calibri"/>
                <a:cs typeface="Calibri"/>
                <a:sym typeface="Calibri"/>
              </a:rPr>
            </a:br>
            <a:r>
              <a:rPr b="1" i="0" lang="en-GB" sz="1400" u="none" cap="none" strike="noStrike">
                <a:solidFill>
                  <a:srgbClr val="FFFFFF"/>
                </a:solidFill>
                <a:latin typeface="Calibri"/>
                <a:ea typeface="Calibri"/>
                <a:cs typeface="Calibri"/>
                <a:sym typeface="Calibri"/>
              </a:rPr>
              <a:t>Statements</a:t>
            </a:r>
            <a:endParaRPr b="0" i="0" sz="1400" u="none" cap="none" strike="noStrike">
              <a:solidFill>
                <a:schemeClr val="dk1"/>
              </a:solidFill>
              <a:latin typeface="Calibri"/>
              <a:ea typeface="Calibri"/>
              <a:cs typeface="Calibri"/>
              <a:sym typeface="Calibri"/>
            </a:endParaRPr>
          </a:p>
        </p:txBody>
      </p:sp>
      <p:cxnSp>
        <p:nvCxnSpPr>
          <p:cNvPr id="206" name="Google Shape;206;p22"/>
          <p:cNvCxnSpPr/>
          <p:nvPr/>
        </p:nvCxnSpPr>
        <p:spPr>
          <a:xfrm>
            <a:off x="2880360" y="3566160"/>
            <a:ext cx="1316700" cy="0"/>
          </a:xfrm>
          <a:prstGeom prst="straightConnector1">
            <a:avLst/>
          </a:prstGeom>
          <a:noFill/>
          <a:ln cap="flat" cmpd="sng" w="12700">
            <a:solidFill>
              <a:srgbClr val="FFFFFF">
                <a:alpha val="45098"/>
              </a:srgbClr>
            </a:solidFill>
            <a:prstDash val="solid"/>
            <a:round/>
            <a:headEnd len="sm" w="sm" type="none"/>
            <a:tailEnd len="sm" w="sm" type="none"/>
          </a:ln>
        </p:spPr>
      </p:cxnSp>
      <p:sp>
        <p:nvSpPr>
          <p:cNvPr id="207" name="Google Shape;207;p22"/>
          <p:cNvSpPr/>
          <p:nvPr/>
        </p:nvSpPr>
        <p:spPr>
          <a:xfrm>
            <a:off x="2723250" y="3655321"/>
            <a:ext cx="1669725" cy="2056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0" i="1" lang="en-GB" sz="1300" u="none" cap="none" strike="noStrike">
                <a:solidFill>
                  <a:srgbClr val="FFFFFF"/>
                </a:solidFill>
                <a:latin typeface="Calibri"/>
                <a:ea typeface="Calibri"/>
                <a:cs typeface="Calibri"/>
                <a:sym typeface="Calibri"/>
              </a:rPr>
              <a:t>University analogy</a:t>
            </a:r>
            <a:endParaRPr b="0" i="0" sz="1300" u="none" cap="none" strike="noStrike">
              <a:solidFill>
                <a:schemeClr val="dk1"/>
              </a:solidFill>
              <a:latin typeface="Calibri"/>
              <a:ea typeface="Calibri"/>
              <a:cs typeface="Calibri"/>
              <a:sym typeface="Calibri"/>
            </a:endParaRPr>
          </a:p>
        </p:txBody>
      </p:sp>
      <p:sp>
        <p:nvSpPr>
          <p:cNvPr id="208" name="Google Shape;208;p22"/>
          <p:cNvSpPr/>
          <p:nvPr/>
        </p:nvSpPr>
        <p:spPr>
          <a:xfrm>
            <a:off x="2674620" y="3840480"/>
            <a:ext cx="1728225" cy="48015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300" u="none" cap="none" strike="noStrike">
                <a:solidFill>
                  <a:srgbClr val="FFFFFF"/>
                </a:solidFill>
                <a:latin typeface="Calibri"/>
                <a:ea typeface="Calibri"/>
                <a:cs typeface="Calibri"/>
                <a:sym typeface="Calibri"/>
              </a:rPr>
              <a:t>Managing student records</a:t>
            </a:r>
            <a:endParaRPr b="0" i="0" sz="1300" u="none" cap="none" strike="noStrike">
              <a:solidFill>
                <a:schemeClr val="dk1"/>
              </a:solidFill>
              <a:latin typeface="Calibri"/>
              <a:ea typeface="Calibri"/>
              <a:cs typeface="Calibri"/>
              <a:sym typeface="Calibri"/>
            </a:endParaRPr>
          </a:p>
        </p:txBody>
      </p:sp>
      <p:sp>
        <p:nvSpPr>
          <p:cNvPr id="209" name="Google Shape;209;p22"/>
          <p:cNvSpPr/>
          <p:nvPr/>
        </p:nvSpPr>
        <p:spPr>
          <a:xfrm>
            <a:off x="4663440" y="1543050"/>
            <a:ext cx="2002500" cy="2846025"/>
          </a:xfrm>
          <a:prstGeom prst="roundRect">
            <a:avLst>
              <a:gd fmla="val 4795" name="adj"/>
            </a:avLst>
          </a:prstGeom>
          <a:solidFill>
            <a:srgbClr val="65A9E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210" name="Google Shape;210;p22"/>
          <p:cNvSpPr/>
          <p:nvPr/>
        </p:nvSpPr>
        <p:spPr>
          <a:xfrm>
            <a:off x="4766254" y="1859650"/>
            <a:ext cx="1796850" cy="3771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2300"/>
              <a:buFont typeface="Cambria"/>
              <a:buNone/>
            </a:pPr>
            <a:r>
              <a:rPr b="1" i="0" lang="en-GB" sz="1900" u="none" cap="none" strike="noStrike">
                <a:solidFill>
                  <a:srgbClr val="FFFFFF"/>
                </a:solidFill>
                <a:latin typeface="Cambria"/>
                <a:ea typeface="Cambria"/>
                <a:cs typeface="Cambria"/>
                <a:sym typeface="Cambria"/>
              </a:rPr>
              <a:t>TCL</a:t>
            </a:r>
            <a:endParaRPr b="0" i="0" sz="1900" u="none" cap="none" strike="noStrike">
              <a:solidFill>
                <a:schemeClr val="dk1"/>
              </a:solidFill>
              <a:latin typeface="Calibri"/>
              <a:ea typeface="Calibri"/>
              <a:cs typeface="Calibri"/>
              <a:sym typeface="Calibri"/>
            </a:endParaRPr>
          </a:p>
        </p:txBody>
      </p:sp>
      <p:sp>
        <p:nvSpPr>
          <p:cNvPr id="211" name="Google Shape;211;p22"/>
          <p:cNvSpPr/>
          <p:nvPr/>
        </p:nvSpPr>
        <p:spPr>
          <a:xfrm>
            <a:off x="4839413" y="2537370"/>
            <a:ext cx="1728225" cy="48015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400" u="none" cap="none" strike="noStrike">
                <a:solidFill>
                  <a:srgbClr val="FFFFFF"/>
                </a:solidFill>
                <a:latin typeface="Calibri"/>
                <a:ea typeface="Calibri"/>
                <a:cs typeface="Calibri"/>
                <a:sym typeface="Calibri"/>
              </a:rPr>
              <a:t>Transaction Control Language</a:t>
            </a:r>
            <a:endParaRPr b="1" i="0" sz="1400" u="none" cap="none" strike="noStrike">
              <a:solidFill>
                <a:srgbClr val="FFFFFF"/>
              </a:solidFill>
              <a:latin typeface="Calibri"/>
              <a:ea typeface="Calibri"/>
              <a:cs typeface="Calibri"/>
              <a:sym typeface="Calibri"/>
            </a:endParaRPr>
          </a:p>
          <a:p>
            <a:pPr indent="0" lvl="0" marL="0" rtl="0" algn="ctr">
              <a:spcBef>
                <a:spcPts val="0"/>
              </a:spcBef>
              <a:spcAft>
                <a:spcPts val="0"/>
              </a:spcAft>
              <a:buClr>
                <a:schemeClr val="lt1"/>
              </a:buClr>
              <a:buSzPts val="1000"/>
              <a:buFont typeface="Calibri"/>
              <a:buNone/>
            </a:pPr>
            <a:r>
              <a:rPr b="1" lang="en-GB">
                <a:solidFill>
                  <a:schemeClr val="lt1"/>
                </a:solidFill>
                <a:latin typeface="Calibri"/>
                <a:ea typeface="Calibri"/>
                <a:cs typeface="Calibri"/>
                <a:sym typeface="Calibri"/>
              </a:rPr>
              <a:t>Statements</a:t>
            </a:r>
            <a:endParaRPr b="1">
              <a:solidFill>
                <a:srgbClr val="FFFFFF"/>
              </a:solidFill>
              <a:latin typeface="Calibri"/>
              <a:ea typeface="Calibri"/>
              <a:cs typeface="Calibri"/>
              <a:sym typeface="Calibri"/>
            </a:endParaRPr>
          </a:p>
        </p:txBody>
      </p:sp>
      <p:cxnSp>
        <p:nvCxnSpPr>
          <p:cNvPr id="212" name="Google Shape;212;p22"/>
          <p:cNvCxnSpPr/>
          <p:nvPr/>
        </p:nvCxnSpPr>
        <p:spPr>
          <a:xfrm>
            <a:off x="5006340" y="3566160"/>
            <a:ext cx="1316700" cy="0"/>
          </a:xfrm>
          <a:prstGeom prst="straightConnector1">
            <a:avLst/>
          </a:prstGeom>
          <a:noFill/>
          <a:ln cap="flat" cmpd="sng" w="12700">
            <a:solidFill>
              <a:srgbClr val="FFFFFF">
                <a:alpha val="45098"/>
              </a:srgbClr>
            </a:solidFill>
            <a:prstDash val="solid"/>
            <a:round/>
            <a:headEnd len="sm" w="sm" type="none"/>
            <a:tailEnd len="sm" w="sm" type="none"/>
          </a:ln>
        </p:spPr>
      </p:cxnSp>
      <p:sp>
        <p:nvSpPr>
          <p:cNvPr id="213" name="Google Shape;213;p22"/>
          <p:cNvSpPr/>
          <p:nvPr/>
        </p:nvSpPr>
        <p:spPr>
          <a:xfrm>
            <a:off x="4800600" y="3655314"/>
            <a:ext cx="1728225" cy="2056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0" i="1" lang="en-GB" sz="1300" u="none" cap="none" strike="noStrike">
                <a:solidFill>
                  <a:srgbClr val="FFFFFF"/>
                </a:solidFill>
                <a:latin typeface="Calibri"/>
                <a:ea typeface="Calibri"/>
                <a:cs typeface="Calibri"/>
                <a:sym typeface="Calibri"/>
              </a:rPr>
              <a:t>University analogy</a:t>
            </a:r>
            <a:endParaRPr b="0" i="0" sz="1300" u="none" cap="none" strike="noStrike">
              <a:solidFill>
                <a:schemeClr val="dk1"/>
              </a:solidFill>
              <a:latin typeface="Calibri"/>
              <a:ea typeface="Calibri"/>
              <a:cs typeface="Calibri"/>
              <a:sym typeface="Calibri"/>
            </a:endParaRPr>
          </a:p>
        </p:txBody>
      </p:sp>
      <p:sp>
        <p:nvSpPr>
          <p:cNvPr id="214" name="Google Shape;214;p22"/>
          <p:cNvSpPr/>
          <p:nvPr/>
        </p:nvSpPr>
        <p:spPr>
          <a:xfrm>
            <a:off x="4800600" y="3840480"/>
            <a:ext cx="1728225" cy="48015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300" u="none" cap="none" strike="noStrike">
                <a:solidFill>
                  <a:srgbClr val="FFFFFF"/>
                </a:solidFill>
                <a:latin typeface="Calibri"/>
                <a:ea typeface="Calibri"/>
                <a:cs typeface="Calibri"/>
                <a:sym typeface="Calibri"/>
              </a:rPr>
              <a:t>Undoing mistakes safely</a:t>
            </a:r>
            <a:endParaRPr b="0" i="0" sz="1300" u="none" cap="none" strike="noStrike">
              <a:solidFill>
                <a:schemeClr val="dk1"/>
              </a:solidFill>
              <a:latin typeface="Calibri"/>
              <a:ea typeface="Calibri"/>
              <a:cs typeface="Calibri"/>
              <a:sym typeface="Calibri"/>
            </a:endParaRPr>
          </a:p>
        </p:txBody>
      </p:sp>
      <p:sp>
        <p:nvSpPr>
          <p:cNvPr id="215" name="Google Shape;215;p22"/>
          <p:cNvSpPr/>
          <p:nvPr/>
        </p:nvSpPr>
        <p:spPr>
          <a:xfrm>
            <a:off x="6789420" y="1543050"/>
            <a:ext cx="2002500" cy="2846025"/>
          </a:xfrm>
          <a:prstGeom prst="roundRect">
            <a:avLst>
              <a:gd fmla="val 4795" name="adj"/>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216" name="Google Shape;216;p22"/>
          <p:cNvSpPr/>
          <p:nvPr/>
        </p:nvSpPr>
        <p:spPr>
          <a:xfrm>
            <a:off x="6857959" y="1905803"/>
            <a:ext cx="1796850" cy="3771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2300"/>
              <a:buFont typeface="Cambria"/>
              <a:buNone/>
            </a:pPr>
            <a:r>
              <a:rPr b="1" i="0" lang="en-GB" sz="1900" u="none" cap="none" strike="noStrike">
                <a:solidFill>
                  <a:srgbClr val="FFFFFF"/>
                </a:solidFill>
                <a:latin typeface="Cambria"/>
                <a:ea typeface="Cambria"/>
                <a:cs typeface="Cambria"/>
                <a:sym typeface="Cambria"/>
              </a:rPr>
              <a:t>DCL</a:t>
            </a:r>
            <a:endParaRPr b="0" i="0" sz="1900" u="none" cap="none" strike="noStrike">
              <a:solidFill>
                <a:schemeClr val="dk1"/>
              </a:solidFill>
              <a:latin typeface="Calibri"/>
              <a:ea typeface="Calibri"/>
              <a:cs typeface="Calibri"/>
              <a:sym typeface="Calibri"/>
            </a:endParaRPr>
          </a:p>
        </p:txBody>
      </p:sp>
      <p:sp>
        <p:nvSpPr>
          <p:cNvPr id="217" name="Google Shape;217;p22"/>
          <p:cNvSpPr/>
          <p:nvPr/>
        </p:nvSpPr>
        <p:spPr>
          <a:xfrm>
            <a:off x="6907155" y="2554526"/>
            <a:ext cx="1728225" cy="48015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400" u="none" cap="none" strike="noStrike">
                <a:solidFill>
                  <a:srgbClr val="FFFFFF"/>
                </a:solidFill>
                <a:latin typeface="Calibri"/>
                <a:ea typeface="Calibri"/>
                <a:cs typeface="Calibri"/>
                <a:sym typeface="Calibri"/>
              </a:rPr>
              <a:t>Data Control Language</a:t>
            </a:r>
            <a:endParaRPr b="1" i="0" sz="1400" u="none" cap="none" strike="noStrike">
              <a:solidFill>
                <a:srgbClr val="FFFFFF"/>
              </a:solidFill>
              <a:latin typeface="Calibri"/>
              <a:ea typeface="Calibri"/>
              <a:cs typeface="Calibri"/>
              <a:sym typeface="Calibri"/>
            </a:endParaRPr>
          </a:p>
          <a:p>
            <a:pPr indent="0" lvl="0" marL="0" rtl="0" algn="ctr">
              <a:spcBef>
                <a:spcPts val="0"/>
              </a:spcBef>
              <a:spcAft>
                <a:spcPts val="0"/>
              </a:spcAft>
              <a:buClr>
                <a:schemeClr val="lt1"/>
              </a:buClr>
              <a:buSzPts val="1000"/>
              <a:buFont typeface="Calibri"/>
              <a:buNone/>
            </a:pPr>
            <a:r>
              <a:rPr b="1" lang="en-GB">
                <a:solidFill>
                  <a:schemeClr val="lt1"/>
                </a:solidFill>
                <a:latin typeface="Calibri"/>
                <a:ea typeface="Calibri"/>
                <a:cs typeface="Calibri"/>
                <a:sym typeface="Calibri"/>
              </a:rPr>
              <a:t>Statements</a:t>
            </a:r>
            <a:endParaRPr b="1">
              <a:solidFill>
                <a:srgbClr val="FFFFFF"/>
              </a:solidFill>
              <a:latin typeface="Calibri"/>
              <a:ea typeface="Calibri"/>
              <a:cs typeface="Calibri"/>
              <a:sym typeface="Calibri"/>
            </a:endParaRPr>
          </a:p>
        </p:txBody>
      </p:sp>
      <p:cxnSp>
        <p:nvCxnSpPr>
          <p:cNvPr id="218" name="Google Shape;218;p22"/>
          <p:cNvCxnSpPr/>
          <p:nvPr/>
        </p:nvCxnSpPr>
        <p:spPr>
          <a:xfrm>
            <a:off x="7132320" y="3566160"/>
            <a:ext cx="1316700" cy="0"/>
          </a:xfrm>
          <a:prstGeom prst="straightConnector1">
            <a:avLst/>
          </a:prstGeom>
          <a:noFill/>
          <a:ln cap="flat" cmpd="sng" w="12700">
            <a:solidFill>
              <a:srgbClr val="FFFFFF">
                <a:alpha val="45098"/>
              </a:srgbClr>
            </a:solidFill>
            <a:prstDash val="solid"/>
            <a:round/>
            <a:headEnd len="sm" w="sm" type="none"/>
            <a:tailEnd len="sm" w="sm" type="none"/>
          </a:ln>
        </p:spPr>
      </p:cxnSp>
      <p:sp>
        <p:nvSpPr>
          <p:cNvPr id="219" name="Google Shape;219;p22"/>
          <p:cNvSpPr/>
          <p:nvPr/>
        </p:nvSpPr>
        <p:spPr>
          <a:xfrm>
            <a:off x="6926580" y="3655314"/>
            <a:ext cx="1728225" cy="2056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0" i="1" lang="en-GB" sz="1300" u="none" cap="none" strike="noStrike">
                <a:solidFill>
                  <a:srgbClr val="FFFFFF"/>
                </a:solidFill>
                <a:latin typeface="Calibri"/>
                <a:ea typeface="Calibri"/>
                <a:cs typeface="Calibri"/>
                <a:sym typeface="Calibri"/>
              </a:rPr>
              <a:t>University analogy</a:t>
            </a:r>
            <a:endParaRPr b="0" i="0" sz="1300" u="none" cap="none" strike="noStrike">
              <a:solidFill>
                <a:schemeClr val="dk1"/>
              </a:solidFill>
              <a:latin typeface="Calibri"/>
              <a:ea typeface="Calibri"/>
              <a:cs typeface="Calibri"/>
              <a:sym typeface="Calibri"/>
            </a:endParaRPr>
          </a:p>
        </p:txBody>
      </p:sp>
      <p:sp>
        <p:nvSpPr>
          <p:cNvPr id="220" name="Google Shape;220;p22"/>
          <p:cNvSpPr/>
          <p:nvPr/>
        </p:nvSpPr>
        <p:spPr>
          <a:xfrm>
            <a:off x="6926580" y="3840480"/>
            <a:ext cx="1728225" cy="48015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300" u="none" cap="none" strike="noStrike">
                <a:solidFill>
                  <a:srgbClr val="FFFFFF"/>
                </a:solidFill>
                <a:latin typeface="Calibri"/>
                <a:ea typeface="Calibri"/>
                <a:cs typeface="Calibri"/>
                <a:sym typeface="Calibri"/>
              </a:rPr>
              <a:t>Deciding who gets access</a:t>
            </a:r>
            <a:endParaRPr b="0" i="0" sz="1300" u="none" cap="none" strike="noStrike">
              <a:solidFill>
                <a:schemeClr val="dk1"/>
              </a:solidFill>
              <a:latin typeface="Calibri"/>
              <a:ea typeface="Calibri"/>
              <a:cs typeface="Calibri"/>
              <a:sym typeface="Calibri"/>
            </a:endParaRPr>
          </a:p>
        </p:txBody>
      </p:sp>
      <p:pic>
        <p:nvPicPr>
          <p:cNvPr descr="/home/claude/dbms_lecture2/logo/newton_logo_transparent.png" id="221" name="Google Shape;221;p22"/>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222" name="Google Shape;222;p22"/>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sp>
        <p:nvSpPr>
          <p:cNvPr id="223" name="Google Shape;223;p22"/>
          <p:cNvSpPr/>
          <p:nvPr/>
        </p:nvSpPr>
        <p:spPr>
          <a:xfrm>
            <a:off x="607125" y="3655321"/>
            <a:ext cx="1669725" cy="2056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0" i="1" lang="en-GB" sz="1300" u="none" cap="none" strike="noStrike">
                <a:solidFill>
                  <a:srgbClr val="FFFFFF"/>
                </a:solidFill>
                <a:latin typeface="Calibri"/>
                <a:ea typeface="Calibri"/>
                <a:cs typeface="Calibri"/>
                <a:sym typeface="Calibri"/>
              </a:rPr>
              <a:t>University analogy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p:nvPr/>
        </p:nvSpPr>
        <p:spPr>
          <a:xfrm>
            <a:off x="411480" y="514350"/>
            <a:ext cx="8092350" cy="5829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DDL: Data Definition Language</a:t>
            </a:r>
            <a:endParaRPr b="0" i="0" sz="2000" u="none" cap="none" strike="noStrike">
              <a:solidFill>
                <a:schemeClr val="dk1"/>
              </a:solidFill>
              <a:latin typeface="Calibri"/>
              <a:ea typeface="Calibri"/>
              <a:cs typeface="Calibri"/>
              <a:sym typeface="Calibri"/>
            </a:endParaRPr>
          </a:p>
        </p:txBody>
      </p:sp>
      <p:sp>
        <p:nvSpPr>
          <p:cNvPr id="230" name="Google Shape;230;p23"/>
          <p:cNvSpPr/>
          <p:nvPr/>
        </p:nvSpPr>
        <p:spPr>
          <a:xfrm>
            <a:off x="411488" y="1268738"/>
            <a:ext cx="7936875" cy="3154725"/>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3"/>
          <p:cNvSpPr/>
          <p:nvPr/>
        </p:nvSpPr>
        <p:spPr>
          <a:xfrm>
            <a:off x="442781" y="1457363"/>
            <a:ext cx="6944400" cy="6171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400"/>
              <a:buFont typeface="Cambria"/>
              <a:buNone/>
            </a:pPr>
            <a:r>
              <a:rPr b="1" i="0" lang="en-GB" sz="1800" u="none" cap="none" strike="noStrike">
                <a:solidFill>
                  <a:srgbClr val="16334D"/>
                </a:solidFill>
                <a:latin typeface="Cambria"/>
                <a:ea typeface="Cambria"/>
                <a:cs typeface="Cambria"/>
                <a:sym typeface="Cambria"/>
              </a:rPr>
              <a:t>DDL commands define and manage database structures — before any data can live inside a table, the table itself must exist.</a:t>
            </a:r>
            <a:endParaRPr b="0" i="0" sz="1800" u="none" cap="none" strike="noStrike">
              <a:solidFill>
                <a:schemeClr val="dk1"/>
              </a:solidFill>
              <a:latin typeface="Calibri"/>
              <a:ea typeface="Calibri"/>
              <a:cs typeface="Calibri"/>
              <a:sym typeface="Calibri"/>
            </a:endParaRPr>
          </a:p>
        </p:txBody>
      </p:sp>
      <p:sp>
        <p:nvSpPr>
          <p:cNvPr id="232" name="Google Shape;232;p23"/>
          <p:cNvSpPr/>
          <p:nvPr/>
        </p:nvSpPr>
        <p:spPr>
          <a:xfrm>
            <a:off x="479906" y="2160263"/>
            <a:ext cx="4286475"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98DBD"/>
              </a:buClr>
              <a:buSzPts val="1100"/>
              <a:buFont typeface="Calibri"/>
              <a:buNone/>
            </a:pPr>
            <a:r>
              <a:rPr b="1" i="0" lang="en-GB" sz="1700" u="none" cap="none" strike="noStrike">
                <a:solidFill>
                  <a:srgbClr val="598DBD"/>
                </a:solidFill>
                <a:latin typeface="Calibri"/>
                <a:ea typeface="Calibri"/>
                <a:cs typeface="Calibri"/>
                <a:sym typeface="Calibri"/>
              </a:rPr>
              <a:t>These commands primarily affect:</a:t>
            </a:r>
            <a:endParaRPr b="0" i="0" sz="1700" u="none" cap="none" strike="noStrike">
              <a:solidFill>
                <a:schemeClr val="dk1"/>
              </a:solidFill>
              <a:latin typeface="Calibri"/>
              <a:ea typeface="Calibri"/>
              <a:cs typeface="Calibri"/>
              <a:sym typeface="Calibri"/>
            </a:endParaRPr>
          </a:p>
        </p:txBody>
      </p:sp>
      <p:sp>
        <p:nvSpPr>
          <p:cNvPr id="233" name="Google Shape;233;p23"/>
          <p:cNvSpPr/>
          <p:nvPr/>
        </p:nvSpPr>
        <p:spPr>
          <a:xfrm>
            <a:off x="606788" y="2604506"/>
            <a:ext cx="5793525" cy="961650"/>
          </a:xfrm>
          <a:prstGeom prst="rect">
            <a:avLst/>
          </a:prstGeom>
          <a:noFill/>
          <a:ln>
            <a:noFill/>
          </a:ln>
        </p:spPr>
        <p:txBody>
          <a:bodyPr anchorCtr="0" anchor="ctr" bIns="34275" lIns="68575" spcFirstLastPara="1" rIns="68575" wrap="square" tIns="34275">
            <a:noAutofit/>
          </a:bodyPr>
          <a:lstStyle/>
          <a:p>
            <a:pPr indent="-254000" lvl="0" marL="254000" marR="0" rtl="0" algn="l">
              <a:lnSpc>
                <a:spcPct val="100000"/>
              </a:lnSpc>
              <a:spcBef>
                <a:spcPts val="0"/>
              </a:spcBef>
              <a:spcAft>
                <a:spcPts val="0"/>
              </a:spcAft>
              <a:buClr>
                <a:srgbClr val="4597E1"/>
              </a:buClr>
              <a:buSzPts val="1800"/>
              <a:buFont typeface="Calibri"/>
              <a:buChar char="■"/>
            </a:pPr>
            <a:r>
              <a:rPr b="0" i="0" lang="en-GB" sz="1800" u="none" cap="none" strike="noStrike">
                <a:solidFill>
                  <a:srgbClr val="4597E1"/>
                </a:solidFill>
                <a:latin typeface="Calibri"/>
                <a:ea typeface="Calibri"/>
                <a:cs typeface="Calibri"/>
                <a:sym typeface="Calibri"/>
              </a:rPr>
              <a:t>Databases</a:t>
            </a:r>
            <a:endParaRPr b="0" i="0" sz="1800" u="none" cap="none" strike="noStrike">
              <a:solidFill>
                <a:schemeClr val="dk1"/>
              </a:solidFill>
              <a:latin typeface="Calibri"/>
              <a:ea typeface="Calibri"/>
              <a:cs typeface="Calibri"/>
              <a:sym typeface="Calibri"/>
            </a:endParaRPr>
          </a:p>
          <a:p>
            <a:pPr indent="-254000" lvl="0" marL="254000" marR="0" rtl="0" algn="l">
              <a:lnSpc>
                <a:spcPct val="100000"/>
              </a:lnSpc>
              <a:spcBef>
                <a:spcPts val="800"/>
              </a:spcBef>
              <a:spcAft>
                <a:spcPts val="0"/>
              </a:spcAft>
              <a:buClr>
                <a:srgbClr val="4597E1"/>
              </a:buClr>
              <a:buSzPts val="1800"/>
              <a:buFont typeface="Calibri"/>
              <a:buChar char="■"/>
            </a:pPr>
            <a:r>
              <a:rPr b="0" i="0" lang="en-GB" sz="1800" u="none" cap="none" strike="noStrike">
                <a:solidFill>
                  <a:srgbClr val="4597E1"/>
                </a:solidFill>
                <a:latin typeface="Calibri"/>
                <a:ea typeface="Calibri"/>
                <a:cs typeface="Calibri"/>
                <a:sym typeface="Calibri"/>
              </a:rPr>
              <a:t>Tables</a:t>
            </a:r>
            <a:endParaRPr b="0" i="0" sz="1800" u="none" cap="none" strike="noStrike">
              <a:solidFill>
                <a:schemeClr val="dk1"/>
              </a:solidFill>
              <a:latin typeface="Calibri"/>
              <a:ea typeface="Calibri"/>
              <a:cs typeface="Calibri"/>
              <a:sym typeface="Calibri"/>
            </a:endParaRPr>
          </a:p>
          <a:p>
            <a:pPr indent="-254000" lvl="0" marL="254000" marR="0" rtl="0" algn="l">
              <a:lnSpc>
                <a:spcPct val="100000"/>
              </a:lnSpc>
              <a:spcBef>
                <a:spcPts val="800"/>
              </a:spcBef>
              <a:spcAft>
                <a:spcPts val="0"/>
              </a:spcAft>
              <a:buClr>
                <a:srgbClr val="4597E1"/>
              </a:buClr>
              <a:buSzPts val="1800"/>
              <a:buFont typeface="Calibri"/>
              <a:buChar char="■"/>
            </a:pPr>
            <a:r>
              <a:rPr b="0" i="0" lang="en-GB" sz="1800" u="none" cap="none" strike="noStrike">
                <a:solidFill>
                  <a:srgbClr val="4597E1"/>
                </a:solidFill>
                <a:latin typeface="Calibri"/>
                <a:ea typeface="Calibri"/>
                <a:cs typeface="Calibri"/>
                <a:sym typeface="Calibri"/>
              </a:rPr>
              <a:t>Schema definitions</a:t>
            </a:r>
            <a:endParaRPr b="0" i="0" sz="1800" u="none" cap="none" strike="noStrike">
              <a:solidFill>
                <a:schemeClr val="dk1"/>
              </a:solidFill>
              <a:latin typeface="Calibri"/>
              <a:ea typeface="Calibri"/>
              <a:cs typeface="Calibri"/>
              <a:sym typeface="Calibri"/>
            </a:endParaRPr>
          </a:p>
        </p:txBody>
      </p:sp>
      <p:sp>
        <p:nvSpPr>
          <p:cNvPr id="234" name="Google Shape;234;p23"/>
          <p:cNvSpPr/>
          <p:nvPr/>
        </p:nvSpPr>
        <p:spPr>
          <a:xfrm>
            <a:off x="651505" y="3601950"/>
            <a:ext cx="6137100" cy="6171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100"/>
              <a:buFont typeface="Calibri"/>
              <a:buNone/>
            </a:pPr>
            <a:r>
              <a:rPr b="0" i="1" lang="en-GB" sz="1700" u="none" cap="none" strike="noStrike">
                <a:solidFill>
                  <a:srgbClr val="4597E1"/>
                </a:solidFill>
                <a:latin typeface="Calibri"/>
                <a:ea typeface="Calibri"/>
                <a:cs typeface="Calibri"/>
                <a:sym typeface="Calibri"/>
              </a:rPr>
              <a:t>Four commands to know: CREATE · ALTER · TRUNCATE · DROP</a:t>
            </a:r>
            <a:endParaRPr b="0" i="0" sz="1700" u="none" cap="none" strike="noStrike">
              <a:solidFill>
                <a:schemeClr val="dk1"/>
              </a:solidFill>
              <a:latin typeface="Calibri"/>
              <a:ea typeface="Calibri"/>
              <a:cs typeface="Calibri"/>
              <a:sym typeface="Calibri"/>
            </a:endParaRPr>
          </a:p>
        </p:txBody>
      </p:sp>
      <p:pic>
        <p:nvPicPr>
          <p:cNvPr descr="/home/claude/dbms_lecture2/logo/newton_logo_transparent.png" id="235" name="Google Shape;235;p23"/>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236" name="Google Shape;236;p23"/>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000"/>
              <a:buFont typeface="Calibri"/>
              <a:buNone/>
            </a:pPr>
            <a:r>
              <a:rPr b="1" i="0" lang="en-GB" sz="1100" u="none" cap="none" strike="noStrike">
                <a:solidFill>
                  <a:srgbClr val="4597E1"/>
                </a:solidFill>
                <a:latin typeface="Calibri"/>
                <a:ea typeface="Calibri"/>
                <a:cs typeface="Calibri"/>
                <a:sym typeface="Calibri"/>
              </a:rPr>
              <a:t>DDL COMMAND 1</a:t>
            </a:r>
            <a:endParaRPr b="0" i="0" sz="1100" u="none" cap="none" strike="noStrike">
              <a:solidFill>
                <a:schemeClr val="dk1"/>
              </a:solidFill>
              <a:latin typeface="Calibri"/>
              <a:ea typeface="Calibri"/>
              <a:cs typeface="Calibri"/>
              <a:sym typeface="Calibri"/>
            </a:endParaRPr>
          </a:p>
        </p:txBody>
      </p:sp>
      <p:sp>
        <p:nvSpPr>
          <p:cNvPr id="243" name="Google Shape;243;p24"/>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CREATE — building the classroom</a:t>
            </a:r>
            <a:endParaRPr b="0" i="0" sz="2000" u="none" cap="none" strike="noStrike">
              <a:solidFill>
                <a:schemeClr val="dk1"/>
              </a:solidFill>
              <a:latin typeface="Calibri"/>
              <a:ea typeface="Calibri"/>
              <a:cs typeface="Calibri"/>
              <a:sym typeface="Calibri"/>
            </a:endParaRPr>
          </a:p>
        </p:txBody>
      </p:sp>
      <p:sp>
        <p:nvSpPr>
          <p:cNvPr id="244" name="Google Shape;244;p24"/>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245" name="Google Shape;245;p24"/>
          <p:cNvSpPr/>
          <p:nvPr/>
        </p:nvSpPr>
        <p:spPr>
          <a:xfrm>
            <a:off x="411480" y="1097280"/>
            <a:ext cx="8298180" cy="72009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246" name="Google Shape;246;p24"/>
          <p:cNvSpPr/>
          <p:nvPr/>
        </p:nvSpPr>
        <p:spPr>
          <a:xfrm>
            <a:off x="498370" y="1150373"/>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300" u="none" cap="none" strike="noStrike">
                <a:solidFill>
                  <a:srgbClr val="368EDE"/>
                </a:solidFill>
                <a:latin typeface="Calibri"/>
                <a:ea typeface="Calibri"/>
                <a:cs typeface="Calibri"/>
                <a:sym typeface="Calibri"/>
              </a:rPr>
              <a:t>THE PRINCIPAL WALKS IN</a:t>
            </a:r>
            <a:endParaRPr b="0" i="0" sz="1300" u="none" cap="none" strike="noStrike">
              <a:solidFill>
                <a:schemeClr val="dk1"/>
              </a:solidFill>
              <a:latin typeface="Calibri"/>
              <a:ea typeface="Calibri"/>
              <a:cs typeface="Calibri"/>
              <a:sym typeface="Calibri"/>
            </a:endParaRPr>
          </a:p>
        </p:txBody>
      </p:sp>
      <p:sp>
        <p:nvSpPr>
          <p:cNvPr id="247" name="Google Shape;247;p24"/>
          <p:cNvSpPr/>
          <p:nvPr/>
        </p:nvSpPr>
        <p:spPr>
          <a:xfrm>
            <a:off x="498370" y="1356184"/>
            <a:ext cx="73380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500" u="none" cap="none" strike="noStrike">
                <a:solidFill>
                  <a:srgbClr val="16334D"/>
                </a:solidFill>
                <a:latin typeface="Cambria"/>
                <a:ea typeface="Cambria"/>
                <a:cs typeface="Cambria"/>
                <a:sym typeface="Cambria"/>
              </a:rPr>
              <a:t>"We need somewhere to store every student’s ID and name before classes begin."</a:t>
            </a:r>
            <a:endParaRPr b="0" i="0" sz="1500" u="none" cap="none" strike="noStrike">
              <a:solidFill>
                <a:schemeClr val="dk1"/>
              </a:solidFill>
              <a:latin typeface="Calibri"/>
              <a:ea typeface="Calibri"/>
              <a:cs typeface="Calibri"/>
              <a:sym typeface="Calibri"/>
            </a:endParaRPr>
          </a:p>
        </p:txBody>
      </p:sp>
      <p:sp>
        <p:nvSpPr>
          <p:cNvPr id="248" name="Google Shape;248;p24"/>
          <p:cNvSpPr/>
          <p:nvPr/>
        </p:nvSpPr>
        <p:spPr>
          <a:xfrm>
            <a:off x="411488" y="2443783"/>
            <a:ext cx="3154725" cy="1665675"/>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4"/>
          <p:cNvSpPr/>
          <p:nvPr/>
        </p:nvSpPr>
        <p:spPr>
          <a:xfrm>
            <a:off x="548640" y="2132838"/>
            <a:ext cx="96012" cy="96012"/>
          </a:xfrm>
          <a:prstGeom prst="ellipse">
            <a:avLst/>
          </a:prstGeom>
          <a:solidFill>
            <a:srgbClr val="9FC9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4"/>
          <p:cNvSpPr/>
          <p:nvPr/>
        </p:nvSpPr>
        <p:spPr>
          <a:xfrm>
            <a:off x="740664" y="2132838"/>
            <a:ext cx="96012" cy="96012"/>
          </a:xfrm>
          <a:prstGeom prst="ellipse">
            <a:avLst/>
          </a:prstGeom>
          <a:solidFill>
            <a:srgbClr val="89BD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4"/>
          <p:cNvSpPr/>
          <p:nvPr/>
        </p:nvSpPr>
        <p:spPr>
          <a:xfrm>
            <a:off x="932688" y="2132838"/>
            <a:ext cx="96012" cy="96012"/>
          </a:xfrm>
          <a:prstGeom prst="ellipse">
            <a:avLst/>
          </a:prstGeom>
          <a:solidFill>
            <a:srgbClr val="549F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4"/>
          <p:cNvSpPr/>
          <p:nvPr/>
        </p:nvSpPr>
        <p:spPr>
          <a:xfrm>
            <a:off x="557850" y="2691751"/>
            <a:ext cx="2811825" cy="14287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400" u="none" cap="none" strike="noStrike">
                <a:solidFill>
                  <a:srgbClr val="81B8E9"/>
                </a:solidFill>
                <a:latin typeface="Consolas"/>
                <a:ea typeface="Consolas"/>
                <a:cs typeface="Consolas"/>
                <a:sym typeface="Consolas"/>
              </a:rPr>
              <a:t>CREATE TABLE students (</a:t>
            </a:r>
            <a:endParaRPr b="0" i="0" sz="14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BEEF1"/>
              </a:buClr>
              <a:buSzPts val="1100"/>
              <a:buFont typeface="Consolas"/>
              <a:buNone/>
            </a:pPr>
            <a:r>
              <a:rPr b="0" i="0" lang="en-GB" sz="1400" u="none" cap="none" strike="noStrike">
                <a:solidFill>
                  <a:srgbClr val="EBEEF1"/>
                </a:solidFill>
                <a:latin typeface="Consolas"/>
                <a:ea typeface="Consolas"/>
                <a:cs typeface="Consolas"/>
                <a:sym typeface="Consolas"/>
              </a:rPr>
              <a:t>  id INT PRIMARY KEY,</a:t>
            </a:r>
            <a:endParaRPr b="0" i="0" sz="14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BEEF1"/>
              </a:buClr>
              <a:buSzPts val="1100"/>
              <a:buFont typeface="Consolas"/>
              <a:buNone/>
            </a:pPr>
            <a:r>
              <a:rPr b="0" i="0" lang="en-GB" sz="1400" u="none" cap="none" strike="noStrike">
                <a:solidFill>
                  <a:srgbClr val="EBEEF1"/>
                </a:solidFill>
                <a:latin typeface="Consolas"/>
                <a:ea typeface="Consolas"/>
                <a:cs typeface="Consolas"/>
                <a:sym typeface="Consolas"/>
              </a:rPr>
              <a:t>  name VARCHAR(50)</a:t>
            </a:r>
            <a:endParaRPr b="0" i="0" sz="14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81B8E9"/>
              </a:buClr>
              <a:buSzPts val="1100"/>
              <a:buFont typeface="Consolas"/>
              <a:buNone/>
            </a:pPr>
            <a:r>
              <a:rPr b="0" i="0" lang="en-GB" sz="1400" u="none" cap="none" strike="noStrike">
                <a:solidFill>
                  <a:srgbClr val="81B8E9"/>
                </a:solidFill>
                <a:latin typeface="Consolas"/>
                <a:ea typeface="Consolas"/>
                <a:cs typeface="Consolas"/>
                <a:sym typeface="Consolas"/>
              </a:rPr>
              <a:t>);</a:t>
            </a:r>
            <a:endParaRPr b="0" i="0" sz="1400" u="none" cap="none" strike="noStrike">
              <a:solidFill>
                <a:schemeClr val="dk1"/>
              </a:solidFill>
              <a:latin typeface="Calibri"/>
              <a:ea typeface="Calibri"/>
              <a:cs typeface="Calibri"/>
              <a:sym typeface="Calibri"/>
            </a:endParaRPr>
          </a:p>
        </p:txBody>
      </p:sp>
      <p:sp>
        <p:nvSpPr>
          <p:cNvPr id="253" name="Google Shape;253;p24"/>
          <p:cNvSpPr/>
          <p:nvPr/>
        </p:nvSpPr>
        <p:spPr>
          <a:xfrm>
            <a:off x="3737606" y="1940024"/>
            <a:ext cx="4972050" cy="2932200"/>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4"/>
          <p:cNvSpPr/>
          <p:nvPr/>
        </p:nvSpPr>
        <p:spPr>
          <a:xfrm>
            <a:off x="3986213"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400" u="none" cap="none" strike="noStrike">
                <a:solidFill>
                  <a:srgbClr val="598DBD"/>
                </a:solidFill>
                <a:latin typeface="Calibri"/>
                <a:ea typeface="Calibri"/>
                <a:cs typeface="Calibri"/>
                <a:sym typeface="Calibri"/>
              </a:rPr>
              <a:t>BEFORE</a:t>
            </a:r>
            <a:endParaRPr b="0" i="0" sz="1400" u="none" cap="none" strike="noStrike">
              <a:solidFill>
                <a:schemeClr val="dk1"/>
              </a:solidFill>
              <a:latin typeface="Calibri"/>
              <a:ea typeface="Calibri"/>
              <a:cs typeface="Calibri"/>
              <a:sym typeface="Calibri"/>
            </a:endParaRPr>
          </a:p>
        </p:txBody>
      </p:sp>
      <p:sp>
        <p:nvSpPr>
          <p:cNvPr id="255" name="Google Shape;255;p24"/>
          <p:cNvSpPr/>
          <p:nvPr/>
        </p:nvSpPr>
        <p:spPr>
          <a:xfrm>
            <a:off x="6531901"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400" u="none" cap="none" strike="noStrike">
                <a:solidFill>
                  <a:srgbClr val="598DBD"/>
                </a:solidFill>
                <a:latin typeface="Calibri"/>
                <a:ea typeface="Calibri"/>
                <a:cs typeface="Calibri"/>
                <a:sym typeface="Calibri"/>
              </a:rPr>
              <a:t>AFTER</a:t>
            </a:r>
            <a:endParaRPr b="0" i="0" sz="1400" u="none" cap="none" strike="noStrike">
              <a:solidFill>
                <a:schemeClr val="dk1"/>
              </a:solidFill>
              <a:latin typeface="Calibri"/>
              <a:ea typeface="Calibri"/>
              <a:cs typeface="Calibri"/>
              <a:sym typeface="Calibri"/>
            </a:endParaRPr>
          </a:p>
        </p:txBody>
      </p:sp>
      <p:sp>
        <p:nvSpPr>
          <p:cNvPr id="256" name="Google Shape;256;p24"/>
          <p:cNvSpPr/>
          <p:nvPr/>
        </p:nvSpPr>
        <p:spPr>
          <a:xfrm>
            <a:off x="5975032" y="2791206"/>
            <a:ext cx="497204" cy="205740"/>
          </a:xfrm>
          <a:prstGeom prst="rightArrow">
            <a:avLst>
              <a:gd fmla="val 50000" name="adj1"/>
              <a:gd fmla="val 50000" name="adj2"/>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4"/>
          <p:cNvSpPr/>
          <p:nvPr/>
        </p:nvSpPr>
        <p:spPr>
          <a:xfrm>
            <a:off x="3986213" y="2544318"/>
            <a:ext cx="1929155" cy="672084"/>
          </a:xfrm>
          <a:prstGeom prst="roundRect">
            <a:avLst>
              <a:gd fmla="val 6122" name="adj"/>
            </a:avLst>
          </a:prstGeom>
          <a:solidFill>
            <a:srgbClr val="FFFFFF"/>
          </a:solidFill>
          <a:ln cap="flat" cmpd="sng" w="15875">
            <a:solidFill>
              <a:srgbClr val="CAD1D8"/>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4"/>
          <p:cNvSpPr/>
          <p:nvPr/>
        </p:nvSpPr>
        <p:spPr>
          <a:xfrm>
            <a:off x="3986213" y="2544318"/>
            <a:ext cx="1929155" cy="6720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A9C4DC"/>
              </a:buClr>
              <a:buSzPts val="800"/>
              <a:buFont typeface="Calibri"/>
              <a:buNone/>
            </a:pPr>
            <a:r>
              <a:rPr b="0" i="1" lang="en-GB" sz="1400" u="none" cap="none" strike="noStrike">
                <a:solidFill>
                  <a:srgbClr val="A9C4DC"/>
                </a:solidFill>
                <a:latin typeface="Calibri"/>
                <a:ea typeface="Calibri"/>
                <a:cs typeface="Calibri"/>
                <a:sym typeface="Calibri"/>
              </a:rPr>
              <a:t>No table yet</a:t>
            </a:r>
            <a:endParaRPr b="0" i="0" sz="1400" u="none" cap="none" strike="noStrike">
              <a:solidFill>
                <a:schemeClr val="dk1"/>
              </a:solidFill>
              <a:latin typeface="Calibri"/>
              <a:ea typeface="Calibri"/>
              <a:cs typeface="Calibri"/>
              <a:sym typeface="Calibri"/>
            </a:endParaRPr>
          </a:p>
        </p:txBody>
      </p:sp>
      <p:sp>
        <p:nvSpPr>
          <p:cNvPr id="259" name="Google Shape;259;p24"/>
          <p:cNvSpPr/>
          <p:nvPr/>
        </p:nvSpPr>
        <p:spPr>
          <a:xfrm>
            <a:off x="6531901" y="2544318"/>
            <a:ext cx="1929155" cy="233172"/>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4"/>
          <p:cNvSpPr/>
          <p:nvPr/>
        </p:nvSpPr>
        <p:spPr>
          <a:xfrm>
            <a:off x="6531901" y="2544318"/>
            <a:ext cx="964577"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onsolas"/>
              <a:buNone/>
            </a:pPr>
            <a:r>
              <a:rPr b="1" i="0" lang="en-GB" sz="1400" u="none" cap="none" strike="noStrike">
                <a:solidFill>
                  <a:srgbClr val="FFFFFF"/>
                </a:solidFill>
                <a:latin typeface="Consolas"/>
                <a:ea typeface="Consolas"/>
                <a:cs typeface="Consolas"/>
                <a:sym typeface="Consolas"/>
              </a:rPr>
              <a:t>id</a:t>
            </a:r>
            <a:endParaRPr b="0" i="0" sz="1400" u="none" cap="none" strike="noStrike">
              <a:solidFill>
                <a:schemeClr val="dk1"/>
              </a:solidFill>
              <a:latin typeface="Calibri"/>
              <a:ea typeface="Calibri"/>
              <a:cs typeface="Calibri"/>
              <a:sym typeface="Calibri"/>
            </a:endParaRPr>
          </a:p>
        </p:txBody>
      </p:sp>
      <p:sp>
        <p:nvSpPr>
          <p:cNvPr id="261" name="Google Shape;261;p24"/>
          <p:cNvSpPr/>
          <p:nvPr/>
        </p:nvSpPr>
        <p:spPr>
          <a:xfrm>
            <a:off x="7496479" y="2544318"/>
            <a:ext cx="964577"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onsolas"/>
              <a:buNone/>
            </a:pPr>
            <a:r>
              <a:rPr b="1" i="0" lang="en-GB" sz="1400" u="none" cap="none" strike="noStrike">
                <a:solidFill>
                  <a:srgbClr val="FFFFFF"/>
                </a:solidFill>
                <a:latin typeface="Consolas"/>
                <a:ea typeface="Consolas"/>
                <a:cs typeface="Consolas"/>
                <a:sym typeface="Consolas"/>
              </a:rPr>
              <a:t>name</a:t>
            </a:r>
            <a:endParaRPr b="0" i="0" sz="1400" u="none" cap="none" strike="noStrike">
              <a:solidFill>
                <a:schemeClr val="dk1"/>
              </a:solidFill>
              <a:latin typeface="Calibri"/>
              <a:ea typeface="Calibri"/>
              <a:cs typeface="Calibri"/>
              <a:sym typeface="Calibri"/>
            </a:endParaRPr>
          </a:p>
        </p:txBody>
      </p:sp>
      <p:sp>
        <p:nvSpPr>
          <p:cNvPr id="262" name="Google Shape;262;p24"/>
          <p:cNvSpPr/>
          <p:nvPr/>
        </p:nvSpPr>
        <p:spPr>
          <a:xfrm>
            <a:off x="6531901" y="2544318"/>
            <a:ext cx="1929155" cy="233172"/>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4"/>
          <p:cNvSpPr/>
          <p:nvPr/>
        </p:nvSpPr>
        <p:spPr>
          <a:xfrm>
            <a:off x="3986213" y="3621024"/>
            <a:ext cx="4474844" cy="233172"/>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600" u="none" cap="none" strike="noStrike">
                <a:solidFill>
                  <a:srgbClr val="16334D"/>
                </a:solidFill>
                <a:latin typeface="Cambria"/>
                <a:ea typeface="Cambria"/>
                <a:cs typeface="Cambria"/>
                <a:sym typeface="Cambria"/>
              </a:rPr>
              <a:t>Schema design becomes executable</a:t>
            </a:r>
            <a:endParaRPr b="0" i="0" sz="1600" u="none" cap="none" strike="noStrike">
              <a:solidFill>
                <a:schemeClr val="dk1"/>
              </a:solidFill>
              <a:latin typeface="Calibri"/>
              <a:ea typeface="Calibri"/>
              <a:cs typeface="Calibri"/>
              <a:sym typeface="Calibri"/>
            </a:endParaRPr>
          </a:p>
        </p:txBody>
      </p:sp>
      <p:sp>
        <p:nvSpPr>
          <p:cNvPr id="264" name="Google Shape;264;p24"/>
          <p:cNvSpPr/>
          <p:nvPr/>
        </p:nvSpPr>
        <p:spPr>
          <a:xfrm>
            <a:off x="3993667" y="3895344"/>
            <a:ext cx="4474800"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500" u="none" cap="none" strike="noStrike">
                <a:solidFill>
                  <a:srgbClr val="16334D"/>
                </a:solidFill>
                <a:latin typeface="Calibri"/>
                <a:ea typeface="Calibri"/>
                <a:cs typeface="Calibri"/>
                <a:sym typeface="Calibri"/>
              </a:rPr>
              <a:t>CREATE builds a brand-new database or table from a schema definition — the direct continuation of the table design from the previous lecture, now actually running.</a:t>
            </a:r>
            <a:endParaRPr b="0" i="0" sz="1500" u="none" cap="none" strike="noStrike">
              <a:solidFill>
                <a:schemeClr val="dk1"/>
              </a:solidFill>
              <a:latin typeface="Calibri"/>
              <a:ea typeface="Calibri"/>
              <a:cs typeface="Calibri"/>
              <a:sym typeface="Calibri"/>
            </a:endParaRPr>
          </a:p>
        </p:txBody>
      </p:sp>
      <p:pic>
        <p:nvPicPr>
          <p:cNvPr descr="/home/claude/dbms_lecture2/logo/newton_logo_transparent.png" id="265" name="Google Shape;265;p24"/>
          <p:cNvPicPr preferRelativeResize="0"/>
          <p:nvPr/>
        </p:nvPicPr>
        <p:blipFill rotWithShape="1">
          <a:blip r:embed="rId4">
            <a:alphaModFix/>
          </a:blip>
          <a:srcRect b="0" l="0" r="0" t="0"/>
          <a:stretch/>
        </p:blipFill>
        <p:spPr>
          <a:xfrm>
            <a:off x="8046491" y="150876"/>
            <a:ext cx="720090" cy="304903"/>
          </a:xfrm>
          <a:prstGeom prst="rect">
            <a:avLst/>
          </a:prstGeom>
          <a:noFill/>
          <a:ln>
            <a:noFill/>
          </a:ln>
        </p:spPr>
      </p:pic>
      <p:sp>
        <p:nvSpPr>
          <p:cNvPr id="266" name="Google Shape;266;p24"/>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400" u="none" cap="none" strike="noStrike">
                <a:solidFill>
                  <a:srgbClr val="A1AAB2"/>
                </a:solidFill>
                <a:latin typeface="Calibri"/>
                <a:ea typeface="Calibri"/>
                <a:cs typeface="Calibri"/>
                <a:sym typeface="Calibri"/>
              </a:rPr>
              <a:t>11</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000"/>
              <a:buFont typeface="Calibri"/>
              <a:buNone/>
            </a:pPr>
            <a:r>
              <a:rPr b="1" i="0" lang="en-GB" sz="1100" u="none" cap="none" strike="noStrike">
                <a:solidFill>
                  <a:srgbClr val="4597E1"/>
                </a:solidFill>
                <a:latin typeface="Calibri"/>
                <a:ea typeface="Calibri"/>
                <a:cs typeface="Calibri"/>
                <a:sym typeface="Calibri"/>
              </a:rPr>
              <a:t>DDL COMMAND 2</a:t>
            </a:r>
            <a:endParaRPr b="0" i="0" sz="1100" u="none" cap="none" strike="noStrike">
              <a:solidFill>
                <a:schemeClr val="dk1"/>
              </a:solidFill>
              <a:latin typeface="Calibri"/>
              <a:ea typeface="Calibri"/>
              <a:cs typeface="Calibri"/>
              <a:sym typeface="Calibri"/>
            </a:endParaRPr>
          </a:p>
        </p:txBody>
      </p:sp>
      <p:sp>
        <p:nvSpPr>
          <p:cNvPr id="273" name="Google Shape;273;p25"/>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ALTER — renovating the classroom</a:t>
            </a:r>
            <a:endParaRPr b="0" i="0" sz="2000" u="none" cap="none" strike="noStrike">
              <a:solidFill>
                <a:schemeClr val="dk1"/>
              </a:solidFill>
              <a:latin typeface="Calibri"/>
              <a:ea typeface="Calibri"/>
              <a:cs typeface="Calibri"/>
              <a:sym typeface="Calibri"/>
            </a:endParaRPr>
          </a:p>
        </p:txBody>
      </p:sp>
      <p:sp>
        <p:nvSpPr>
          <p:cNvPr id="274" name="Google Shape;274;p25"/>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275" name="Google Shape;275;p25"/>
          <p:cNvSpPr/>
          <p:nvPr/>
        </p:nvSpPr>
        <p:spPr>
          <a:xfrm>
            <a:off x="411488" y="1097288"/>
            <a:ext cx="8298225" cy="792675"/>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276" name="Google Shape;276;p25"/>
          <p:cNvSpPr/>
          <p:nvPr/>
        </p:nvSpPr>
        <p:spPr>
          <a:xfrm>
            <a:off x="506420" y="1172723"/>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300" u="none" cap="none" strike="noStrike">
                <a:solidFill>
                  <a:srgbClr val="368EDE"/>
                </a:solidFill>
                <a:latin typeface="Calibri"/>
                <a:ea typeface="Calibri"/>
                <a:cs typeface="Calibri"/>
                <a:sym typeface="Calibri"/>
              </a:rPr>
              <a:t>THE PRINCIPAL WALKS IN</a:t>
            </a:r>
            <a:endParaRPr b="0" i="0" sz="1300" u="none" cap="none" strike="noStrike">
              <a:solidFill>
                <a:schemeClr val="dk1"/>
              </a:solidFill>
              <a:latin typeface="Calibri"/>
              <a:ea typeface="Calibri"/>
              <a:cs typeface="Calibri"/>
              <a:sym typeface="Calibri"/>
            </a:endParaRPr>
          </a:p>
        </p:txBody>
      </p:sp>
      <p:sp>
        <p:nvSpPr>
          <p:cNvPr id="277" name="Google Shape;277;p25"/>
          <p:cNvSpPr/>
          <p:nvPr/>
        </p:nvSpPr>
        <p:spPr>
          <a:xfrm>
            <a:off x="453300" y="1409263"/>
            <a:ext cx="80088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500" u="none" cap="none" strike="noStrike">
                <a:solidFill>
                  <a:srgbClr val="16334D"/>
                </a:solidFill>
                <a:latin typeface="Cambria"/>
                <a:ea typeface="Cambria"/>
                <a:cs typeface="Cambria"/>
                <a:sym typeface="Cambria"/>
              </a:rPr>
              <a:t>"We also need to track each student’s branch. Add that column without losing any existing data."</a:t>
            </a:r>
            <a:endParaRPr b="0" i="0" sz="1500" u="none" cap="none" strike="noStrike">
              <a:solidFill>
                <a:schemeClr val="dk1"/>
              </a:solidFill>
              <a:latin typeface="Calibri"/>
              <a:ea typeface="Calibri"/>
              <a:cs typeface="Calibri"/>
              <a:sym typeface="Calibri"/>
            </a:endParaRPr>
          </a:p>
        </p:txBody>
      </p:sp>
      <p:sp>
        <p:nvSpPr>
          <p:cNvPr id="278" name="Google Shape;278;p25"/>
          <p:cNvSpPr/>
          <p:nvPr/>
        </p:nvSpPr>
        <p:spPr>
          <a:xfrm>
            <a:off x="411468" y="2489456"/>
            <a:ext cx="2847825" cy="128970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79" name="Google Shape;279;p25"/>
          <p:cNvSpPr/>
          <p:nvPr/>
        </p:nvSpPr>
        <p:spPr>
          <a:xfrm>
            <a:off x="548640" y="2132838"/>
            <a:ext cx="96012" cy="96012"/>
          </a:xfrm>
          <a:prstGeom prst="ellipse">
            <a:avLst/>
          </a:prstGeom>
          <a:solidFill>
            <a:srgbClr val="9FC9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80" name="Google Shape;280;p25"/>
          <p:cNvSpPr/>
          <p:nvPr/>
        </p:nvSpPr>
        <p:spPr>
          <a:xfrm>
            <a:off x="740664" y="2132838"/>
            <a:ext cx="96012" cy="96012"/>
          </a:xfrm>
          <a:prstGeom prst="ellipse">
            <a:avLst/>
          </a:prstGeom>
          <a:solidFill>
            <a:srgbClr val="89BD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81" name="Google Shape;281;p25"/>
          <p:cNvSpPr/>
          <p:nvPr/>
        </p:nvSpPr>
        <p:spPr>
          <a:xfrm>
            <a:off x="932688" y="2132838"/>
            <a:ext cx="96012" cy="96012"/>
          </a:xfrm>
          <a:prstGeom prst="ellipse">
            <a:avLst/>
          </a:prstGeom>
          <a:solidFill>
            <a:srgbClr val="549F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82" name="Google Shape;282;p25"/>
          <p:cNvSpPr/>
          <p:nvPr/>
        </p:nvSpPr>
        <p:spPr>
          <a:xfrm>
            <a:off x="506430" y="2743202"/>
            <a:ext cx="2811825" cy="22630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200" u="none" cap="none" strike="noStrike">
                <a:solidFill>
                  <a:srgbClr val="81B8E9"/>
                </a:solidFill>
                <a:latin typeface="Consolas"/>
                <a:ea typeface="Consolas"/>
                <a:cs typeface="Consolas"/>
                <a:sym typeface="Consolas"/>
              </a:rPr>
              <a:t>ALTER TABLE students</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BEEF1"/>
              </a:buClr>
              <a:buSzPts val="1100"/>
              <a:buFont typeface="Consolas"/>
              <a:buNone/>
            </a:pPr>
            <a:r>
              <a:rPr b="0" i="0" lang="en-GB" sz="1200" u="none" cap="none" strike="noStrike">
                <a:solidFill>
                  <a:srgbClr val="EBEEF1"/>
                </a:solidFill>
                <a:latin typeface="Consolas"/>
                <a:ea typeface="Consolas"/>
                <a:cs typeface="Consolas"/>
                <a:sym typeface="Consolas"/>
              </a:rPr>
              <a:t>ADD COLUMN branch VARCHAR(20);</a:t>
            </a:r>
            <a:endParaRPr b="0" i="0" sz="1200" u="none" cap="none" strike="noStrike">
              <a:solidFill>
                <a:schemeClr val="dk1"/>
              </a:solidFill>
              <a:latin typeface="Calibri"/>
              <a:ea typeface="Calibri"/>
              <a:cs typeface="Calibri"/>
              <a:sym typeface="Calibri"/>
            </a:endParaRPr>
          </a:p>
        </p:txBody>
      </p:sp>
      <p:sp>
        <p:nvSpPr>
          <p:cNvPr id="283" name="Google Shape;283;p25"/>
          <p:cNvSpPr/>
          <p:nvPr/>
        </p:nvSpPr>
        <p:spPr>
          <a:xfrm>
            <a:off x="3450544" y="2023106"/>
            <a:ext cx="5259150" cy="2640375"/>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84" name="Google Shape;284;p25"/>
          <p:cNvSpPr/>
          <p:nvPr/>
        </p:nvSpPr>
        <p:spPr>
          <a:xfrm>
            <a:off x="3986213"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400" u="none" cap="none" strike="noStrike">
                <a:solidFill>
                  <a:srgbClr val="598DBD"/>
                </a:solidFill>
                <a:latin typeface="Calibri"/>
                <a:ea typeface="Calibri"/>
                <a:cs typeface="Calibri"/>
                <a:sym typeface="Calibri"/>
              </a:rPr>
              <a:t>BEFORE</a:t>
            </a:r>
            <a:endParaRPr b="0" i="0" sz="1400" u="none" cap="none" strike="noStrike">
              <a:solidFill>
                <a:schemeClr val="dk1"/>
              </a:solidFill>
              <a:latin typeface="Calibri"/>
              <a:ea typeface="Calibri"/>
              <a:cs typeface="Calibri"/>
              <a:sym typeface="Calibri"/>
            </a:endParaRPr>
          </a:p>
        </p:txBody>
      </p:sp>
      <p:sp>
        <p:nvSpPr>
          <p:cNvPr id="285" name="Google Shape;285;p25"/>
          <p:cNvSpPr/>
          <p:nvPr/>
        </p:nvSpPr>
        <p:spPr>
          <a:xfrm>
            <a:off x="6531901"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400" u="none" cap="none" strike="noStrike">
                <a:solidFill>
                  <a:srgbClr val="598DBD"/>
                </a:solidFill>
                <a:latin typeface="Calibri"/>
                <a:ea typeface="Calibri"/>
                <a:cs typeface="Calibri"/>
                <a:sym typeface="Calibri"/>
              </a:rPr>
              <a:t>AFTER</a:t>
            </a:r>
            <a:endParaRPr b="0" i="0" sz="1400" u="none" cap="none" strike="noStrike">
              <a:solidFill>
                <a:schemeClr val="dk1"/>
              </a:solidFill>
              <a:latin typeface="Calibri"/>
              <a:ea typeface="Calibri"/>
              <a:cs typeface="Calibri"/>
              <a:sym typeface="Calibri"/>
            </a:endParaRPr>
          </a:p>
        </p:txBody>
      </p:sp>
      <p:sp>
        <p:nvSpPr>
          <p:cNvPr id="286" name="Google Shape;286;p25"/>
          <p:cNvSpPr/>
          <p:nvPr/>
        </p:nvSpPr>
        <p:spPr>
          <a:xfrm>
            <a:off x="5975032" y="2791206"/>
            <a:ext cx="497204" cy="205740"/>
          </a:xfrm>
          <a:prstGeom prst="rightArrow">
            <a:avLst>
              <a:gd fmla="val 50000" name="adj1"/>
              <a:gd fmla="val 50000" name="adj2"/>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87" name="Google Shape;287;p25"/>
          <p:cNvSpPr/>
          <p:nvPr/>
        </p:nvSpPr>
        <p:spPr>
          <a:xfrm>
            <a:off x="3986213" y="2544318"/>
            <a:ext cx="1929155" cy="233172"/>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88" name="Google Shape;288;p25"/>
          <p:cNvSpPr/>
          <p:nvPr/>
        </p:nvSpPr>
        <p:spPr>
          <a:xfrm>
            <a:off x="3986213" y="2544318"/>
            <a:ext cx="964577"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onsolas"/>
              <a:buNone/>
            </a:pPr>
            <a:r>
              <a:rPr b="1" i="0" lang="en-GB" sz="1200" u="none" cap="none" strike="noStrike">
                <a:solidFill>
                  <a:srgbClr val="FFFFFF"/>
                </a:solidFill>
                <a:latin typeface="Consolas"/>
                <a:ea typeface="Consolas"/>
                <a:cs typeface="Consolas"/>
                <a:sym typeface="Consolas"/>
              </a:rPr>
              <a:t>id</a:t>
            </a:r>
            <a:endParaRPr b="0" i="0" sz="1200" u="none" cap="none" strike="noStrike">
              <a:solidFill>
                <a:schemeClr val="dk1"/>
              </a:solidFill>
              <a:latin typeface="Calibri"/>
              <a:ea typeface="Calibri"/>
              <a:cs typeface="Calibri"/>
              <a:sym typeface="Calibri"/>
            </a:endParaRPr>
          </a:p>
        </p:txBody>
      </p:sp>
      <p:sp>
        <p:nvSpPr>
          <p:cNvPr id="289" name="Google Shape;289;p25"/>
          <p:cNvSpPr/>
          <p:nvPr/>
        </p:nvSpPr>
        <p:spPr>
          <a:xfrm>
            <a:off x="4950790" y="2544318"/>
            <a:ext cx="964577"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onsolas"/>
              <a:buNone/>
            </a:pPr>
            <a:r>
              <a:rPr b="1" i="0" lang="en-GB" sz="1200" u="none" cap="none" strike="noStrike">
                <a:solidFill>
                  <a:srgbClr val="FFFFFF"/>
                </a:solidFill>
                <a:latin typeface="Consolas"/>
                <a:ea typeface="Consolas"/>
                <a:cs typeface="Consolas"/>
                <a:sym typeface="Consolas"/>
              </a:rPr>
              <a:t>name</a:t>
            </a:r>
            <a:endParaRPr b="0" i="0" sz="1200" u="none" cap="none" strike="noStrike">
              <a:solidFill>
                <a:schemeClr val="dk1"/>
              </a:solidFill>
              <a:latin typeface="Calibri"/>
              <a:ea typeface="Calibri"/>
              <a:cs typeface="Calibri"/>
              <a:sym typeface="Calibri"/>
            </a:endParaRPr>
          </a:p>
        </p:txBody>
      </p:sp>
      <p:sp>
        <p:nvSpPr>
          <p:cNvPr id="290" name="Google Shape;290;p25"/>
          <p:cNvSpPr/>
          <p:nvPr/>
        </p:nvSpPr>
        <p:spPr>
          <a:xfrm>
            <a:off x="3986213" y="2777490"/>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91" name="Google Shape;291;p25"/>
          <p:cNvSpPr/>
          <p:nvPr/>
        </p:nvSpPr>
        <p:spPr>
          <a:xfrm>
            <a:off x="3986213" y="2777490"/>
            <a:ext cx="964577"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700"/>
              <a:buFont typeface="Consolas"/>
              <a:buNone/>
            </a:pPr>
            <a:r>
              <a:rPr b="0" i="0" lang="en-GB" sz="1200" u="none" cap="none" strike="noStrike">
                <a:solidFill>
                  <a:srgbClr val="16334D"/>
                </a:solidFill>
                <a:latin typeface="Consolas"/>
                <a:ea typeface="Consolas"/>
                <a:cs typeface="Consolas"/>
                <a:sym typeface="Consolas"/>
              </a:rPr>
              <a:t>1</a:t>
            </a:r>
            <a:endParaRPr b="0" i="0" sz="1200" u="none" cap="none" strike="noStrike">
              <a:solidFill>
                <a:schemeClr val="dk1"/>
              </a:solidFill>
              <a:latin typeface="Calibri"/>
              <a:ea typeface="Calibri"/>
              <a:cs typeface="Calibri"/>
              <a:sym typeface="Calibri"/>
            </a:endParaRPr>
          </a:p>
        </p:txBody>
      </p:sp>
      <p:sp>
        <p:nvSpPr>
          <p:cNvPr id="292" name="Google Shape;292;p25"/>
          <p:cNvSpPr/>
          <p:nvPr/>
        </p:nvSpPr>
        <p:spPr>
          <a:xfrm>
            <a:off x="4950790" y="2777490"/>
            <a:ext cx="964577"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700"/>
              <a:buFont typeface="Consolas"/>
              <a:buNone/>
            </a:pPr>
            <a:r>
              <a:rPr b="0" i="0" lang="en-GB" sz="1200" u="none" cap="none" strike="noStrike">
                <a:solidFill>
                  <a:srgbClr val="16334D"/>
                </a:solidFill>
                <a:latin typeface="Consolas"/>
                <a:ea typeface="Consolas"/>
                <a:cs typeface="Consolas"/>
                <a:sym typeface="Consolas"/>
              </a:rPr>
              <a:t>Amit</a:t>
            </a:r>
            <a:endParaRPr b="0" i="0" sz="1200" u="none" cap="none" strike="noStrike">
              <a:solidFill>
                <a:schemeClr val="dk1"/>
              </a:solidFill>
              <a:latin typeface="Calibri"/>
              <a:ea typeface="Calibri"/>
              <a:cs typeface="Calibri"/>
              <a:sym typeface="Calibri"/>
            </a:endParaRPr>
          </a:p>
        </p:txBody>
      </p:sp>
      <p:sp>
        <p:nvSpPr>
          <p:cNvPr id="293" name="Google Shape;293;p25"/>
          <p:cNvSpPr/>
          <p:nvPr/>
        </p:nvSpPr>
        <p:spPr>
          <a:xfrm>
            <a:off x="3986213" y="2544318"/>
            <a:ext cx="1929150" cy="452700"/>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94" name="Google Shape;294;p25"/>
          <p:cNvSpPr/>
          <p:nvPr/>
        </p:nvSpPr>
        <p:spPr>
          <a:xfrm>
            <a:off x="6531901" y="2544318"/>
            <a:ext cx="1929155" cy="233172"/>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95" name="Google Shape;295;p25"/>
          <p:cNvSpPr/>
          <p:nvPr/>
        </p:nvSpPr>
        <p:spPr>
          <a:xfrm>
            <a:off x="6531902"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200" u="none" cap="none" strike="noStrike">
                <a:solidFill>
                  <a:srgbClr val="FFFFFF"/>
                </a:solidFill>
                <a:latin typeface="Consolas"/>
                <a:ea typeface="Consolas"/>
                <a:cs typeface="Consolas"/>
                <a:sym typeface="Consolas"/>
              </a:rPr>
              <a:t>id</a:t>
            </a:r>
            <a:endParaRPr b="0" i="0" sz="1200" u="none" cap="none" strike="noStrike">
              <a:solidFill>
                <a:schemeClr val="dk1"/>
              </a:solidFill>
              <a:latin typeface="Calibri"/>
              <a:ea typeface="Calibri"/>
              <a:cs typeface="Calibri"/>
              <a:sym typeface="Calibri"/>
            </a:endParaRPr>
          </a:p>
        </p:txBody>
      </p:sp>
      <p:sp>
        <p:nvSpPr>
          <p:cNvPr id="296" name="Google Shape;296;p25"/>
          <p:cNvSpPr/>
          <p:nvPr/>
        </p:nvSpPr>
        <p:spPr>
          <a:xfrm>
            <a:off x="717495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200" u="none" cap="none" strike="noStrike">
                <a:solidFill>
                  <a:srgbClr val="FFFFFF"/>
                </a:solidFill>
                <a:latin typeface="Consolas"/>
                <a:ea typeface="Consolas"/>
                <a:cs typeface="Consolas"/>
                <a:sym typeface="Consolas"/>
              </a:rPr>
              <a:t>name</a:t>
            </a:r>
            <a:endParaRPr b="0" i="0" sz="1200" u="none" cap="none" strike="noStrike">
              <a:solidFill>
                <a:schemeClr val="dk1"/>
              </a:solidFill>
              <a:latin typeface="Calibri"/>
              <a:ea typeface="Calibri"/>
              <a:cs typeface="Calibri"/>
              <a:sym typeface="Calibri"/>
            </a:endParaRPr>
          </a:p>
        </p:txBody>
      </p:sp>
      <p:sp>
        <p:nvSpPr>
          <p:cNvPr id="297" name="Google Shape;297;p25"/>
          <p:cNvSpPr/>
          <p:nvPr/>
        </p:nvSpPr>
        <p:spPr>
          <a:xfrm>
            <a:off x="7818005"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200" u="none" cap="none" strike="noStrike">
                <a:solidFill>
                  <a:srgbClr val="FFFFFF"/>
                </a:solidFill>
                <a:latin typeface="Consolas"/>
                <a:ea typeface="Consolas"/>
                <a:cs typeface="Consolas"/>
                <a:sym typeface="Consolas"/>
              </a:rPr>
              <a:t>branch</a:t>
            </a:r>
            <a:endParaRPr b="0" i="0" sz="1200" u="none" cap="none" strike="noStrike">
              <a:solidFill>
                <a:schemeClr val="dk1"/>
              </a:solidFill>
              <a:latin typeface="Calibri"/>
              <a:ea typeface="Calibri"/>
              <a:cs typeface="Calibri"/>
              <a:sym typeface="Calibri"/>
            </a:endParaRPr>
          </a:p>
        </p:txBody>
      </p:sp>
      <p:sp>
        <p:nvSpPr>
          <p:cNvPr id="298" name="Google Shape;298;p25"/>
          <p:cNvSpPr/>
          <p:nvPr/>
        </p:nvSpPr>
        <p:spPr>
          <a:xfrm>
            <a:off x="6531901" y="2777490"/>
            <a:ext cx="1929155" cy="219456"/>
          </a:xfrm>
          <a:prstGeom prst="rect">
            <a:avLst/>
          </a:prstGeom>
          <a:solidFill>
            <a:srgbClr val="EAEFF3"/>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299" name="Google Shape;299;p25"/>
          <p:cNvSpPr/>
          <p:nvPr/>
        </p:nvSpPr>
        <p:spPr>
          <a:xfrm>
            <a:off x="6531902" y="2777490"/>
            <a:ext cx="59664" cy="219456"/>
          </a:xfrm>
          <a:prstGeom prst="rect">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300" name="Google Shape;300;p25"/>
          <p:cNvSpPr/>
          <p:nvPr/>
        </p:nvSpPr>
        <p:spPr>
          <a:xfrm>
            <a:off x="6531902"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600"/>
              <a:buFont typeface="Consolas"/>
              <a:buNone/>
            </a:pPr>
            <a:r>
              <a:rPr b="1" i="0" lang="en-GB" sz="1200" u="none" cap="none" strike="noStrike">
                <a:solidFill>
                  <a:srgbClr val="2579C4"/>
                </a:solidFill>
                <a:latin typeface="Consolas"/>
                <a:ea typeface="Consolas"/>
                <a:cs typeface="Consolas"/>
                <a:sym typeface="Consolas"/>
              </a:rPr>
              <a:t>1</a:t>
            </a:r>
            <a:endParaRPr b="0" i="0" sz="1200" u="none" cap="none" strike="noStrike">
              <a:solidFill>
                <a:schemeClr val="dk1"/>
              </a:solidFill>
              <a:latin typeface="Calibri"/>
              <a:ea typeface="Calibri"/>
              <a:cs typeface="Calibri"/>
              <a:sym typeface="Calibri"/>
            </a:endParaRPr>
          </a:p>
        </p:txBody>
      </p:sp>
      <p:sp>
        <p:nvSpPr>
          <p:cNvPr id="301" name="Google Shape;301;p25"/>
          <p:cNvSpPr/>
          <p:nvPr/>
        </p:nvSpPr>
        <p:spPr>
          <a:xfrm>
            <a:off x="717495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600"/>
              <a:buFont typeface="Consolas"/>
              <a:buNone/>
            </a:pPr>
            <a:r>
              <a:rPr b="1" i="0" lang="en-GB" sz="1200" u="none" cap="none" strike="noStrike">
                <a:solidFill>
                  <a:srgbClr val="2579C4"/>
                </a:solidFill>
                <a:latin typeface="Consolas"/>
                <a:ea typeface="Consolas"/>
                <a:cs typeface="Consolas"/>
                <a:sym typeface="Consolas"/>
              </a:rPr>
              <a:t>Amit</a:t>
            </a:r>
            <a:endParaRPr b="0" i="0" sz="1200" u="none" cap="none" strike="noStrike">
              <a:solidFill>
                <a:schemeClr val="dk1"/>
              </a:solidFill>
              <a:latin typeface="Calibri"/>
              <a:ea typeface="Calibri"/>
              <a:cs typeface="Calibri"/>
              <a:sym typeface="Calibri"/>
            </a:endParaRPr>
          </a:p>
        </p:txBody>
      </p:sp>
      <p:sp>
        <p:nvSpPr>
          <p:cNvPr id="302" name="Google Shape;302;p25"/>
          <p:cNvSpPr/>
          <p:nvPr/>
        </p:nvSpPr>
        <p:spPr>
          <a:xfrm>
            <a:off x="7818005"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600"/>
              <a:buFont typeface="Consolas"/>
              <a:buNone/>
            </a:pPr>
            <a:r>
              <a:rPr b="1" i="0" lang="en-GB" sz="1200" u="none" cap="none" strike="noStrike">
                <a:solidFill>
                  <a:srgbClr val="2579C4"/>
                </a:solidFill>
                <a:latin typeface="Consolas"/>
                <a:ea typeface="Consolas"/>
                <a:cs typeface="Consolas"/>
                <a:sym typeface="Consolas"/>
              </a:rPr>
              <a:t>CSE</a:t>
            </a:r>
            <a:endParaRPr b="0" i="0" sz="1200" u="none" cap="none" strike="noStrike">
              <a:solidFill>
                <a:schemeClr val="dk1"/>
              </a:solidFill>
              <a:latin typeface="Calibri"/>
              <a:ea typeface="Calibri"/>
              <a:cs typeface="Calibri"/>
              <a:sym typeface="Calibri"/>
            </a:endParaRPr>
          </a:p>
        </p:txBody>
      </p:sp>
      <p:sp>
        <p:nvSpPr>
          <p:cNvPr id="303" name="Google Shape;303;p25"/>
          <p:cNvSpPr/>
          <p:nvPr/>
        </p:nvSpPr>
        <p:spPr>
          <a:xfrm>
            <a:off x="6531901" y="2544318"/>
            <a:ext cx="1929155" cy="452628"/>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304" name="Google Shape;304;p25"/>
          <p:cNvSpPr/>
          <p:nvPr/>
        </p:nvSpPr>
        <p:spPr>
          <a:xfrm>
            <a:off x="6531901" y="3195828"/>
            <a:ext cx="1929155"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700"/>
              <a:buFont typeface="Calibri"/>
              <a:buNone/>
            </a:pPr>
            <a:r>
              <a:rPr b="1" i="0" lang="en-GB" sz="1400" u="none" cap="none" strike="noStrike">
                <a:solidFill>
                  <a:srgbClr val="2579C4"/>
                </a:solidFill>
                <a:latin typeface="Calibri"/>
                <a:ea typeface="Calibri"/>
                <a:cs typeface="Calibri"/>
                <a:sym typeface="Calibri"/>
              </a:rPr>
              <a:t>branch column added</a:t>
            </a:r>
            <a:endParaRPr b="0" i="0" sz="1400" u="none" cap="none" strike="noStrike">
              <a:solidFill>
                <a:schemeClr val="dk1"/>
              </a:solidFill>
              <a:latin typeface="Calibri"/>
              <a:ea typeface="Calibri"/>
              <a:cs typeface="Calibri"/>
              <a:sym typeface="Calibri"/>
            </a:endParaRPr>
          </a:p>
        </p:txBody>
      </p:sp>
      <p:sp>
        <p:nvSpPr>
          <p:cNvPr id="305" name="Google Shape;305;p25"/>
          <p:cNvSpPr/>
          <p:nvPr/>
        </p:nvSpPr>
        <p:spPr>
          <a:xfrm>
            <a:off x="3699113" y="3621019"/>
            <a:ext cx="4761900"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500" u="none" cap="none" strike="noStrike">
                <a:solidFill>
                  <a:srgbClr val="16334D"/>
                </a:solidFill>
                <a:latin typeface="Cambria"/>
                <a:ea typeface="Cambria"/>
                <a:cs typeface="Cambria"/>
                <a:sym typeface="Cambria"/>
              </a:rPr>
              <a:t>One command, many targets</a:t>
            </a:r>
            <a:endParaRPr b="0" i="0" sz="1500" u="none" cap="none" strike="noStrike">
              <a:solidFill>
                <a:schemeClr val="dk1"/>
              </a:solidFill>
              <a:latin typeface="Calibri"/>
              <a:ea typeface="Calibri"/>
              <a:cs typeface="Calibri"/>
              <a:sym typeface="Calibri"/>
            </a:endParaRPr>
          </a:p>
        </p:txBody>
      </p:sp>
      <p:sp>
        <p:nvSpPr>
          <p:cNvPr id="306" name="Google Shape;306;p25"/>
          <p:cNvSpPr/>
          <p:nvPr/>
        </p:nvSpPr>
        <p:spPr>
          <a:xfrm>
            <a:off x="3769238" y="3895350"/>
            <a:ext cx="4691925"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400" u="none" cap="none" strike="noStrike">
                <a:solidFill>
                  <a:srgbClr val="16334D"/>
                </a:solidFill>
                <a:latin typeface="Calibri"/>
                <a:ea typeface="Calibri"/>
                <a:cs typeface="Calibri"/>
                <a:sym typeface="Calibri"/>
              </a:rPr>
              <a:t>ALTER modifies an existing structure — add, rename, or drop columns, change data types, or adjust constraints like PRIMARY KEY, all without rebuilding the table.</a:t>
            </a:r>
            <a:endParaRPr b="0" i="0" sz="1400" u="none" cap="none" strike="noStrike">
              <a:solidFill>
                <a:schemeClr val="dk1"/>
              </a:solidFill>
              <a:latin typeface="Calibri"/>
              <a:ea typeface="Calibri"/>
              <a:cs typeface="Calibri"/>
              <a:sym typeface="Calibri"/>
            </a:endParaRPr>
          </a:p>
        </p:txBody>
      </p:sp>
      <p:pic>
        <p:nvPicPr>
          <p:cNvPr descr="/home/claude/dbms_lecture2/logo/newton_logo_transparent.png" id="307" name="Google Shape;307;p25"/>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308" name="Google Shape;308;p25"/>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12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6"/>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000"/>
              <a:buFont typeface="Calibri"/>
              <a:buNone/>
            </a:pPr>
            <a:r>
              <a:rPr b="1" i="0" lang="en-GB" sz="1100" u="none" cap="none" strike="noStrike">
                <a:solidFill>
                  <a:srgbClr val="4597E1"/>
                </a:solidFill>
                <a:latin typeface="Calibri"/>
                <a:ea typeface="Calibri"/>
                <a:cs typeface="Calibri"/>
                <a:sym typeface="Calibri"/>
              </a:rPr>
              <a:t>DDL COMMAND 3</a:t>
            </a:r>
            <a:endParaRPr b="0" i="0" sz="1100" u="none" cap="none" strike="noStrike">
              <a:solidFill>
                <a:schemeClr val="dk1"/>
              </a:solidFill>
              <a:latin typeface="Calibri"/>
              <a:ea typeface="Calibri"/>
              <a:cs typeface="Calibri"/>
              <a:sym typeface="Calibri"/>
            </a:endParaRPr>
          </a:p>
        </p:txBody>
      </p:sp>
      <p:sp>
        <p:nvSpPr>
          <p:cNvPr id="315" name="Google Shape;315;p26"/>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1500" u="none" cap="none" strike="noStrike">
                <a:solidFill>
                  <a:srgbClr val="1E4161"/>
                </a:solidFill>
                <a:latin typeface="Cambria"/>
                <a:ea typeface="Cambria"/>
                <a:cs typeface="Cambria"/>
                <a:sym typeface="Cambria"/>
              </a:rPr>
              <a:t>TRUNCATE — emptying the bucket</a:t>
            </a:r>
            <a:endParaRPr b="0" i="0" sz="1500" u="none" cap="none" strike="noStrike">
              <a:solidFill>
                <a:schemeClr val="dk1"/>
              </a:solidFill>
              <a:latin typeface="Calibri"/>
              <a:ea typeface="Calibri"/>
              <a:cs typeface="Calibri"/>
              <a:sym typeface="Calibri"/>
            </a:endParaRPr>
          </a:p>
        </p:txBody>
      </p:sp>
      <p:sp>
        <p:nvSpPr>
          <p:cNvPr id="316" name="Google Shape;316;p26"/>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rgbClr val="000000"/>
              </a:solidFill>
              <a:latin typeface="Arial"/>
              <a:ea typeface="Arial"/>
              <a:cs typeface="Arial"/>
              <a:sym typeface="Arial"/>
            </a:endParaRPr>
          </a:p>
        </p:txBody>
      </p:sp>
      <p:sp>
        <p:nvSpPr>
          <p:cNvPr id="317" name="Google Shape;317;p26"/>
          <p:cNvSpPr/>
          <p:nvPr/>
        </p:nvSpPr>
        <p:spPr>
          <a:xfrm>
            <a:off x="411475" y="1097274"/>
            <a:ext cx="8298300" cy="79200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rgbClr val="000000"/>
              </a:solidFill>
              <a:latin typeface="Arial"/>
              <a:ea typeface="Arial"/>
              <a:cs typeface="Arial"/>
              <a:sym typeface="Arial"/>
            </a:endParaRPr>
          </a:p>
        </p:txBody>
      </p:sp>
      <p:sp>
        <p:nvSpPr>
          <p:cNvPr id="318" name="Google Shape;318;p26"/>
          <p:cNvSpPr/>
          <p:nvPr/>
        </p:nvSpPr>
        <p:spPr>
          <a:xfrm>
            <a:off x="479995" y="1176110"/>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500" u="none" cap="none" strike="noStrike">
                <a:solidFill>
                  <a:srgbClr val="368EDE"/>
                </a:solidFill>
                <a:latin typeface="Calibri"/>
                <a:ea typeface="Calibri"/>
                <a:cs typeface="Calibri"/>
                <a:sym typeface="Calibri"/>
              </a:rPr>
              <a:t>THE PRINCIPAL WALKS IN</a:t>
            </a:r>
            <a:endParaRPr b="0" i="0" sz="1500" u="none" cap="none" strike="noStrike">
              <a:solidFill>
                <a:schemeClr val="dk1"/>
              </a:solidFill>
              <a:latin typeface="Calibri"/>
              <a:ea typeface="Calibri"/>
              <a:cs typeface="Calibri"/>
              <a:sym typeface="Calibri"/>
            </a:endParaRPr>
          </a:p>
        </p:txBody>
      </p:sp>
      <p:sp>
        <p:nvSpPr>
          <p:cNvPr id="319" name="Google Shape;319;p26"/>
          <p:cNvSpPr/>
          <p:nvPr/>
        </p:nvSpPr>
        <p:spPr>
          <a:xfrm>
            <a:off x="480050" y="1381900"/>
            <a:ext cx="8193300" cy="387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500" u="none" cap="none" strike="noStrike">
                <a:solidFill>
                  <a:srgbClr val="16334D"/>
                </a:solidFill>
                <a:latin typeface="Cambria"/>
                <a:ea typeface="Cambria"/>
                <a:cs typeface="Cambria"/>
                <a:sym typeface="Cambria"/>
              </a:rPr>
              <a:t>"New semester — clear out last year’s student roster, but keep the students table ready for the new batch."</a:t>
            </a:r>
            <a:endParaRPr b="0" i="0" sz="1500" u="none" cap="none" strike="noStrike">
              <a:solidFill>
                <a:schemeClr val="dk1"/>
              </a:solidFill>
              <a:latin typeface="Calibri"/>
              <a:ea typeface="Calibri"/>
              <a:cs typeface="Calibri"/>
              <a:sym typeface="Calibri"/>
            </a:endParaRPr>
          </a:p>
        </p:txBody>
      </p:sp>
      <p:sp>
        <p:nvSpPr>
          <p:cNvPr id="320" name="Google Shape;320;p26"/>
          <p:cNvSpPr/>
          <p:nvPr/>
        </p:nvSpPr>
        <p:spPr>
          <a:xfrm>
            <a:off x="411488" y="2445844"/>
            <a:ext cx="2439900" cy="132165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1" name="Google Shape;321;p26"/>
          <p:cNvSpPr/>
          <p:nvPr/>
        </p:nvSpPr>
        <p:spPr>
          <a:xfrm>
            <a:off x="548640" y="2132838"/>
            <a:ext cx="96012" cy="96012"/>
          </a:xfrm>
          <a:prstGeom prst="ellipse">
            <a:avLst/>
          </a:prstGeom>
          <a:solidFill>
            <a:srgbClr val="9FC9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2" name="Google Shape;322;p26"/>
          <p:cNvSpPr/>
          <p:nvPr/>
        </p:nvSpPr>
        <p:spPr>
          <a:xfrm>
            <a:off x="740664" y="2132838"/>
            <a:ext cx="96012" cy="96012"/>
          </a:xfrm>
          <a:prstGeom prst="ellipse">
            <a:avLst/>
          </a:prstGeom>
          <a:solidFill>
            <a:srgbClr val="89BD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3" name="Google Shape;323;p26"/>
          <p:cNvSpPr/>
          <p:nvPr/>
        </p:nvSpPr>
        <p:spPr>
          <a:xfrm>
            <a:off x="932688" y="2132838"/>
            <a:ext cx="96012" cy="96012"/>
          </a:xfrm>
          <a:prstGeom prst="ellipse">
            <a:avLst/>
          </a:prstGeom>
          <a:solidFill>
            <a:srgbClr val="549F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4" name="Google Shape;324;p26"/>
          <p:cNvSpPr/>
          <p:nvPr/>
        </p:nvSpPr>
        <p:spPr>
          <a:xfrm>
            <a:off x="582938" y="2746669"/>
            <a:ext cx="2143800" cy="72000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200" u="none" cap="none" strike="noStrike">
                <a:solidFill>
                  <a:srgbClr val="81B8E9"/>
                </a:solidFill>
                <a:latin typeface="Consolas"/>
                <a:ea typeface="Consolas"/>
                <a:cs typeface="Consolas"/>
                <a:sym typeface="Consolas"/>
              </a:rPr>
              <a:t>TRUNCATE TABLE students;</a:t>
            </a:r>
            <a:endParaRPr b="0" i="0" sz="1200" u="none" cap="none" strike="noStrike">
              <a:solidFill>
                <a:schemeClr val="dk1"/>
              </a:solidFill>
              <a:latin typeface="Calibri"/>
              <a:ea typeface="Calibri"/>
              <a:cs typeface="Calibri"/>
              <a:sym typeface="Calibri"/>
            </a:endParaRPr>
          </a:p>
        </p:txBody>
      </p:sp>
      <p:sp>
        <p:nvSpPr>
          <p:cNvPr id="325" name="Google Shape;325;p26"/>
          <p:cNvSpPr/>
          <p:nvPr/>
        </p:nvSpPr>
        <p:spPr>
          <a:xfrm>
            <a:off x="3075409" y="2037134"/>
            <a:ext cx="5641500" cy="2901000"/>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6" name="Google Shape;326;p26"/>
          <p:cNvSpPr/>
          <p:nvPr/>
        </p:nvSpPr>
        <p:spPr>
          <a:xfrm>
            <a:off x="3986213"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327" name="Google Shape;327;p26"/>
          <p:cNvSpPr/>
          <p:nvPr/>
        </p:nvSpPr>
        <p:spPr>
          <a:xfrm>
            <a:off x="6531901"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328" name="Google Shape;328;p26"/>
          <p:cNvSpPr/>
          <p:nvPr/>
        </p:nvSpPr>
        <p:spPr>
          <a:xfrm>
            <a:off x="5975032" y="2791206"/>
            <a:ext cx="497204" cy="205740"/>
          </a:xfrm>
          <a:prstGeom prst="rightArrow">
            <a:avLst>
              <a:gd fmla="val 50000" name="adj1"/>
              <a:gd fmla="val 50000" name="adj2"/>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9" name="Google Shape;329;p26"/>
          <p:cNvSpPr/>
          <p:nvPr/>
        </p:nvSpPr>
        <p:spPr>
          <a:xfrm>
            <a:off x="3986213" y="2544318"/>
            <a:ext cx="1929155" cy="233172"/>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0" name="Google Shape;330;p26"/>
          <p:cNvSpPr/>
          <p:nvPr/>
        </p:nvSpPr>
        <p:spPr>
          <a:xfrm>
            <a:off x="3986213"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331" name="Google Shape;331;p26"/>
          <p:cNvSpPr/>
          <p:nvPr/>
        </p:nvSpPr>
        <p:spPr>
          <a:xfrm>
            <a:off x="462926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332" name="Google Shape;332;p26"/>
          <p:cNvSpPr/>
          <p:nvPr/>
        </p:nvSpPr>
        <p:spPr>
          <a:xfrm>
            <a:off x="5272316"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333" name="Google Shape;333;p26"/>
          <p:cNvSpPr/>
          <p:nvPr/>
        </p:nvSpPr>
        <p:spPr>
          <a:xfrm>
            <a:off x="3986213" y="2777490"/>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4" name="Google Shape;334;p26"/>
          <p:cNvSpPr/>
          <p:nvPr/>
        </p:nvSpPr>
        <p:spPr>
          <a:xfrm>
            <a:off x="3986213"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1</a:t>
            </a:r>
            <a:endParaRPr b="0" i="0" sz="1100" u="none" cap="none" strike="noStrike">
              <a:solidFill>
                <a:schemeClr val="dk1"/>
              </a:solidFill>
              <a:latin typeface="Calibri"/>
              <a:ea typeface="Calibri"/>
              <a:cs typeface="Calibri"/>
              <a:sym typeface="Calibri"/>
            </a:endParaRPr>
          </a:p>
        </p:txBody>
      </p:sp>
      <p:sp>
        <p:nvSpPr>
          <p:cNvPr id="335" name="Google Shape;335;p26"/>
          <p:cNvSpPr/>
          <p:nvPr/>
        </p:nvSpPr>
        <p:spPr>
          <a:xfrm>
            <a:off x="462926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Amit</a:t>
            </a:r>
            <a:endParaRPr b="0" i="0" sz="1100" u="none" cap="none" strike="noStrike">
              <a:solidFill>
                <a:schemeClr val="dk1"/>
              </a:solidFill>
              <a:latin typeface="Calibri"/>
              <a:ea typeface="Calibri"/>
              <a:cs typeface="Calibri"/>
              <a:sym typeface="Calibri"/>
            </a:endParaRPr>
          </a:p>
        </p:txBody>
      </p:sp>
      <p:sp>
        <p:nvSpPr>
          <p:cNvPr id="336" name="Google Shape;336;p26"/>
          <p:cNvSpPr/>
          <p:nvPr/>
        </p:nvSpPr>
        <p:spPr>
          <a:xfrm>
            <a:off x="5272316"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337" name="Google Shape;337;p26"/>
          <p:cNvSpPr/>
          <p:nvPr/>
        </p:nvSpPr>
        <p:spPr>
          <a:xfrm>
            <a:off x="3986213" y="2996946"/>
            <a:ext cx="1929155" cy="219456"/>
          </a:xfrm>
          <a:prstGeom prst="rect">
            <a:avLst/>
          </a:prstGeom>
          <a:solidFill>
            <a:srgbClr val="F8FAFB"/>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8" name="Google Shape;338;p26"/>
          <p:cNvSpPr/>
          <p:nvPr/>
        </p:nvSpPr>
        <p:spPr>
          <a:xfrm>
            <a:off x="3986213"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2</a:t>
            </a:r>
            <a:endParaRPr b="0" i="0" sz="1100" u="none" cap="none" strike="noStrike">
              <a:solidFill>
                <a:schemeClr val="dk1"/>
              </a:solidFill>
              <a:latin typeface="Calibri"/>
              <a:ea typeface="Calibri"/>
              <a:cs typeface="Calibri"/>
              <a:sym typeface="Calibri"/>
            </a:endParaRPr>
          </a:p>
        </p:txBody>
      </p:sp>
      <p:sp>
        <p:nvSpPr>
          <p:cNvPr id="339" name="Google Shape;339;p26"/>
          <p:cNvSpPr/>
          <p:nvPr/>
        </p:nvSpPr>
        <p:spPr>
          <a:xfrm>
            <a:off x="4629264"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Riya</a:t>
            </a:r>
            <a:endParaRPr b="0" i="0" sz="1100" u="none" cap="none" strike="noStrike">
              <a:solidFill>
                <a:schemeClr val="dk1"/>
              </a:solidFill>
              <a:latin typeface="Calibri"/>
              <a:ea typeface="Calibri"/>
              <a:cs typeface="Calibri"/>
              <a:sym typeface="Calibri"/>
            </a:endParaRPr>
          </a:p>
        </p:txBody>
      </p:sp>
      <p:sp>
        <p:nvSpPr>
          <p:cNvPr id="340" name="Google Shape;340;p26"/>
          <p:cNvSpPr/>
          <p:nvPr/>
        </p:nvSpPr>
        <p:spPr>
          <a:xfrm>
            <a:off x="5272316"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ECE</a:t>
            </a:r>
            <a:endParaRPr b="0" i="0" sz="1100" u="none" cap="none" strike="noStrike">
              <a:solidFill>
                <a:schemeClr val="dk1"/>
              </a:solidFill>
              <a:latin typeface="Calibri"/>
              <a:ea typeface="Calibri"/>
              <a:cs typeface="Calibri"/>
              <a:sym typeface="Calibri"/>
            </a:endParaRPr>
          </a:p>
        </p:txBody>
      </p:sp>
      <p:sp>
        <p:nvSpPr>
          <p:cNvPr id="341" name="Google Shape;341;p26"/>
          <p:cNvSpPr/>
          <p:nvPr/>
        </p:nvSpPr>
        <p:spPr>
          <a:xfrm>
            <a:off x="3986213" y="3216402"/>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2" name="Google Shape;342;p26"/>
          <p:cNvSpPr/>
          <p:nvPr/>
        </p:nvSpPr>
        <p:spPr>
          <a:xfrm>
            <a:off x="3986213"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3</a:t>
            </a:r>
            <a:endParaRPr b="0" i="0" sz="1100" u="none" cap="none" strike="noStrike">
              <a:solidFill>
                <a:schemeClr val="dk1"/>
              </a:solidFill>
              <a:latin typeface="Calibri"/>
              <a:ea typeface="Calibri"/>
              <a:cs typeface="Calibri"/>
              <a:sym typeface="Calibri"/>
            </a:endParaRPr>
          </a:p>
        </p:txBody>
      </p:sp>
      <p:sp>
        <p:nvSpPr>
          <p:cNvPr id="343" name="Google Shape;343;p26"/>
          <p:cNvSpPr/>
          <p:nvPr/>
        </p:nvSpPr>
        <p:spPr>
          <a:xfrm>
            <a:off x="4629264"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Arjun</a:t>
            </a:r>
            <a:endParaRPr b="0" i="0" sz="1100" u="none" cap="none" strike="noStrike">
              <a:solidFill>
                <a:schemeClr val="dk1"/>
              </a:solidFill>
              <a:latin typeface="Calibri"/>
              <a:ea typeface="Calibri"/>
              <a:cs typeface="Calibri"/>
              <a:sym typeface="Calibri"/>
            </a:endParaRPr>
          </a:p>
        </p:txBody>
      </p:sp>
      <p:sp>
        <p:nvSpPr>
          <p:cNvPr id="344" name="Google Shape;344;p26"/>
          <p:cNvSpPr/>
          <p:nvPr/>
        </p:nvSpPr>
        <p:spPr>
          <a:xfrm>
            <a:off x="5272316"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345" name="Google Shape;345;p26"/>
          <p:cNvSpPr/>
          <p:nvPr/>
        </p:nvSpPr>
        <p:spPr>
          <a:xfrm>
            <a:off x="3986213" y="2544318"/>
            <a:ext cx="1929155" cy="891540"/>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6" name="Google Shape;346;p26"/>
          <p:cNvSpPr/>
          <p:nvPr/>
        </p:nvSpPr>
        <p:spPr>
          <a:xfrm>
            <a:off x="6531901" y="2544318"/>
            <a:ext cx="1929155" cy="233172"/>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7" name="Google Shape;347;p26"/>
          <p:cNvSpPr/>
          <p:nvPr/>
        </p:nvSpPr>
        <p:spPr>
          <a:xfrm>
            <a:off x="6531902"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348" name="Google Shape;348;p26"/>
          <p:cNvSpPr/>
          <p:nvPr/>
        </p:nvSpPr>
        <p:spPr>
          <a:xfrm>
            <a:off x="717495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349" name="Google Shape;349;p26"/>
          <p:cNvSpPr/>
          <p:nvPr/>
        </p:nvSpPr>
        <p:spPr>
          <a:xfrm>
            <a:off x="7818005"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350" name="Google Shape;350;p26"/>
          <p:cNvSpPr/>
          <p:nvPr/>
        </p:nvSpPr>
        <p:spPr>
          <a:xfrm>
            <a:off x="6531901" y="2544318"/>
            <a:ext cx="1929155" cy="233172"/>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51" name="Google Shape;351;p26"/>
          <p:cNvSpPr/>
          <p:nvPr/>
        </p:nvSpPr>
        <p:spPr>
          <a:xfrm>
            <a:off x="6531901" y="2887218"/>
            <a:ext cx="1929155"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700"/>
              <a:buFont typeface="Calibri"/>
              <a:buNone/>
            </a:pPr>
            <a:r>
              <a:rPr b="0" i="1" lang="en-GB" sz="1100" u="none" cap="none" strike="noStrike">
                <a:solidFill>
                  <a:srgbClr val="598DBD"/>
                </a:solidFill>
                <a:latin typeface="Calibri"/>
                <a:ea typeface="Calibri"/>
                <a:cs typeface="Calibri"/>
                <a:sym typeface="Calibri"/>
              </a:rPr>
              <a:t>0 rows — structure kept</a:t>
            </a:r>
            <a:endParaRPr b="0" i="0" sz="1100" u="none" cap="none" strike="noStrike">
              <a:solidFill>
                <a:schemeClr val="dk1"/>
              </a:solidFill>
              <a:latin typeface="Calibri"/>
              <a:ea typeface="Calibri"/>
              <a:cs typeface="Calibri"/>
              <a:sym typeface="Calibri"/>
            </a:endParaRPr>
          </a:p>
        </p:txBody>
      </p:sp>
      <p:sp>
        <p:nvSpPr>
          <p:cNvPr id="352" name="Google Shape;352;p26"/>
          <p:cNvSpPr/>
          <p:nvPr/>
        </p:nvSpPr>
        <p:spPr>
          <a:xfrm>
            <a:off x="3234131" y="3920574"/>
            <a:ext cx="4474800"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500" u="none" cap="none" strike="noStrike">
                <a:solidFill>
                  <a:srgbClr val="16334D"/>
                </a:solidFill>
                <a:latin typeface="Cambria"/>
                <a:ea typeface="Cambria"/>
                <a:cs typeface="Cambria"/>
                <a:sym typeface="Cambria"/>
              </a:rPr>
              <a:t>Analogy: emptying a bucket</a:t>
            </a:r>
            <a:endParaRPr b="0" i="0" sz="1500" u="none" cap="none" strike="noStrike">
              <a:solidFill>
                <a:schemeClr val="dk1"/>
              </a:solidFill>
              <a:latin typeface="Calibri"/>
              <a:ea typeface="Calibri"/>
              <a:cs typeface="Calibri"/>
              <a:sym typeface="Calibri"/>
            </a:endParaRPr>
          </a:p>
        </p:txBody>
      </p:sp>
      <p:sp>
        <p:nvSpPr>
          <p:cNvPr id="353" name="Google Shape;353;p26"/>
          <p:cNvSpPr/>
          <p:nvPr/>
        </p:nvSpPr>
        <p:spPr>
          <a:xfrm>
            <a:off x="3176775" y="4210819"/>
            <a:ext cx="4926600"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400" u="none" cap="none" strike="noStrike">
                <a:solidFill>
                  <a:srgbClr val="16334D"/>
                </a:solidFill>
                <a:latin typeface="Calibri"/>
                <a:ea typeface="Calibri"/>
                <a:cs typeface="Calibri"/>
                <a:sym typeface="Calibri"/>
              </a:rPr>
              <a:t>TRUNCATE removes all records instantly while keeping the table structure fully intact — like emptying a bucket without losing the bucket itself. No filtering; it’s all rows, every time.</a:t>
            </a:r>
            <a:endParaRPr b="0" i="0" sz="1400" u="none" cap="none" strike="noStrike">
              <a:solidFill>
                <a:schemeClr val="dk1"/>
              </a:solidFill>
              <a:latin typeface="Calibri"/>
              <a:ea typeface="Calibri"/>
              <a:cs typeface="Calibri"/>
              <a:sym typeface="Calibri"/>
            </a:endParaRPr>
          </a:p>
        </p:txBody>
      </p:sp>
      <p:pic>
        <p:nvPicPr>
          <p:cNvPr descr="/home/claude/dbms_lecture2/logo/newton_logo_transparent.png" id="354" name="Google Shape;354;p26"/>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355" name="Google Shape;355;p26"/>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13</a:t>
            </a:r>
            <a:endParaRPr b="0" i="0" sz="1100" u="none" cap="none" strike="noStrike">
              <a:solidFill>
                <a:schemeClr val="dk1"/>
              </a:solidFill>
              <a:latin typeface="Calibri"/>
              <a:ea typeface="Calibri"/>
              <a:cs typeface="Calibri"/>
              <a:sym typeface="Calibri"/>
            </a:endParaRPr>
          </a:p>
        </p:txBody>
      </p:sp>
      <p:pic>
        <p:nvPicPr>
          <p:cNvPr id="356" name="Google Shape;356;p26" title="Screenshot 2026-07-21 at 4.21.28 PM.png"/>
          <p:cNvPicPr preferRelativeResize="0"/>
          <p:nvPr/>
        </p:nvPicPr>
        <p:blipFill rotWithShape="1">
          <a:blip r:embed="rId4">
            <a:alphaModFix/>
          </a:blip>
          <a:srcRect b="0" l="0" r="0" t="0"/>
          <a:stretch/>
        </p:blipFill>
        <p:spPr>
          <a:xfrm>
            <a:off x="3234131" y="2168304"/>
            <a:ext cx="5269780" cy="1510727"/>
          </a:xfrm>
          <a:prstGeom prst="rect">
            <a:avLst/>
          </a:prstGeom>
          <a:solidFill>
            <a:srgbClr val="F8FAFB"/>
          </a:solidFill>
          <a:ln>
            <a:noFill/>
          </a:ln>
          <a:effectLst>
            <a:outerShdw blurRad="76200" rotWithShape="0" algn="bl" dir="5400000" dist="25400">
              <a:srgbClr val="3D444B">
                <a:alpha val="18039"/>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7"/>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000"/>
              <a:buFont typeface="Calibri"/>
              <a:buNone/>
            </a:pPr>
            <a:r>
              <a:rPr b="1" i="0" lang="en-GB" sz="1100" u="none" cap="none" strike="noStrike">
                <a:solidFill>
                  <a:srgbClr val="4597E1"/>
                </a:solidFill>
                <a:latin typeface="Calibri"/>
                <a:ea typeface="Calibri"/>
                <a:cs typeface="Calibri"/>
                <a:sym typeface="Calibri"/>
              </a:rPr>
              <a:t>DDL COMMAND 4</a:t>
            </a:r>
            <a:endParaRPr b="0" i="0" sz="1100" u="none" cap="none" strike="noStrike">
              <a:solidFill>
                <a:schemeClr val="dk1"/>
              </a:solidFill>
              <a:latin typeface="Calibri"/>
              <a:ea typeface="Calibri"/>
              <a:cs typeface="Calibri"/>
              <a:sym typeface="Calibri"/>
            </a:endParaRPr>
          </a:p>
        </p:txBody>
      </p:sp>
      <p:sp>
        <p:nvSpPr>
          <p:cNvPr id="363" name="Google Shape;363;p27"/>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DROP — throwing away the bucket</a:t>
            </a:r>
            <a:endParaRPr b="0" i="0" sz="2000" u="none" cap="none" strike="noStrike">
              <a:solidFill>
                <a:schemeClr val="dk1"/>
              </a:solidFill>
              <a:latin typeface="Calibri"/>
              <a:ea typeface="Calibri"/>
              <a:cs typeface="Calibri"/>
              <a:sym typeface="Calibri"/>
            </a:endParaRPr>
          </a:p>
        </p:txBody>
      </p:sp>
      <p:sp>
        <p:nvSpPr>
          <p:cNvPr id="364" name="Google Shape;364;p27"/>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365" name="Google Shape;365;p27"/>
          <p:cNvSpPr/>
          <p:nvPr/>
        </p:nvSpPr>
        <p:spPr>
          <a:xfrm>
            <a:off x="411480" y="1097280"/>
            <a:ext cx="8298180" cy="72009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366" name="Google Shape;366;p27"/>
          <p:cNvSpPr/>
          <p:nvPr/>
        </p:nvSpPr>
        <p:spPr>
          <a:xfrm>
            <a:off x="492245" y="1172723"/>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300" u="none" cap="none" strike="noStrike">
                <a:solidFill>
                  <a:srgbClr val="368EDE"/>
                </a:solidFill>
                <a:latin typeface="Calibri"/>
                <a:ea typeface="Calibri"/>
                <a:cs typeface="Calibri"/>
                <a:sym typeface="Calibri"/>
              </a:rPr>
              <a:t>THE PRINCIPAL WALKS IN</a:t>
            </a:r>
            <a:endParaRPr b="0" i="0" sz="1300" u="none" cap="none" strike="noStrike">
              <a:solidFill>
                <a:schemeClr val="dk1"/>
              </a:solidFill>
              <a:latin typeface="Calibri"/>
              <a:ea typeface="Calibri"/>
              <a:cs typeface="Calibri"/>
              <a:sym typeface="Calibri"/>
            </a:endParaRPr>
          </a:p>
        </p:txBody>
      </p:sp>
      <p:sp>
        <p:nvSpPr>
          <p:cNvPr id="367" name="Google Shape;367;p27"/>
          <p:cNvSpPr/>
          <p:nvPr/>
        </p:nvSpPr>
        <p:spPr>
          <a:xfrm>
            <a:off x="585600" y="1354450"/>
            <a:ext cx="78435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500" u="none" cap="none" strike="noStrike">
                <a:solidFill>
                  <a:srgbClr val="16334D"/>
                </a:solidFill>
                <a:latin typeface="Cambria"/>
                <a:ea typeface="Cambria"/>
                <a:cs typeface="Cambria"/>
                <a:sym typeface="Cambria"/>
              </a:rPr>
              <a:t>"This batch’s program has ended. Remove the students table completely — structure and all."</a:t>
            </a:r>
            <a:endParaRPr b="0" i="0" sz="1500" u="none" cap="none" strike="noStrike">
              <a:solidFill>
                <a:schemeClr val="dk1"/>
              </a:solidFill>
              <a:latin typeface="Calibri"/>
              <a:ea typeface="Calibri"/>
              <a:cs typeface="Calibri"/>
              <a:sym typeface="Calibri"/>
            </a:endParaRPr>
          </a:p>
        </p:txBody>
      </p:sp>
      <p:sp>
        <p:nvSpPr>
          <p:cNvPr id="368" name="Google Shape;368;p27"/>
          <p:cNvSpPr/>
          <p:nvPr/>
        </p:nvSpPr>
        <p:spPr>
          <a:xfrm>
            <a:off x="404060" y="2386577"/>
            <a:ext cx="2286900" cy="113040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69" name="Google Shape;369;p27"/>
          <p:cNvSpPr/>
          <p:nvPr/>
        </p:nvSpPr>
        <p:spPr>
          <a:xfrm>
            <a:off x="548640" y="2132838"/>
            <a:ext cx="96012" cy="96012"/>
          </a:xfrm>
          <a:prstGeom prst="ellipse">
            <a:avLst/>
          </a:prstGeom>
          <a:solidFill>
            <a:srgbClr val="9FC9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70" name="Google Shape;370;p27"/>
          <p:cNvSpPr/>
          <p:nvPr/>
        </p:nvSpPr>
        <p:spPr>
          <a:xfrm>
            <a:off x="740664" y="2132838"/>
            <a:ext cx="96012" cy="96012"/>
          </a:xfrm>
          <a:prstGeom prst="ellipse">
            <a:avLst/>
          </a:prstGeom>
          <a:solidFill>
            <a:srgbClr val="89BD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71" name="Google Shape;371;p27"/>
          <p:cNvSpPr/>
          <p:nvPr/>
        </p:nvSpPr>
        <p:spPr>
          <a:xfrm>
            <a:off x="932688" y="2132838"/>
            <a:ext cx="96012" cy="96012"/>
          </a:xfrm>
          <a:prstGeom prst="ellipse">
            <a:avLst/>
          </a:prstGeom>
          <a:solidFill>
            <a:srgbClr val="549F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72" name="Google Shape;372;p27"/>
          <p:cNvSpPr/>
          <p:nvPr/>
        </p:nvSpPr>
        <p:spPr>
          <a:xfrm>
            <a:off x="548642" y="2691752"/>
            <a:ext cx="1929150" cy="61920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200" u="none" cap="none" strike="noStrike">
                <a:solidFill>
                  <a:srgbClr val="81B8E9"/>
                </a:solidFill>
                <a:latin typeface="Consolas"/>
                <a:ea typeface="Consolas"/>
                <a:cs typeface="Consolas"/>
                <a:sym typeface="Consolas"/>
              </a:rPr>
              <a:t>DROP TABLE students;</a:t>
            </a:r>
            <a:endParaRPr b="0" i="0" sz="1200" u="none" cap="none" strike="noStrike">
              <a:solidFill>
                <a:schemeClr val="dk1"/>
              </a:solidFill>
              <a:latin typeface="Calibri"/>
              <a:ea typeface="Calibri"/>
              <a:cs typeface="Calibri"/>
              <a:sym typeface="Calibri"/>
            </a:endParaRPr>
          </a:p>
        </p:txBody>
      </p:sp>
      <p:sp>
        <p:nvSpPr>
          <p:cNvPr id="373" name="Google Shape;373;p27"/>
          <p:cNvSpPr/>
          <p:nvPr/>
        </p:nvSpPr>
        <p:spPr>
          <a:xfrm>
            <a:off x="2889674" y="2023106"/>
            <a:ext cx="5820075" cy="2640375"/>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r">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374" name="Google Shape;374;p27"/>
          <p:cNvSpPr/>
          <p:nvPr/>
        </p:nvSpPr>
        <p:spPr>
          <a:xfrm>
            <a:off x="3986213"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375" name="Google Shape;375;p27"/>
          <p:cNvSpPr/>
          <p:nvPr/>
        </p:nvSpPr>
        <p:spPr>
          <a:xfrm>
            <a:off x="6531901"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376" name="Google Shape;376;p27"/>
          <p:cNvSpPr/>
          <p:nvPr/>
        </p:nvSpPr>
        <p:spPr>
          <a:xfrm>
            <a:off x="5975032" y="2791206"/>
            <a:ext cx="497204" cy="205740"/>
          </a:xfrm>
          <a:prstGeom prst="rightArrow">
            <a:avLst>
              <a:gd fmla="val 50000" name="adj1"/>
              <a:gd fmla="val 50000" name="adj2"/>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77" name="Google Shape;377;p27"/>
          <p:cNvSpPr/>
          <p:nvPr/>
        </p:nvSpPr>
        <p:spPr>
          <a:xfrm>
            <a:off x="3986213" y="2544318"/>
            <a:ext cx="1929155" cy="233172"/>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78" name="Google Shape;378;p27"/>
          <p:cNvSpPr/>
          <p:nvPr/>
        </p:nvSpPr>
        <p:spPr>
          <a:xfrm>
            <a:off x="3986213"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379" name="Google Shape;379;p27"/>
          <p:cNvSpPr/>
          <p:nvPr/>
        </p:nvSpPr>
        <p:spPr>
          <a:xfrm>
            <a:off x="462926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380" name="Google Shape;380;p27"/>
          <p:cNvSpPr/>
          <p:nvPr/>
        </p:nvSpPr>
        <p:spPr>
          <a:xfrm>
            <a:off x="5272316"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381" name="Google Shape;381;p27"/>
          <p:cNvSpPr/>
          <p:nvPr/>
        </p:nvSpPr>
        <p:spPr>
          <a:xfrm>
            <a:off x="3986213" y="2777490"/>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2" name="Google Shape;382;p27"/>
          <p:cNvSpPr/>
          <p:nvPr/>
        </p:nvSpPr>
        <p:spPr>
          <a:xfrm>
            <a:off x="3986213"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4</a:t>
            </a:r>
            <a:endParaRPr b="0" i="0" sz="1100" u="none" cap="none" strike="noStrike">
              <a:solidFill>
                <a:schemeClr val="dk1"/>
              </a:solidFill>
              <a:latin typeface="Calibri"/>
              <a:ea typeface="Calibri"/>
              <a:cs typeface="Calibri"/>
              <a:sym typeface="Calibri"/>
            </a:endParaRPr>
          </a:p>
        </p:txBody>
      </p:sp>
      <p:sp>
        <p:nvSpPr>
          <p:cNvPr id="383" name="Google Shape;383;p27"/>
          <p:cNvSpPr/>
          <p:nvPr/>
        </p:nvSpPr>
        <p:spPr>
          <a:xfrm>
            <a:off x="462926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Sneha</a:t>
            </a:r>
            <a:endParaRPr b="0" i="0" sz="1100" u="none" cap="none" strike="noStrike">
              <a:solidFill>
                <a:schemeClr val="dk1"/>
              </a:solidFill>
              <a:latin typeface="Calibri"/>
              <a:ea typeface="Calibri"/>
              <a:cs typeface="Calibri"/>
              <a:sym typeface="Calibri"/>
            </a:endParaRPr>
          </a:p>
        </p:txBody>
      </p:sp>
      <p:sp>
        <p:nvSpPr>
          <p:cNvPr id="384" name="Google Shape;384;p27"/>
          <p:cNvSpPr/>
          <p:nvPr/>
        </p:nvSpPr>
        <p:spPr>
          <a:xfrm>
            <a:off x="5272316"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ME</a:t>
            </a:r>
            <a:endParaRPr b="0" i="0" sz="1100" u="none" cap="none" strike="noStrike">
              <a:solidFill>
                <a:schemeClr val="dk1"/>
              </a:solidFill>
              <a:latin typeface="Calibri"/>
              <a:ea typeface="Calibri"/>
              <a:cs typeface="Calibri"/>
              <a:sym typeface="Calibri"/>
            </a:endParaRPr>
          </a:p>
        </p:txBody>
      </p:sp>
      <p:sp>
        <p:nvSpPr>
          <p:cNvPr id="385" name="Google Shape;385;p27"/>
          <p:cNvSpPr/>
          <p:nvPr/>
        </p:nvSpPr>
        <p:spPr>
          <a:xfrm>
            <a:off x="3986213" y="2996946"/>
            <a:ext cx="1929155" cy="219456"/>
          </a:xfrm>
          <a:prstGeom prst="rect">
            <a:avLst/>
          </a:prstGeom>
          <a:solidFill>
            <a:srgbClr val="F8FAFB"/>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6" name="Google Shape;386;p27"/>
          <p:cNvSpPr/>
          <p:nvPr/>
        </p:nvSpPr>
        <p:spPr>
          <a:xfrm>
            <a:off x="3986213"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5</a:t>
            </a:r>
            <a:endParaRPr b="0" i="0" sz="1100" u="none" cap="none" strike="noStrike">
              <a:solidFill>
                <a:schemeClr val="dk1"/>
              </a:solidFill>
              <a:latin typeface="Calibri"/>
              <a:ea typeface="Calibri"/>
              <a:cs typeface="Calibri"/>
              <a:sym typeface="Calibri"/>
            </a:endParaRPr>
          </a:p>
        </p:txBody>
      </p:sp>
      <p:sp>
        <p:nvSpPr>
          <p:cNvPr id="387" name="Google Shape;387;p27"/>
          <p:cNvSpPr/>
          <p:nvPr/>
        </p:nvSpPr>
        <p:spPr>
          <a:xfrm>
            <a:off x="4629264"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Ankit</a:t>
            </a:r>
            <a:endParaRPr b="0" i="0" sz="1100" u="none" cap="none" strike="noStrike">
              <a:solidFill>
                <a:schemeClr val="dk1"/>
              </a:solidFill>
              <a:latin typeface="Calibri"/>
              <a:ea typeface="Calibri"/>
              <a:cs typeface="Calibri"/>
              <a:sym typeface="Calibri"/>
            </a:endParaRPr>
          </a:p>
        </p:txBody>
      </p:sp>
      <p:sp>
        <p:nvSpPr>
          <p:cNvPr id="388" name="Google Shape;388;p27"/>
          <p:cNvSpPr/>
          <p:nvPr/>
        </p:nvSpPr>
        <p:spPr>
          <a:xfrm>
            <a:off x="5272316"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389" name="Google Shape;389;p27"/>
          <p:cNvSpPr/>
          <p:nvPr/>
        </p:nvSpPr>
        <p:spPr>
          <a:xfrm>
            <a:off x="3986213" y="2544318"/>
            <a:ext cx="1929155" cy="672084"/>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0" name="Google Shape;390;p27"/>
          <p:cNvSpPr/>
          <p:nvPr/>
        </p:nvSpPr>
        <p:spPr>
          <a:xfrm>
            <a:off x="6531901" y="2544318"/>
            <a:ext cx="1929155" cy="672084"/>
          </a:xfrm>
          <a:prstGeom prst="roundRect">
            <a:avLst>
              <a:gd fmla="val 6122" name="adj"/>
            </a:avLst>
          </a:prstGeom>
          <a:solidFill>
            <a:srgbClr val="FFFFFF"/>
          </a:solidFill>
          <a:ln cap="flat" cmpd="sng" w="15875">
            <a:solidFill>
              <a:srgbClr val="CAD1D8"/>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1" name="Google Shape;391;p27"/>
          <p:cNvSpPr/>
          <p:nvPr/>
        </p:nvSpPr>
        <p:spPr>
          <a:xfrm>
            <a:off x="6531901" y="2544318"/>
            <a:ext cx="1929155" cy="6720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A9C4DC"/>
              </a:buClr>
              <a:buSzPts val="800"/>
              <a:buFont typeface="Calibri"/>
              <a:buNone/>
            </a:pPr>
            <a:r>
              <a:rPr b="0" i="1" lang="en-GB" sz="1100" u="none" cap="none" strike="noStrike">
                <a:solidFill>
                  <a:srgbClr val="A9C4DC"/>
                </a:solidFill>
                <a:latin typeface="Calibri"/>
                <a:ea typeface="Calibri"/>
                <a:cs typeface="Calibri"/>
                <a:sym typeface="Calibri"/>
              </a:rPr>
              <a:t>Table no longer exists</a:t>
            </a:r>
            <a:endParaRPr b="0" i="0" sz="1100" u="none" cap="none" strike="noStrike">
              <a:solidFill>
                <a:schemeClr val="dk1"/>
              </a:solidFill>
              <a:latin typeface="Calibri"/>
              <a:ea typeface="Calibri"/>
              <a:cs typeface="Calibri"/>
              <a:sym typeface="Calibri"/>
            </a:endParaRPr>
          </a:p>
        </p:txBody>
      </p:sp>
      <p:sp>
        <p:nvSpPr>
          <p:cNvPr id="392" name="Google Shape;392;p27"/>
          <p:cNvSpPr/>
          <p:nvPr/>
        </p:nvSpPr>
        <p:spPr>
          <a:xfrm>
            <a:off x="3163742" y="3621019"/>
            <a:ext cx="5297400"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500" u="none" cap="none" strike="noStrike">
                <a:solidFill>
                  <a:srgbClr val="16334D"/>
                </a:solidFill>
                <a:latin typeface="Cambria"/>
                <a:ea typeface="Cambria"/>
                <a:cs typeface="Cambria"/>
                <a:sym typeface="Cambria"/>
              </a:rPr>
              <a:t>Analogy: throwing away the bucket</a:t>
            </a:r>
            <a:endParaRPr b="0" i="0" sz="1500" u="none" cap="none" strike="noStrike">
              <a:solidFill>
                <a:schemeClr val="dk1"/>
              </a:solidFill>
              <a:latin typeface="Calibri"/>
              <a:ea typeface="Calibri"/>
              <a:cs typeface="Calibri"/>
              <a:sym typeface="Calibri"/>
            </a:endParaRPr>
          </a:p>
        </p:txBody>
      </p:sp>
      <p:sp>
        <p:nvSpPr>
          <p:cNvPr id="393" name="Google Shape;393;p27"/>
          <p:cNvSpPr/>
          <p:nvPr/>
        </p:nvSpPr>
        <p:spPr>
          <a:xfrm>
            <a:off x="3163742" y="3895350"/>
            <a:ext cx="5297400"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400" u="none" cap="none" strike="noStrike">
                <a:solidFill>
                  <a:srgbClr val="16334D"/>
                </a:solidFill>
                <a:latin typeface="Calibri"/>
                <a:ea typeface="Calibri"/>
                <a:cs typeface="Calibri"/>
                <a:sym typeface="Calibri"/>
              </a:rPr>
              <a:t>DROP completely removes a database object — table, structure, and every row inside it — permanently. Unlike TRUNCATE, there is nothing left to reuse afterward.</a:t>
            </a:r>
            <a:endParaRPr b="0" i="0" sz="1400" u="none" cap="none" strike="noStrike">
              <a:solidFill>
                <a:schemeClr val="dk1"/>
              </a:solidFill>
              <a:latin typeface="Calibri"/>
              <a:ea typeface="Calibri"/>
              <a:cs typeface="Calibri"/>
              <a:sym typeface="Calibri"/>
            </a:endParaRPr>
          </a:p>
        </p:txBody>
      </p:sp>
      <p:pic>
        <p:nvPicPr>
          <p:cNvPr descr="/home/claude/dbms_lecture2/logo/newton_logo_transparent.png" id="394" name="Google Shape;394;p27"/>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395" name="Google Shape;395;p27"/>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14</a:t>
            </a:r>
            <a:endParaRPr b="0" i="0" sz="1100" u="none" cap="none" strike="noStrike">
              <a:solidFill>
                <a:schemeClr val="dk1"/>
              </a:solidFill>
              <a:latin typeface="Calibri"/>
              <a:ea typeface="Calibri"/>
              <a:cs typeface="Calibri"/>
              <a:sym typeface="Calibri"/>
            </a:endParaRPr>
          </a:p>
        </p:txBody>
      </p:sp>
      <p:pic>
        <p:nvPicPr>
          <p:cNvPr id="396" name="Google Shape;396;p27" title="Screenshot 2026-07-21 at 4.25.08 PM.png"/>
          <p:cNvPicPr preferRelativeResize="0"/>
          <p:nvPr/>
        </p:nvPicPr>
        <p:blipFill rotWithShape="1">
          <a:blip r:embed="rId4">
            <a:alphaModFix/>
          </a:blip>
          <a:srcRect b="0" l="0" r="0" t="0"/>
          <a:stretch/>
        </p:blipFill>
        <p:spPr>
          <a:xfrm>
            <a:off x="2848838" y="2085656"/>
            <a:ext cx="5743144" cy="1462894"/>
          </a:xfrm>
          <a:prstGeom prst="rect">
            <a:avLst/>
          </a:prstGeom>
          <a:solidFill>
            <a:srgbClr val="F8FAFB"/>
          </a:solidFill>
          <a:ln>
            <a:noFill/>
          </a:ln>
          <a:effectLst>
            <a:outerShdw blurRad="76200" rotWithShape="0" algn="bl" dir="5400000" dist="25400">
              <a:srgbClr val="3D444B">
                <a:alpha val="18039"/>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401" name="Shape 401"/>
        <p:cNvGrpSpPr/>
        <p:nvPr/>
      </p:nvGrpSpPr>
      <p:grpSpPr>
        <a:xfrm>
          <a:off x="0" y="0"/>
          <a:ext cx="0" cy="0"/>
          <a:chOff x="0" y="0"/>
          <a:chExt cx="0" cy="0"/>
        </a:xfrm>
      </p:grpSpPr>
      <p:sp>
        <p:nvSpPr>
          <p:cNvPr id="402" name="Google Shape;402;p28"/>
          <p:cNvSpPr/>
          <p:nvPr/>
        </p:nvSpPr>
        <p:spPr>
          <a:xfrm>
            <a:off x="411480" y="975368"/>
            <a:ext cx="8229600" cy="4115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1700" u="none" cap="none" strike="noStrike">
                <a:solidFill>
                  <a:srgbClr val="FFFFFF"/>
                </a:solidFill>
                <a:latin typeface="Cambria"/>
                <a:ea typeface="Cambria"/>
                <a:cs typeface="Cambria"/>
                <a:sym typeface="Cambria"/>
              </a:rPr>
              <a:t>Checkpoint — DDL</a:t>
            </a:r>
            <a:endParaRPr b="0" i="0" sz="1700" u="none" cap="none" strike="noStrike">
              <a:solidFill>
                <a:schemeClr val="dk1"/>
              </a:solidFill>
              <a:latin typeface="Calibri"/>
              <a:ea typeface="Calibri"/>
              <a:cs typeface="Calibri"/>
              <a:sym typeface="Calibri"/>
            </a:endParaRPr>
          </a:p>
        </p:txBody>
      </p:sp>
      <p:sp>
        <p:nvSpPr>
          <p:cNvPr id="403" name="Google Shape;403;p28"/>
          <p:cNvSpPr/>
          <p:nvPr/>
        </p:nvSpPr>
        <p:spPr>
          <a:xfrm>
            <a:off x="411487" y="1779281"/>
            <a:ext cx="7998750" cy="2057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DBE3EB"/>
              </a:buClr>
              <a:buSzPts val="1400"/>
              <a:buFont typeface="Calibri"/>
              <a:buNone/>
            </a:pPr>
            <a:r>
              <a:rPr b="0" i="0" lang="en-GB" sz="2000" u="none" cap="none" strike="noStrike">
                <a:solidFill>
                  <a:srgbClr val="DBE3EB"/>
                </a:solidFill>
                <a:latin typeface="Calibri"/>
                <a:ea typeface="Calibri"/>
                <a:cs typeface="Calibri"/>
                <a:sym typeface="Calibri"/>
              </a:rPr>
              <a:t>1.  Which command removes only the records inside a table?</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DBE3EB"/>
              </a:buClr>
              <a:buSzPts val="1400"/>
              <a:buFont typeface="Calibri"/>
              <a:buNone/>
            </a:pPr>
            <a:r>
              <a:rPr b="0" i="0" lang="en-GB" sz="2000" u="none" cap="none" strike="noStrike">
                <a:solidFill>
                  <a:srgbClr val="DBE3EB"/>
                </a:solidFill>
                <a:latin typeface="Calibri"/>
                <a:ea typeface="Calibri"/>
                <a:cs typeface="Calibri"/>
                <a:sym typeface="Calibri"/>
              </a:rPr>
              <a:t>2.  Which command removes the complete table itself?</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DBE3EB"/>
              </a:buClr>
              <a:buSzPts val="1400"/>
              <a:buFont typeface="Calibri"/>
              <a:buNone/>
            </a:pPr>
            <a:r>
              <a:rPr b="0" i="0" lang="en-GB" sz="2000" u="none" cap="none" strike="noStrike">
                <a:solidFill>
                  <a:srgbClr val="DBE3EB"/>
                </a:solidFill>
                <a:latin typeface="Calibri"/>
                <a:ea typeface="Calibri"/>
                <a:cs typeface="Calibri"/>
                <a:sym typeface="Calibri"/>
              </a:rPr>
              <a:t>3.  Why might ALTER become important as an application evolves?</a:t>
            </a:r>
            <a:endParaRPr b="0" i="0" sz="2000" u="none" cap="none" strike="noStrike">
              <a:solidFill>
                <a:schemeClr val="dk1"/>
              </a:solidFill>
              <a:latin typeface="Calibri"/>
              <a:ea typeface="Calibri"/>
              <a:cs typeface="Calibri"/>
              <a:sym typeface="Calibri"/>
            </a:endParaRPr>
          </a:p>
        </p:txBody>
      </p:sp>
      <p:pic>
        <p:nvPicPr>
          <p:cNvPr descr="/home/claude/dbms_lecture2/logo/newton_logo_white.png" id="404" name="Google Shape;404;p28"/>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405" name="Google Shape;405;p28"/>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410" name="Shape 410"/>
        <p:cNvGrpSpPr/>
        <p:nvPr/>
      </p:nvGrpSpPr>
      <p:grpSpPr>
        <a:xfrm>
          <a:off x="0" y="0"/>
          <a:ext cx="0" cy="0"/>
          <a:chOff x="0" y="0"/>
          <a:chExt cx="0" cy="0"/>
        </a:xfrm>
      </p:grpSpPr>
      <p:sp>
        <p:nvSpPr>
          <p:cNvPr id="411" name="Google Shape;411;p29"/>
          <p:cNvSpPr/>
          <p:nvPr/>
        </p:nvSpPr>
        <p:spPr>
          <a:xfrm>
            <a:off x="411505" y="455768"/>
            <a:ext cx="82296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1700" u="none" cap="none" strike="noStrike">
                <a:solidFill>
                  <a:srgbClr val="FFFFFF"/>
                </a:solidFill>
                <a:latin typeface="Cambria"/>
                <a:ea typeface="Cambria"/>
                <a:cs typeface="Cambria"/>
                <a:sym typeface="Cambria"/>
              </a:rPr>
              <a:t>Checkpoint — DDL</a:t>
            </a:r>
            <a:endParaRPr b="0" i="0" sz="1700" u="none" cap="none" strike="noStrike">
              <a:solidFill>
                <a:schemeClr val="dk1"/>
              </a:solidFill>
              <a:latin typeface="Calibri"/>
              <a:ea typeface="Calibri"/>
              <a:cs typeface="Calibri"/>
              <a:sym typeface="Calibri"/>
            </a:endParaRPr>
          </a:p>
        </p:txBody>
      </p:sp>
      <p:sp>
        <p:nvSpPr>
          <p:cNvPr id="412" name="Google Shape;412;p29"/>
          <p:cNvSpPr/>
          <p:nvPr/>
        </p:nvSpPr>
        <p:spPr>
          <a:xfrm>
            <a:off x="411500" y="1097449"/>
            <a:ext cx="7998900" cy="3663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300"/>
              <a:buFont typeface="Calibri"/>
              <a:buNone/>
            </a:pPr>
            <a:r>
              <a:rPr b="1" i="0" lang="en-GB" sz="1700" u="none" cap="none" strike="noStrike">
                <a:solidFill>
                  <a:schemeClr val="lt1"/>
                </a:solidFill>
                <a:latin typeface="Calibri"/>
                <a:ea typeface="Calibri"/>
                <a:cs typeface="Calibri"/>
                <a:sym typeface="Calibri"/>
              </a:rPr>
              <a:t>1.  Which command removes only the records inside a table?</a:t>
            </a:r>
            <a:endParaRPr b="0" i="0" sz="16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7AB5E9"/>
              </a:buClr>
              <a:buSzPts val="1100"/>
              <a:buFont typeface="Calibri"/>
              <a:buNone/>
            </a:pPr>
            <a:r>
              <a:rPr b="1" i="0" lang="en-GB" sz="1700" u="none" cap="none" strike="noStrike">
                <a:solidFill>
                  <a:srgbClr val="7AB5E9"/>
                </a:solidFill>
                <a:latin typeface="Calibri"/>
                <a:ea typeface="Calibri"/>
                <a:cs typeface="Calibri"/>
                <a:sym typeface="Calibri"/>
              </a:rPr>
              <a:t>A: </a:t>
            </a:r>
            <a:r>
              <a:rPr b="0" i="0" lang="en-GB" sz="1700" u="none" cap="none" strike="noStrike">
                <a:solidFill>
                  <a:srgbClr val="EAEDF0"/>
                </a:solidFill>
                <a:latin typeface="Calibri"/>
                <a:ea typeface="Calibri"/>
                <a:cs typeface="Calibri"/>
                <a:sym typeface="Calibri"/>
              </a:rPr>
              <a:t>TRUNCATE — removes all rows instantly but keeps the table structure intact for reuse.</a:t>
            </a:r>
            <a:endParaRPr b="0" i="0" sz="1700" u="none" cap="none" strike="noStrike">
              <a:solidFill>
                <a:srgbClr val="EAEDF0"/>
              </a:solidFill>
              <a:latin typeface="Calibri"/>
              <a:ea typeface="Calibri"/>
              <a:cs typeface="Calibri"/>
              <a:sym typeface="Calibri"/>
            </a:endParaRPr>
          </a:p>
          <a:p>
            <a:pPr indent="0" lvl="0" marL="177800" marR="0" rtl="0" algn="l">
              <a:lnSpc>
                <a:spcPct val="100000"/>
              </a:lnSpc>
              <a:spcBef>
                <a:spcPts val="300"/>
              </a:spcBef>
              <a:spcAft>
                <a:spcPts val="0"/>
              </a:spcAft>
              <a:buClr>
                <a:srgbClr val="7AB5E9"/>
              </a:buClr>
              <a:buSzPts val="1100"/>
              <a:buFont typeface="Calibri"/>
              <a:buNone/>
            </a:pPr>
            <a:r>
              <a:t/>
            </a:r>
            <a:endParaRPr sz="1700">
              <a:solidFill>
                <a:srgbClr val="EAEDF0"/>
              </a:solidFill>
              <a:latin typeface="Calibri"/>
              <a:ea typeface="Calibri"/>
              <a:cs typeface="Calibri"/>
              <a:sym typeface="Calibri"/>
            </a:endParaRPr>
          </a:p>
          <a:p>
            <a:pPr indent="0" lvl="0" marL="0" marR="0" rtl="0" algn="l">
              <a:lnSpc>
                <a:spcPct val="100000"/>
              </a:lnSpc>
              <a:spcBef>
                <a:spcPts val="1100"/>
              </a:spcBef>
              <a:spcAft>
                <a:spcPts val="0"/>
              </a:spcAft>
              <a:buClr>
                <a:schemeClr val="lt1"/>
              </a:buClr>
              <a:buSzPts val="1300"/>
              <a:buFont typeface="Calibri"/>
              <a:buNone/>
            </a:pPr>
            <a:r>
              <a:rPr b="1" i="0" lang="en-GB" sz="1700" u="none" cap="none" strike="noStrike">
                <a:solidFill>
                  <a:schemeClr val="lt1"/>
                </a:solidFill>
                <a:latin typeface="Calibri"/>
                <a:ea typeface="Calibri"/>
                <a:cs typeface="Calibri"/>
                <a:sym typeface="Calibri"/>
              </a:rPr>
              <a:t>2.  Which command removes the complete table itself?</a:t>
            </a:r>
            <a:endParaRPr b="0" i="0" sz="16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7AB5E9"/>
              </a:buClr>
              <a:buSzPts val="1100"/>
              <a:buFont typeface="Calibri"/>
              <a:buNone/>
            </a:pPr>
            <a:r>
              <a:rPr b="1" i="0" lang="en-GB" sz="1700" u="none" cap="none" strike="noStrike">
                <a:solidFill>
                  <a:srgbClr val="7AB5E9"/>
                </a:solidFill>
                <a:latin typeface="Calibri"/>
                <a:ea typeface="Calibri"/>
                <a:cs typeface="Calibri"/>
                <a:sym typeface="Calibri"/>
              </a:rPr>
              <a:t>A: </a:t>
            </a:r>
            <a:r>
              <a:rPr b="0" i="0" lang="en-GB" sz="1700" u="none" cap="none" strike="noStrike">
                <a:solidFill>
                  <a:srgbClr val="EAEDF0"/>
                </a:solidFill>
                <a:latin typeface="Calibri"/>
                <a:ea typeface="Calibri"/>
                <a:cs typeface="Calibri"/>
                <a:sym typeface="Calibri"/>
              </a:rPr>
              <a:t>DROP — deletes the table's structure and data permanently; nothing is left to reuse.</a:t>
            </a:r>
            <a:endParaRPr b="0" i="0" sz="1700" u="none" cap="none" strike="noStrike">
              <a:solidFill>
                <a:srgbClr val="EAEDF0"/>
              </a:solidFill>
              <a:latin typeface="Calibri"/>
              <a:ea typeface="Calibri"/>
              <a:cs typeface="Calibri"/>
              <a:sym typeface="Calibri"/>
            </a:endParaRPr>
          </a:p>
          <a:p>
            <a:pPr indent="0" lvl="0" marL="177800" marR="0" rtl="0" algn="l">
              <a:lnSpc>
                <a:spcPct val="100000"/>
              </a:lnSpc>
              <a:spcBef>
                <a:spcPts val="300"/>
              </a:spcBef>
              <a:spcAft>
                <a:spcPts val="0"/>
              </a:spcAft>
              <a:buClr>
                <a:srgbClr val="7AB5E9"/>
              </a:buClr>
              <a:buSzPts val="1100"/>
              <a:buFont typeface="Calibri"/>
              <a:buNone/>
            </a:pPr>
            <a:r>
              <a:t/>
            </a:r>
            <a:endParaRPr sz="1700">
              <a:solidFill>
                <a:srgbClr val="EAEDF0"/>
              </a:solidFill>
              <a:latin typeface="Calibri"/>
              <a:ea typeface="Calibri"/>
              <a:cs typeface="Calibri"/>
              <a:sym typeface="Calibri"/>
            </a:endParaRPr>
          </a:p>
          <a:p>
            <a:pPr indent="0" lvl="0" marL="0" marR="0" rtl="0" algn="l">
              <a:lnSpc>
                <a:spcPct val="100000"/>
              </a:lnSpc>
              <a:spcBef>
                <a:spcPts val="1100"/>
              </a:spcBef>
              <a:spcAft>
                <a:spcPts val="0"/>
              </a:spcAft>
              <a:buClr>
                <a:schemeClr val="lt1"/>
              </a:buClr>
              <a:buSzPts val="1300"/>
              <a:buFont typeface="Calibri"/>
              <a:buNone/>
            </a:pPr>
            <a:r>
              <a:rPr b="1" i="0" lang="en-GB" sz="1700" u="none" cap="none" strike="noStrike">
                <a:solidFill>
                  <a:schemeClr val="lt1"/>
                </a:solidFill>
                <a:latin typeface="Calibri"/>
                <a:ea typeface="Calibri"/>
                <a:cs typeface="Calibri"/>
                <a:sym typeface="Calibri"/>
              </a:rPr>
              <a:t>3.  Why might ALTER become important as an application evolves?</a:t>
            </a:r>
            <a:endParaRPr b="0" i="0" sz="16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7AB5E9"/>
              </a:buClr>
              <a:buSzPts val="1100"/>
              <a:buFont typeface="Calibri"/>
              <a:buNone/>
            </a:pPr>
            <a:r>
              <a:rPr b="1" i="0" lang="en-GB" sz="1700" u="none" cap="none" strike="noStrike">
                <a:solidFill>
                  <a:srgbClr val="7AB5E9"/>
                </a:solidFill>
                <a:latin typeface="Calibri"/>
                <a:ea typeface="Calibri"/>
                <a:cs typeface="Calibri"/>
                <a:sym typeface="Calibri"/>
              </a:rPr>
              <a:t>A: </a:t>
            </a:r>
            <a:r>
              <a:rPr b="0" i="0" lang="en-GB" sz="1700" u="none" cap="none" strike="noStrike">
                <a:solidFill>
                  <a:srgbClr val="EAEDF0"/>
                </a:solidFill>
                <a:latin typeface="Calibri"/>
                <a:ea typeface="Calibri"/>
                <a:cs typeface="Calibri"/>
                <a:sym typeface="Calibri"/>
              </a:rPr>
              <a:t>Requirements change over time — ALTER lets you add, modify, or drop columns and constraints without losing existing data or rebuilding the table.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DBE3EB"/>
              </a:buClr>
              <a:buSzPts val="1400"/>
              <a:buFont typeface="Calibri"/>
              <a:buNone/>
            </a:pPr>
            <a:r>
              <a:t/>
            </a:r>
            <a:endParaRPr b="0" i="0" sz="1700" u="none" cap="none" strike="noStrike">
              <a:solidFill>
                <a:srgbClr val="DBE3EB"/>
              </a:solidFill>
              <a:latin typeface="Calibri"/>
              <a:ea typeface="Calibri"/>
              <a:cs typeface="Calibri"/>
              <a:sym typeface="Calibri"/>
            </a:endParaRPr>
          </a:p>
        </p:txBody>
      </p:sp>
      <p:pic>
        <p:nvPicPr>
          <p:cNvPr descr="/home/claude/dbms_lecture2/logo/newton_logo_white.png" id="413" name="Google Shape;413;p29"/>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414" name="Google Shape;414;p29"/>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0"/>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79C4"/>
              </a:buClr>
              <a:buSzPts val="1000"/>
              <a:buFont typeface="Calibri"/>
              <a:buNone/>
            </a:pPr>
            <a:r>
              <a:rPr b="1" i="0" lang="en-GB" sz="1400" u="none" cap="none" strike="noStrike">
                <a:solidFill>
                  <a:srgbClr val="2579C4"/>
                </a:solidFill>
                <a:latin typeface="Calibri"/>
                <a:ea typeface="Calibri"/>
                <a:cs typeface="Calibri"/>
                <a:sym typeface="Calibri"/>
              </a:rPr>
              <a:t>PART 4 — DML</a:t>
            </a:r>
            <a:endParaRPr b="0" i="0" sz="1400" u="none" cap="none" strike="noStrike">
              <a:solidFill>
                <a:schemeClr val="dk1"/>
              </a:solidFill>
              <a:latin typeface="Calibri"/>
              <a:ea typeface="Calibri"/>
              <a:cs typeface="Calibri"/>
              <a:sym typeface="Calibri"/>
            </a:endParaRPr>
          </a:p>
        </p:txBody>
      </p:sp>
      <p:sp>
        <p:nvSpPr>
          <p:cNvPr id="421" name="Google Shape;421;p30"/>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DML: Data Manipulation Language</a:t>
            </a:r>
            <a:endParaRPr b="0" i="0" sz="2000" u="none" cap="none" strike="noStrike">
              <a:solidFill>
                <a:schemeClr val="dk1"/>
              </a:solidFill>
              <a:latin typeface="Calibri"/>
              <a:ea typeface="Calibri"/>
              <a:cs typeface="Calibri"/>
              <a:sym typeface="Calibri"/>
            </a:endParaRPr>
          </a:p>
        </p:txBody>
      </p:sp>
      <p:sp>
        <p:nvSpPr>
          <p:cNvPr id="422" name="Google Shape;422;p30"/>
          <p:cNvSpPr/>
          <p:nvPr/>
        </p:nvSpPr>
        <p:spPr>
          <a:xfrm>
            <a:off x="411488" y="1268738"/>
            <a:ext cx="7634925" cy="3154725"/>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0"/>
          <p:cNvSpPr/>
          <p:nvPr/>
        </p:nvSpPr>
        <p:spPr>
          <a:xfrm>
            <a:off x="651510" y="1474470"/>
            <a:ext cx="4526280" cy="6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400"/>
              <a:buFont typeface="Cambria"/>
              <a:buNone/>
            </a:pPr>
            <a:r>
              <a:rPr b="1" i="0" lang="en-GB" sz="1700" u="none" cap="none" strike="noStrike">
                <a:solidFill>
                  <a:srgbClr val="16334D"/>
                </a:solidFill>
                <a:latin typeface="Cambria"/>
                <a:ea typeface="Cambria"/>
                <a:cs typeface="Cambria"/>
                <a:sym typeface="Cambria"/>
              </a:rPr>
              <a:t>If DDL builds the structure, DML handles the contents — it’s how we work with the data actually living inside tables.</a:t>
            </a:r>
            <a:endParaRPr b="0" i="0" sz="1700" u="none" cap="none" strike="noStrike">
              <a:solidFill>
                <a:schemeClr val="dk1"/>
              </a:solidFill>
              <a:latin typeface="Calibri"/>
              <a:ea typeface="Calibri"/>
              <a:cs typeface="Calibri"/>
              <a:sym typeface="Calibri"/>
            </a:endParaRPr>
          </a:p>
        </p:txBody>
      </p:sp>
      <p:sp>
        <p:nvSpPr>
          <p:cNvPr id="424" name="Google Shape;424;p30"/>
          <p:cNvSpPr/>
          <p:nvPr/>
        </p:nvSpPr>
        <p:spPr>
          <a:xfrm>
            <a:off x="651510" y="2263140"/>
            <a:ext cx="41148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98DBD"/>
              </a:buClr>
              <a:buSzPts val="1100"/>
              <a:buFont typeface="Calibri"/>
              <a:buNone/>
            </a:pPr>
            <a:r>
              <a:rPr b="1" i="0" lang="en-GB" sz="1400" u="none" cap="none" strike="noStrike">
                <a:solidFill>
                  <a:srgbClr val="598DBD"/>
                </a:solidFill>
                <a:latin typeface="Calibri"/>
                <a:ea typeface="Calibri"/>
                <a:cs typeface="Calibri"/>
                <a:sym typeface="Calibri"/>
              </a:rPr>
              <a:t>Four commands to know:</a:t>
            </a:r>
            <a:endParaRPr b="0" i="0" sz="1400" u="none" cap="none" strike="noStrike">
              <a:solidFill>
                <a:schemeClr val="dk1"/>
              </a:solidFill>
              <a:latin typeface="Calibri"/>
              <a:ea typeface="Calibri"/>
              <a:cs typeface="Calibri"/>
              <a:sym typeface="Calibri"/>
            </a:endParaRPr>
          </a:p>
        </p:txBody>
      </p:sp>
      <p:sp>
        <p:nvSpPr>
          <p:cNvPr id="425" name="Google Shape;425;p30"/>
          <p:cNvSpPr/>
          <p:nvPr/>
        </p:nvSpPr>
        <p:spPr>
          <a:xfrm>
            <a:off x="685800" y="2537460"/>
            <a:ext cx="4251960" cy="1371600"/>
          </a:xfrm>
          <a:prstGeom prst="rect">
            <a:avLst/>
          </a:prstGeom>
          <a:noFill/>
          <a:ln>
            <a:noFill/>
          </a:ln>
        </p:spPr>
        <p:txBody>
          <a:bodyPr anchorCtr="0" anchor="ctr" bIns="34275" lIns="68575" spcFirstLastPara="1" rIns="68575" wrap="square" tIns="34275">
            <a:noAutofit/>
          </a:bodyPr>
          <a:lstStyle/>
          <a:p>
            <a:pPr indent="-247650" lvl="0" marL="254000" marR="0" rtl="0" algn="l">
              <a:lnSpc>
                <a:spcPct val="100000"/>
              </a:lnSpc>
              <a:spcBef>
                <a:spcPts val="0"/>
              </a:spcBef>
              <a:spcAft>
                <a:spcPts val="0"/>
              </a:spcAft>
              <a:buClr>
                <a:srgbClr val="2579C4"/>
              </a:buClr>
              <a:buSzPts val="1500"/>
              <a:buFont typeface="Calibri"/>
              <a:buChar char="■"/>
            </a:pPr>
            <a:r>
              <a:rPr b="0" i="0" lang="en-GB" sz="1500" u="none" cap="none" strike="noStrike">
                <a:solidFill>
                  <a:srgbClr val="2579C4"/>
                </a:solidFill>
                <a:latin typeface="Calibri"/>
                <a:ea typeface="Calibri"/>
                <a:cs typeface="Calibri"/>
                <a:sym typeface="Calibri"/>
              </a:rPr>
              <a:t>INSERT — add new rows</a:t>
            </a:r>
            <a:endParaRPr b="0" i="0" sz="1500" u="none" cap="none" strike="noStrike">
              <a:solidFill>
                <a:schemeClr val="dk1"/>
              </a:solidFill>
              <a:latin typeface="Calibri"/>
              <a:ea typeface="Calibri"/>
              <a:cs typeface="Calibri"/>
              <a:sym typeface="Calibri"/>
            </a:endParaRPr>
          </a:p>
          <a:p>
            <a:pPr indent="-247650" lvl="0" marL="254000" marR="0" rtl="0" algn="l">
              <a:lnSpc>
                <a:spcPct val="100000"/>
              </a:lnSpc>
              <a:spcBef>
                <a:spcPts val="800"/>
              </a:spcBef>
              <a:spcAft>
                <a:spcPts val="0"/>
              </a:spcAft>
              <a:buClr>
                <a:srgbClr val="2579C4"/>
              </a:buClr>
              <a:buSzPts val="1500"/>
              <a:buFont typeface="Calibri"/>
              <a:buChar char="■"/>
            </a:pPr>
            <a:r>
              <a:rPr b="0" i="0" lang="en-GB" sz="1500" u="none" cap="none" strike="noStrike">
                <a:solidFill>
                  <a:srgbClr val="2579C4"/>
                </a:solidFill>
                <a:latin typeface="Calibri"/>
                <a:ea typeface="Calibri"/>
                <a:cs typeface="Calibri"/>
                <a:sym typeface="Calibri"/>
              </a:rPr>
              <a:t>SELECT — retrieve rows</a:t>
            </a:r>
            <a:endParaRPr b="0" i="0" sz="1500" u="none" cap="none" strike="noStrike">
              <a:solidFill>
                <a:schemeClr val="dk1"/>
              </a:solidFill>
              <a:latin typeface="Calibri"/>
              <a:ea typeface="Calibri"/>
              <a:cs typeface="Calibri"/>
              <a:sym typeface="Calibri"/>
            </a:endParaRPr>
          </a:p>
          <a:p>
            <a:pPr indent="-247650" lvl="0" marL="254000" marR="0" rtl="0" algn="l">
              <a:lnSpc>
                <a:spcPct val="100000"/>
              </a:lnSpc>
              <a:spcBef>
                <a:spcPts val="800"/>
              </a:spcBef>
              <a:spcAft>
                <a:spcPts val="0"/>
              </a:spcAft>
              <a:buClr>
                <a:srgbClr val="2579C4"/>
              </a:buClr>
              <a:buSzPts val="1500"/>
              <a:buFont typeface="Calibri"/>
              <a:buChar char="■"/>
            </a:pPr>
            <a:r>
              <a:rPr b="0" i="0" lang="en-GB" sz="1500" u="none" cap="none" strike="noStrike">
                <a:solidFill>
                  <a:srgbClr val="2579C4"/>
                </a:solidFill>
                <a:latin typeface="Calibri"/>
                <a:ea typeface="Calibri"/>
                <a:cs typeface="Calibri"/>
                <a:sym typeface="Calibri"/>
              </a:rPr>
              <a:t>UPDATE — modify existing rows</a:t>
            </a:r>
            <a:endParaRPr b="0" i="0" sz="1500" u="none" cap="none" strike="noStrike">
              <a:solidFill>
                <a:schemeClr val="dk1"/>
              </a:solidFill>
              <a:latin typeface="Calibri"/>
              <a:ea typeface="Calibri"/>
              <a:cs typeface="Calibri"/>
              <a:sym typeface="Calibri"/>
            </a:endParaRPr>
          </a:p>
          <a:p>
            <a:pPr indent="-247650" lvl="0" marL="254000" marR="0" rtl="0" algn="l">
              <a:lnSpc>
                <a:spcPct val="100000"/>
              </a:lnSpc>
              <a:spcBef>
                <a:spcPts val="800"/>
              </a:spcBef>
              <a:spcAft>
                <a:spcPts val="0"/>
              </a:spcAft>
              <a:buClr>
                <a:srgbClr val="2579C4"/>
              </a:buClr>
              <a:buSzPts val="1500"/>
              <a:buFont typeface="Calibri"/>
              <a:buChar char="■"/>
            </a:pPr>
            <a:r>
              <a:rPr b="0" i="0" lang="en-GB" sz="1500" u="none" cap="none" strike="noStrike">
                <a:solidFill>
                  <a:srgbClr val="2579C4"/>
                </a:solidFill>
                <a:latin typeface="Calibri"/>
                <a:ea typeface="Calibri"/>
                <a:cs typeface="Calibri"/>
                <a:sym typeface="Calibri"/>
              </a:rPr>
              <a:t>DELETE — remove selected rows</a:t>
            </a:r>
            <a:endParaRPr b="0" i="0" sz="1500" u="none" cap="none" strike="noStrike">
              <a:solidFill>
                <a:schemeClr val="dk1"/>
              </a:solidFill>
              <a:latin typeface="Calibri"/>
              <a:ea typeface="Calibri"/>
              <a:cs typeface="Calibri"/>
              <a:sym typeface="Calibri"/>
            </a:endParaRPr>
          </a:p>
        </p:txBody>
      </p:sp>
      <p:sp>
        <p:nvSpPr>
          <p:cNvPr id="426" name="Google Shape;426;p30"/>
          <p:cNvSpPr/>
          <p:nvPr/>
        </p:nvSpPr>
        <p:spPr>
          <a:xfrm rot="2700000">
            <a:off x="7971053" y="2527173"/>
            <a:ext cx="37033" cy="226314"/>
          </a:xfrm>
          <a:prstGeom prst="roundRect">
            <a:avLst>
              <a:gd fmla="val 16667"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7" name="Google Shape;427;p30"/>
          <p:cNvSpPr/>
          <p:nvPr/>
        </p:nvSpPr>
        <p:spPr>
          <a:xfrm rot="-6600000">
            <a:off x="8026604" y="2677364"/>
            <a:ext cx="65837" cy="65836"/>
          </a:xfrm>
          <a:prstGeom prst="triangle">
            <a:avLst>
              <a:gd fmla="val 50000"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dbms_lecture2/logo/newton_logo_transparent.png" id="428" name="Google Shape;428;p30"/>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429" name="Google Shape;429;p30"/>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16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1"/>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79C4"/>
              </a:buClr>
              <a:buSzPts val="1000"/>
              <a:buFont typeface="Calibri"/>
              <a:buNone/>
            </a:pPr>
            <a:r>
              <a:rPr b="1" i="0" lang="en-GB" sz="1100" u="none" cap="none" strike="noStrike">
                <a:solidFill>
                  <a:srgbClr val="2579C4"/>
                </a:solidFill>
                <a:latin typeface="Calibri"/>
                <a:ea typeface="Calibri"/>
                <a:cs typeface="Calibri"/>
                <a:sym typeface="Calibri"/>
              </a:rPr>
              <a:t>DML COMMAND 1</a:t>
            </a:r>
            <a:endParaRPr b="0" i="0" sz="1100" u="none" cap="none" strike="noStrike">
              <a:solidFill>
                <a:schemeClr val="dk1"/>
              </a:solidFill>
              <a:latin typeface="Calibri"/>
              <a:ea typeface="Calibri"/>
              <a:cs typeface="Calibri"/>
              <a:sym typeface="Calibri"/>
            </a:endParaRPr>
          </a:p>
        </p:txBody>
      </p:sp>
      <p:sp>
        <p:nvSpPr>
          <p:cNvPr id="436" name="Google Shape;436;p31"/>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INSERT — enrolling a new student</a:t>
            </a:r>
            <a:endParaRPr b="0" i="0" sz="2000" u="none" cap="none" strike="noStrike">
              <a:solidFill>
                <a:schemeClr val="dk1"/>
              </a:solidFill>
              <a:latin typeface="Calibri"/>
              <a:ea typeface="Calibri"/>
              <a:cs typeface="Calibri"/>
              <a:sym typeface="Calibri"/>
            </a:endParaRPr>
          </a:p>
        </p:txBody>
      </p:sp>
      <p:sp>
        <p:nvSpPr>
          <p:cNvPr id="437" name="Google Shape;437;p31"/>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438" name="Google Shape;438;p31"/>
          <p:cNvSpPr/>
          <p:nvPr/>
        </p:nvSpPr>
        <p:spPr>
          <a:xfrm>
            <a:off x="411488" y="1097288"/>
            <a:ext cx="8392950" cy="72000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439" name="Google Shape;439;p31"/>
          <p:cNvSpPr/>
          <p:nvPr/>
        </p:nvSpPr>
        <p:spPr>
          <a:xfrm>
            <a:off x="479995" y="1176123"/>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300" u="none" cap="none" strike="noStrike">
                <a:solidFill>
                  <a:srgbClr val="368EDE"/>
                </a:solidFill>
                <a:latin typeface="Calibri"/>
                <a:ea typeface="Calibri"/>
                <a:cs typeface="Calibri"/>
                <a:sym typeface="Calibri"/>
              </a:rPr>
              <a:t>THE PRINCIPAL WALKS IN</a:t>
            </a:r>
            <a:endParaRPr b="0" i="0" sz="1300" u="none" cap="none" strike="noStrike">
              <a:solidFill>
                <a:schemeClr val="dk1"/>
              </a:solidFill>
              <a:latin typeface="Calibri"/>
              <a:ea typeface="Calibri"/>
              <a:cs typeface="Calibri"/>
              <a:sym typeface="Calibri"/>
            </a:endParaRPr>
          </a:p>
        </p:txBody>
      </p:sp>
      <p:sp>
        <p:nvSpPr>
          <p:cNvPr id="440" name="Google Shape;440;p31"/>
          <p:cNvSpPr/>
          <p:nvPr/>
        </p:nvSpPr>
        <p:spPr>
          <a:xfrm>
            <a:off x="479995" y="1357822"/>
            <a:ext cx="73380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500" u="none" cap="none" strike="noStrike">
                <a:solidFill>
                  <a:srgbClr val="16334D"/>
                </a:solidFill>
                <a:latin typeface="Cambria"/>
                <a:ea typeface="Cambria"/>
                <a:cs typeface="Cambria"/>
                <a:sym typeface="Cambria"/>
              </a:rPr>
              <a:t>"A new student just joined CSE. Add their record to the roll."</a:t>
            </a:r>
            <a:endParaRPr b="0" i="0" sz="1500" u="none" cap="none" strike="noStrike">
              <a:solidFill>
                <a:schemeClr val="dk1"/>
              </a:solidFill>
              <a:latin typeface="Calibri"/>
              <a:ea typeface="Calibri"/>
              <a:cs typeface="Calibri"/>
              <a:sym typeface="Calibri"/>
            </a:endParaRPr>
          </a:p>
        </p:txBody>
      </p:sp>
      <p:sp>
        <p:nvSpPr>
          <p:cNvPr id="441" name="Google Shape;441;p31"/>
          <p:cNvSpPr/>
          <p:nvPr/>
        </p:nvSpPr>
        <p:spPr>
          <a:xfrm>
            <a:off x="411487" y="2599164"/>
            <a:ext cx="2811825" cy="155070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442" name="Google Shape;442;p31"/>
          <p:cNvSpPr/>
          <p:nvPr/>
        </p:nvSpPr>
        <p:spPr>
          <a:xfrm>
            <a:off x="548640" y="2132838"/>
            <a:ext cx="96012" cy="96012"/>
          </a:xfrm>
          <a:prstGeom prst="ellipse">
            <a:avLst/>
          </a:prstGeom>
          <a:solidFill>
            <a:srgbClr val="9FC9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3" name="Google Shape;443;p31"/>
          <p:cNvSpPr/>
          <p:nvPr/>
        </p:nvSpPr>
        <p:spPr>
          <a:xfrm>
            <a:off x="740664" y="2132838"/>
            <a:ext cx="96012" cy="96012"/>
          </a:xfrm>
          <a:prstGeom prst="ellipse">
            <a:avLst/>
          </a:prstGeom>
          <a:solidFill>
            <a:srgbClr val="89BD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4" name="Google Shape;444;p31"/>
          <p:cNvSpPr/>
          <p:nvPr/>
        </p:nvSpPr>
        <p:spPr>
          <a:xfrm>
            <a:off x="932688" y="2132838"/>
            <a:ext cx="96012" cy="96012"/>
          </a:xfrm>
          <a:prstGeom prst="ellipse">
            <a:avLst/>
          </a:prstGeom>
          <a:solidFill>
            <a:srgbClr val="549F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5" name="Google Shape;445;p31"/>
          <p:cNvSpPr/>
          <p:nvPr/>
        </p:nvSpPr>
        <p:spPr>
          <a:xfrm>
            <a:off x="448462" y="2637076"/>
            <a:ext cx="2811825" cy="1622475"/>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700" u="none" cap="none" strike="noStrike">
                <a:solidFill>
                  <a:srgbClr val="81B8E9"/>
                </a:solidFill>
                <a:latin typeface="Consolas"/>
                <a:ea typeface="Consolas"/>
                <a:cs typeface="Consolas"/>
                <a:sym typeface="Consolas"/>
              </a:rPr>
              <a:t>INSERT INTO students</a:t>
            </a:r>
            <a:endParaRPr b="0" i="0" sz="17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BEEF1"/>
              </a:buClr>
              <a:buSzPts val="1100"/>
              <a:buFont typeface="Consolas"/>
              <a:buNone/>
            </a:pPr>
            <a:r>
              <a:rPr b="0" i="0" lang="en-GB" sz="1700" u="none" cap="none" strike="noStrike">
                <a:solidFill>
                  <a:srgbClr val="EBEEF1"/>
                </a:solidFill>
                <a:latin typeface="Consolas"/>
                <a:ea typeface="Consolas"/>
                <a:cs typeface="Consolas"/>
                <a:sym typeface="Consolas"/>
              </a:rPr>
              <a:t>  (id, name, branch)</a:t>
            </a:r>
            <a:endParaRPr b="0" i="0" sz="17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81B8E9"/>
              </a:buClr>
              <a:buSzPts val="1100"/>
              <a:buFont typeface="Consolas"/>
              <a:buNone/>
            </a:pPr>
            <a:r>
              <a:rPr b="0" i="0" lang="en-GB" sz="1700" u="none" cap="none" strike="noStrike">
                <a:solidFill>
                  <a:srgbClr val="81B8E9"/>
                </a:solidFill>
                <a:latin typeface="Consolas"/>
                <a:ea typeface="Consolas"/>
                <a:cs typeface="Consolas"/>
                <a:sym typeface="Consolas"/>
              </a:rPr>
              <a:t>VALUES</a:t>
            </a:r>
            <a:endParaRPr b="0" i="0" sz="17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8FBBE3"/>
              </a:buClr>
              <a:buSzPts val="1100"/>
              <a:buFont typeface="Consolas"/>
              <a:buNone/>
            </a:pPr>
            <a:r>
              <a:rPr b="0" i="0" lang="en-GB" sz="1700" u="none" cap="none" strike="noStrike">
                <a:solidFill>
                  <a:srgbClr val="8FBBE3"/>
                </a:solidFill>
                <a:latin typeface="Consolas"/>
                <a:ea typeface="Consolas"/>
                <a:cs typeface="Consolas"/>
                <a:sym typeface="Consolas"/>
              </a:rPr>
              <a:t>  (7, 'Kabir', 'CSE');</a:t>
            </a:r>
            <a:endParaRPr b="0" i="0" sz="1700" u="none" cap="none" strike="noStrike">
              <a:solidFill>
                <a:schemeClr val="dk1"/>
              </a:solidFill>
              <a:latin typeface="Calibri"/>
              <a:ea typeface="Calibri"/>
              <a:cs typeface="Calibri"/>
              <a:sym typeface="Calibri"/>
            </a:endParaRPr>
          </a:p>
        </p:txBody>
      </p:sp>
      <p:sp>
        <p:nvSpPr>
          <p:cNvPr id="446" name="Google Shape;446;p31"/>
          <p:cNvSpPr/>
          <p:nvPr/>
        </p:nvSpPr>
        <p:spPr>
          <a:xfrm>
            <a:off x="3369731" y="2029950"/>
            <a:ext cx="5434650" cy="2908125"/>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447" name="Google Shape;447;p31"/>
          <p:cNvSpPr/>
          <p:nvPr/>
        </p:nvSpPr>
        <p:spPr>
          <a:xfrm>
            <a:off x="3986213"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448" name="Google Shape;448;p31"/>
          <p:cNvSpPr/>
          <p:nvPr/>
        </p:nvSpPr>
        <p:spPr>
          <a:xfrm>
            <a:off x="6531901"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449" name="Google Shape;449;p31"/>
          <p:cNvSpPr/>
          <p:nvPr/>
        </p:nvSpPr>
        <p:spPr>
          <a:xfrm>
            <a:off x="5975032" y="2791206"/>
            <a:ext cx="497204" cy="205740"/>
          </a:xfrm>
          <a:prstGeom prst="rightArrow">
            <a:avLst>
              <a:gd fmla="val 50000" name="adj1"/>
              <a:gd fmla="val 50000" name="adj2"/>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0" name="Google Shape;450;p31"/>
          <p:cNvSpPr/>
          <p:nvPr/>
        </p:nvSpPr>
        <p:spPr>
          <a:xfrm>
            <a:off x="3986213" y="2544318"/>
            <a:ext cx="1929155" cy="233172"/>
          </a:xfrm>
          <a:prstGeom prst="rect">
            <a:avLst/>
          </a:prstGeom>
          <a:solidFill>
            <a:srgbClr val="2579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1" name="Google Shape;451;p31"/>
          <p:cNvSpPr/>
          <p:nvPr/>
        </p:nvSpPr>
        <p:spPr>
          <a:xfrm>
            <a:off x="3986213"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452" name="Google Shape;452;p31"/>
          <p:cNvSpPr/>
          <p:nvPr/>
        </p:nvSpPr>
        <p:spPr>
          <a:xfrm>
            <a:off x="462926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453" name="Google Shape;453;p31"/>
          <p:cNvSpPr/>
          <p:nvPr/>
        </p:nvSpPr>
        <p:spPr>
          <a:xfrm>
            <a:off x="5272316"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454" name="Google Shape;454;p31"/>
          <p:cNvSpPr/>
          <p:nvPr/>
        </p:nvSpPr>
        <p:spPr>
          <a:xfrm>
            <a:off x="3986213" y="2777490"/>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5" name="Google Shape;455;p31"/>
          <p:cNvSpPr/>
          <p:nvPr/>
        </p:nvSpPr>
        <p:spPr>
          <a:xfrm>
            <a:off x="3986213"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5</a:t>
            </a:r>
            <a:endParaRPr b="0" i="0" sz="1100" u="none" cap="none" strike="noStrike">
              <a:solidFill>
                <a:schemeClr val="dk1"/>
              </a:solidFill>
              <a:latin typeface="Calibri"/>
              <a:ea typeface="Calibri"/>
              <a:cs typeface="Calibri"/>
              <a:sym typeface="Calibri"/>
            </a:endParaRPr>
          </a:p>
        </p:txBody>
      </p:sp>
      <p:sp>
        <p:nvSpPr>
          <p:cNvPr id="456" name="Google Shape;456;p31"/>
          <p:cNvSpPr/>
          <p:nvPr/>
        </p:nvSpPr>
        <p:spPr>
          <a:xfrm>
            <a:off x="462926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Ankit</a:t>
            </a:r>
            <a:endParaRPr b="0" i="0" sz="1100" u="none" cap="none" strike="noStrike">
              <a:solidFill>
                <a:schemeClr val="dk1"/>
              </a:solidFill>
              <a:latin typeface="Calibri"/>
              <a:ea typeface="Calibri"/>
              <a:cs typeface="Calibri"/>
              <a:sym typeface="Calibri"/>
            </a:endParaRPr>
          </a:p>
        </p:txBody>
      </p:sp>
      <p:sp>
        <p:nvSpPr>
          <p:cNvPr id="457" name="Google Shape;457;p31"/>
          <p:cNvSpPr/>
          <p:nvPr/>
        </p:nvSpPr>
        <p:spPr>
          <a:xfrm>
            <a:off x="5272316"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458" name="Google Shape;458;p31"/>
          <p:cNvSpPr/>
          <p:nvPr/>
        </p:nvSpPr>
        <p:spPr>
          <a:xfrm>
            <a:off x="3986213" y="2996946"/>
            <a:ext cx="1929155" cy="219456"/>
          </a:xfrm>
          <a:prstGeom prst="rect">
            <a:avLst/>
          </a:prstGeom>
          <a:solidFill>
            <a:srgbClr val="F8FAFB"/>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9" name="Google Shape;459;p31"/>
          <p:cNvSpPr/>
          <p:nvPr/>
        </p:nvSpPr>
        <p:spPr>
          <a:xfrm>
            <a:off x="3986213"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6</a:t>
            </a:r>
            <a:endParaRPr b="0" i="0" sz="1100" u="none" cap="none" strike="noStrike">
              <a:solidFill>
                <a:schemeClr val="dk1"/>
              </a:solidFill>
              <a:latin typeface="Calibri"/>
              <a:ea typeface="Calibri"/>
              <a:cs typeface="Calibri"/>
              <a:sym typeface="Calibri"/>
            </a:endParaRPr>
          </a:p>
        </p:txBody>
      </p:sp>
      <p:sp>
        <p:nvSpPr>
          <p:cNvPr id="460" name="Google Shape;460;p31"/>
          <p:cNvSpPr/>
          <p:nvPr/>
        </p:nvSpPr>
        <p:spPr>
          <a:xfrm>
            <a:off x="4629264"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Asha</a:t>
            </a:r>
            <a:endParaRPr b="0" i="0" sz="1100" u="none" cap="none" strike="noStrike">
              <a:solidFill>
                <a:schemeClr val="dk1"/>
              </a:solidFill>
              <a:latin typeface="Calibri"/>
              <a:ea typeface="Calibri"/>
              <a:cs typeface="Calibri"/>
              <a:sym typeface="Calibri"/>
            </a:endParaRPr>
          </a:p>
        </p:txBody>
      </p:sp>
      <p:sp>
        <p:nvSpPr>
          <p:cNvPr id="461" name="Google Shape;461;p31"/>
          <p:cNvSpPr/>
          <p:nvPr/>
        </p:nvSpPr>
        <p:spPr>
          <a:xfrm>
            <a:off x="5272316"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ECE</a:t>
            </a:r>
            <a:endParaRPr b="0" i="0" sz="1100" u="none" cap="none" strike="noStrike">
              <a:solidFill>
                <a:schemeClr val="dk1"/>
              </a:solidFill>
              <a:latin typeface="Calibri"/>
              <a:ea typeface="Calibri"/>
              <a:cs typeface="Calibri"/>
              <a:sym typeface="Calibri"/>
            </a:endParaRPr>
          </a:p>
        </p:txBody>
      </p:sp>
      <p:sp>
        <p:nvSpPr>
          <p:cNvPr id="462" name="Google Shape;462;p31"/>
          <p:cNvSpPr/>
          <p:nvPr/>
        </p:nvSpPr>
        <p:spPr>
          <a:xfrm>
            <a:off x="3986213" y="2544318"/>
            <a:ext cx="1929155" cy="672084"/>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63" name="Google Shape;463;p31"/>
          <p:cNvSpPr/>
          <p:nvPr/>
        </p:nvSpPr>
        <p:spPr>
          <a:xfrm>
            <a:off x="6531901" y="2544318"/>
            <a:ext cx="1929155" cy="233172"/>
          </a:xfrm>
          <a:prstGeom prst="rect">
            <a:avLst/>
          </a:prstGeom>
          <a:solidFill>
            <a:srgbClr val="2579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64" name="Google Shape;464;p31"/>
          <p:cNvSpPr/>
          <p:nvPr/>
        </p:nvSpPr>
        <p:spPr>
          <a:xfrm>
            <a:off x="6531902"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465" name="Google Shape;465;p31"/>
          <p:cNvSpPr/>
          <p:nvPr/>
        </p:nvSpPr>
        <p:spPr>
          <a:xfrm>
            <a:off x="717495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466" name="Google Shape;466;p31"/>
          <p:cNvSpPr/>
          <p:nvPr/>
        </p:nvSpPr>
        <p:spPr>
          <a:xfrm>
            <a:off x="7818005"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467" name="Google Shape;467;p31"/>
          <p:cNvSpPr/>
          <p:nvPr/>
        </p:nvSpPr>
        <p:spPr>
          <a:xfrm>
            <a:off x="6531901" y="2777490"/>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68" name="Google Shape;468;p31"/>
          <p:cNvSpPr/>
          <p:nvPr/>
        </p:nvSpPr>
        <p:spPr>
          <a:xfrm>
            <a:off x="6531902"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5</a:t>
            </a:r>
            <a:endParaRPr b="0" i="0" sz="1100" u="none" cap="none" strike="noStrike">
              <a:solidFill>
                <a:schemeClr val="dk1"/>
              </a:solidFill>
              <a:latin typeface="Calibri"/>
              <a:ea typeface="Calibri"/>
              <a:cs typeface="Calibri"/>
              <a:sym typeface="Calibri"/>
            </a:endParaRPr>
          </a:p>
        </p:txBody>
      </p:sp>
      <p:sp>
        <p:nvSpPr>
          <p:cNvPr id="469" name="Google Shape;469;p31"/>
          <p:cNvSpPr/>
          <p:nvPr/>
        </p:nvSpPr>
        <p:spPr>
          <a:xfrm>
            <a:off x="717495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Ankit</a:t>
            </a:r>
            <a:endParaRPr b="0" i="0" sz="1100" u="none" cap="none" strike="noStrike">
              <a:solidFill>
                <a:schemeClr val="dk1"/>
              </a:solidFill>
              <a:latin typeface="Calibri"/>
              <a:ea typeface="Calibri"/>
              <a:cs typeface="Calibri"/>
              <a:sym typeface="Calibri"/>
            </a:endParaRPr>
          </a:p>
        </p:txBody>
      </p:sp>
      <p:sp>
        <p:nvSpPr>
          <p:cNvPr id="470" name="Google Shape;470;p31"/>
          <p:cNvSpPr/>
          <p:nvPr/>
        </p:nvSpPr>
        <p:spPr>
          <a:xfrm>
            <a:off x="7818005"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471" name="Google Shape;471;p31"/>
          <p:cNvSpPr/>
          <p:nvPr/>
        </p:nvSpPr>
        <p:spPr>
          <a:xfrm>
            <a:off x="6531901" y="2996946"/>
            <a:ext cx="1929155" cy="219456"/>
          </a:xfrm>
          <a:prstGeom prst="rect">
            <a:avLst/>
          </a:prstGeom>
          <a:solidFill>
            <a:srgbClr val="F8FAFB"/>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72" name="Google Shape;472;p31"/>
          <p:cNvSpPr/>
          <p:nvPr/>
        </p:nvSpPr>
        <p:spPr>
          <a:xfrm>
            <a:off x="6531902"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6</a:t>
            </a:r>
            <a:endParaRPr b="0" i="0" sz="1100" u="none" cap="none" strike="noStrike">
              <a:solidFill>
                <a:schemeClr val="dk1"/>
              </a:solidFill>
              <a:latin typeface="Calibri"/>
              <a:ea typeface="Calibri"/>
              <a:cs typeface="Calibri"/>
              <a:sym typeface="Calibri"/>
            </a:endParaRPr>
          </a:p>
        </p:txBody>
      </p:sp>
      <p:sp>
        <p:nvSpPr>
          <p:cNvPr id="473" name="Google Shape;473;p31"/>
          <p:cNvSpPr/>
          <p:nvPr/>
        </p:nvSpPr>
        <p:spPr>
          <a:xfrm>
            <a:off x="7174954"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Asha</a:t>
            </a:r>
            <a:endParaRPr b="0" i="0" sz="1100" u="none" cap="none" strike="noStrike">
              <a:solidFill>
                <a:schemeClr val="dk1"/>
              </a:solidFill>
              <a:latin typeface="Calibri"/>
              <a:ea typeface="Calibri"/>
              <a:cs typeface="Calibri"/>
              <a:sym typeface="Calibri"/>
            </a:endParaRPr>
          </a:p>
        </p:txBody>
      </p:sp>
      <p:sp>
        <p:nvSpPr>
          <p:cNvPr id="474" name="Google Shape;474;p31"/>
          <p:cNvSpPr/>
          <p:nvPr/>
        </p:nvSpPr>
        <p:spPr>
          <a:xfrm>
            <a:off x="7818005"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ECE</a:t>
            </a:r>
            <a:endParaRPr b="0" i="0" sz="1100" u="none" cap="none" strike="noStrike">
              <a:solidFill>
                <a:schemeClr val="dk1"/>
              </a:solidFill>
              <a:latin typeface="Calibri"/>
              <a:ea typeface="Calibri"/>
              <a:cs typeface="Calibri"/>
              <a:sym typeface="Calibri"/>
            </a:endParaRPr>
          </a:p>
        </p:txBody>
      </p:sp>
      <p:sp>
        <p:nvSpPr>
          <p:cNvPr id="475" name="Google Shape;475;p31"/>
          <p:cNvSpPr/>
          <p:nvPr/>
        </p:nvSpPr>
        <p:spPr>
          <a:xfrm>
            <a:off x="6531901" y="3216402"/>
            <a:ext cx="1929155" cy="219456"/>
          </a:xfrm>
          <a:prstGeom prst="rect">
            <a:avLst/>
          </a:prstGeom>
          <a:solidFill>
            <a:srgbClr val="EAEFF3"/>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76" name="Google Shape;476;p31"/>
          <p:cNvSpPr/>
          <p:nvPr/>
        </p:nvSpPr>
        <p:spPr>
          <a:xfrm>
            <a:off x="6531902" y="3216402"/>
            <a:ext cx="59664" cy="219456"/>
          </a:xfrm>
          <a:prstGeom prst="rect">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77" name="Google Shape;477;p31"/>
          <p:cNvSpPr/>
          <p:nvPr/>
        </p:nvSpPr>
        <p:spPr>
          <a:xfrm>
            <a:off x="6531902"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600"/>
              <a:buFont typeface="Consolas"/>
              <a:buNone/>
            </a:pPr>
            <a:r>
              <a:rPr b="1" i="0" lang="en-GB" sz="1100" u="none" cap="none" strike="noStrike">
                <a:solidFill>
                  <a:srgbClr val="2579C4"/>
                </a:solidFill>
                <a:latin typeface="Consolas"/>
                <a:ea typeface="Consolas"/>
                <a:cs typeface="Consolas"/>
                <a:sym typeface="Consolas"/>
              </a:rPr>
              <a:t>7</a:t>
            </a:r>
            <a:endParaRPr b="0" i="0" sz="1100" u="none" cap="none" strike="noStrike">
              <a:solidFill>
                <a:schemeClr val="dk1"/>
              </a:solidFill>
              <a:latin typeface="Calibri"/>
              <a:ea typeface="Calibri"/>
              <a:cs typeface="Calibri"/>
              <a:sym typeface="Calibri"/>
            </a:endParaRPr>
          </a:p>
        </p:txBody>
      </p:sp>
      <p:sp>
        <p:nvSpPr>
          <p:cNvPr id="478" name="Google Shape;478;p31"/>
          <p:cNvSpPr/>
          <p:nvPr/>
        </p:nvSpPr>
        <p:spPr>
          <a:xfrm>
            <a:off x="7174954"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600"/>
              <a:buFont typeface="Consolas"/>
              <a:buNone/>
            </a:pPr>
            <a:r>
              <a:rPr b="1" i="0" lang="en-GB" sz="1100" u="none" cap="none" strike="noStrike">
                <a:solidFill>
                  <a:srgbClr val="2579C4"/>
                </a:solidFill>
                <a:latin typeface="Consolas"/>
                <a:ea typeface="Consolas"/>
                <a:cs typeface="Consolas"/>
                <a:sym typeface="Consolas"/>
              </a:rPr>
              <a:t>Kabir</a:t>
            </a:r>
            <a:endParaRPr b="0" i="0" sz="1100" u="none" cap="none" strike="noStrike">
              <a:solidFill>
                <a:schemeClr val="dk1"/>
              </a:solidFill>
              <a:latin typeface="Calibri"/>
              <a:ea typeface="Calibri"/>
              <a:cs typeface="Calibri"/>
              <a:sym typeface="Calibri"/>
            </a:endParaRPr>
          </a:p>
        </p:txBody>
      </p:sp>
      <p:sp>
        <p:nvSpPr>
          <p:cNvPr id="479" name="Google Shape;479;p31"/>
          <p:cNvSpPr/>
          <p:nvPr/>
        </p:nvSpPr>
        <p:spPr>
          <a:xfrm>
            <a:off x="7818005"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600"/>
              <a:buFont typeface="Consolas"/>
              <a:buNone/>
            </a:pPr>
            <a:r>
              <a:rPr b="1" i="0" lang="en-GB" sz="1100" u="none" cap="none" strike="noStrike">
                <a:solidFill>
                  <a:srgbClr val="2579C4"/>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480" name="Google Shape;480;p31"/>
          <p:cNvSpPr/>
          <p:nvPr/>
        </p:nvSpPr>
        <p:spPr>
          <a:xfrm>
            <a:off x="6531901" y="2544318"/>
            <a:ext cx="1929155" cy="891540"/>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81" name="Google Shape;481;p31"/>
          <p:cNvSpPr/>
          <p:nvPr/>
        </p:nvSpPr>
        <p:spPr>
          <a:xfrm>
            <a:off x="3461062" y="3823781"/>
            <a:ext cx="4999950"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500" u="none" cap="none" strike="noStrike">
                <a:solidFill>
                  <a:srgbClr val="16334D"/>
                </a:solidFill>
                <a:latin typeface="Cambria"/>
                <a:ea typeface="Cambria"/>
                <a:cs typeface="Cambria"/>
                <a:sym typeface="Cambria"/>
              </a:rPr>
              <a:t>Adding rows, one at a time (or many)</a:t>
            </a:r>
            <a:endParaRPr b="0" i="0" sz="1500" u="none" cap="none" strike="noStrike">
              <a:solidFill>
                <a:schemeClr val="dk1"/>
              </a:solidFill>
              <a:latin typeface="Calibri"/>
              <a:ea typeface="Calibri"/>
              <a:cs typeface="Calibri"/>
              <a:sym typeface="Calibri"/>
            </a:endParaRPr>
          </a:p>
        </p:txBody>
      </p:sp>
      <p:sp>
        <p:nvSpPr>
          <p:cNvPr id="482" name="Google Shape;482;p31"/>
          <p:cNvSpPr/>
          <p:nvPr/>
        </p:nvSpPr>
        <p:spPr>
          <a:xfrm>
            <a:off x="3537938" y="4162800"/>
            <a:ext cx="4965975" cy="58297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400" u="none" cap="none" strike="noStrike">
                <a:solidFill>
                  <a:srgbClr val="16334D"/>
                </a:solidFill>
                <a:latin typeface="Calibri"/>
                <a:ea typeface="Calibri"/>
                <a:cs typeface="Calibri"/>
                <a:sym typeface="Calibri"/>
              </a:rPr>
              <a:t>INSERT adds new rows of data into a table. You can insert a single row, or list several VALUES groups to add many rows in one statement.</a:t>
            </a:r>
            <a:endParaRPr b="0" i="0" sz="1400" u="none" cap="none" strike="noStrike">
              <a:solidFill>
                <a:schemeClr val="dk1"/>
              </a:solidFill>
              <a:latin typeface="Calibri"/>
              <a:ea typeface="Calibri"/>
              <a:cs typeface="Calibri"/>
              <a:sym typeface="Calibri"/>
            </a:endParaRPr>
          </a:p>
        </p:txBody>
      </p:sp>
      <p:pic>
        <p:nvPicPr>
          <p:cNvPr descr="/home/claude/dbms_lecture2/logo/newton_logo_transparent.png" id="483" name="Google Shape;483;p31"/>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484" name="Google Shape;484;p31"/>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17</a:t>
            </a:r>
            <a:endParaRPr b="0" i="0" sz="1100" u="none" cap="none" strike="noStrike">
              <a:solidFill>
                <a:schemeClr val="dk1"/>
              </a:solidFill>
              <a:latin typeface="Calibri"/>
              <a:ea typeface="Calibri"/>
              <a:cs typeface="Calibri"/>
              <a:sym typeface="Calibri"/>
            </a:endParaRPr>
          </a:p>
        </p:txBody>
      </p:sp>
      <p:pic>
        <p:nvPicPr>
          <p:cNvPr id="485" name="Google Shape;485;p31" title="Screenshot 2026-07-21 at 4.49.25 PM.png"/>
          <p:cNvPicPr preferRelativeResize="0"/>
          <p:nvPr/>
        </p:nvPicPr>
        <p:blipFill rotWithShape="1">
          <a:blip r:embed="rId4">
            <a:alphaModFix/>
          </a:blip>
          <a:srcRect b="0" l="0" r="0" t="0"/>
          <a:stretch/>
        </p:blipFill>
        <p:spPr>
          <a:xfrm>
            <a:off x="3461053" y="2080960"/>
            <a:ext cx="5252006" cy="1550719"/>
          </a:xfrm>
          <a:prstGeom prst="rect">
            <a:avLst/>
          </a:prstGeom>
          <a:solidFill>
            <a:srgbClr val="E6ECF1"/>
          </a:solidFill>
          <a:ln cap="flat" cmpd="sng" w="12700">
            <a:solidFill>
              <a:srgbClr val="8FC0EB"/>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2"/>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79C4"/>
              </a:buClr>
              <a:buSzPts val="1000"/>
              <a:buFont typeface="Calibri"/>
              <a:buNone/>
            </a:pPr>
            <a:r>
              <a:rPr b="1" i="0" lang="en-GB" sz="1100" u="none" cap="none" strike="noStrike">
                <a:solidFill>
                  <a:srgbClr val="2579C4"/>
                </a:solidFill>
                <a:latin typeface="Calibri"/>
                <a:ea typeface="Calibri"/>
                <a:cs typeface="Calibri"/>
                <a:sym typeface="Calibri"/>
              </a:rPr>
              <a:t>DML COMMAND 2</a:t>
            </a:r>
            <a:endParaRPr b="0" i="0" sz="1100" u="none" cap="none" strike="noStrike">
              <a:solidFill>
                <a:schemeClr val="dk1"/>
              </a:solidFill>
              <a:latin typeface="Calibri"/>
              <a:ea typeface="Calibri"/>
              <a:cs typeface="Calibri"/>
              <a:sym typeface="Calibri"/>
            </a:endParaRPr>
          </a:p>
        </p:txBody>
      </p:sp>
      <p:sp>
        <p:nvSpPr>
          <p:cNvPr id="492" name="Google Shape;492;p32"/>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SELECT — asking the database a question</a:t>
            </a:r>
            <a:endParaRPr b="0" i="0" sz="2000" u="none" cap="none" strike="noStrike">
              <a:solidFill>
                <a:schemeClr val="dk1"/>
              </a:solidFill>
              <a:latin typeface="Calibri"/>
              <a:ea typeface="Calibri"/>
              <a:cs typeface="Calibri"/>
              <a:sym typeface="Calibri"/>
            </a:endParaRPr>
          </a:p>
        </p:txBody>
      </p:sp>
      <p:sp>
        <p:nvSpPr>
          <p:cNvPr id="493" name="Google Shape;493;p32"/>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32"/>
          <p:cNvSpPr/>
          <p:nvPr/>
        </p:nvSpPr>
        <p:spPr>
          <a:xfrm>
            <a:off x="411480" y="1097280"/>
            <a:ext cx="8298180" cy="72009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32"/>
          <p:cNvSpPr/>
          <p:nvPr/>
        </p:nvSpPr>
        <p:spPr>
          <a:xfrm>
            <a:off x="513470" y="1172723"/>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400" u="none" cap="none" strike="noStrike">
                <a:solidFill>
                  <a:srgbClr val="368EDE"/>
                </a:solidFill>
                <a:latin typeface="Calibri"/>
                <a:ea typeface="Calibri"/>
                <a:cs typeface="Calibri"/>
                <a:sym typeface="Calibri"/>
              </a:rPr>
              <a:t>THE PRINCIPAL WALKS IN</a:t>
            </a:r>
            <a:endParaRPr b="0" i="0" sz="1400" u="none" cap="none" strike="noStrike">
              <a:solidFill>
                <a:schemeClr val="dk1"/>
              </a:solidFill>
              <a:latin typeface="Calibri"/>
              <a:ea typeface="Calibri"/>
              <a:cs typeface="Calibri"/>
              <a:sym typeface="Calibri"/>
            </a:endParaRPr>
          </a:p>
        </p:txBody>
      </p:sp>
      <p:sp>
        <p:nvSpPr>
          <p:cNvPr id="496" name="Google Shape;496;p32"/>
          <p:cNvSpPr/>
          <p:nvPr/>
        </p:nvSpPr>
        <p:spPr>
          <a:xfrm>
            <a:off x="479995" y="1354384"/>
            <a:ext cx="73380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600" u="none" cap="none" strike="noStrike">
                <a:solidFill>
                  <a:srgbClr val="16334D"/>
                </a:solidFill>
                <a:latin typeface="Cambria"/>
                <a:ea typeface="Cambria"/>
                <a:cs typeface="Cambria"/>
                <a:sym typeface="Cambria"/>
              </a:rPr>
              <a:t>"Just show me the whole list — every student you have."</a:t>
            </a:r>
            <a:endParaRPr b="0" i="0" sz="1600" u="none" cap="none" strike="noStrike">
              <a:solidFill>
                <a:schemeClr val="dk1"/>
              </a:solidFill>
              <a:latin typeface="Calibri"/>
              <a:ea typeface="Calibri"/>
              <a:cs typeface="Calibri"/>
              <a:sym typeface="Calibri"/>
            </a:endParaRPr>
          </a:p>
        </p:txBody>
      </p:sp>
      <p:sp>
        <p:nvSpPr>
          <p:cNvPr id="497" name="Google Shape;497;p32"/>
          <p:cNvSpPr/>
          <p:nvPr/>
        </p:nvSpPr>
        <p:spPr>
          <a:xfrm>
            <a:off x="513466" y="2592396"/>
            <a:ext cx="2140425" cy="126180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498" name="Google Shape;498;p32"/>
          <p:cNvSpPr/>
          <p:nvPr/>
        </p:nvSpPr>
        <p:spPr>
          <a:xfrm>
            <a:off x="548640" y="2132838"/>
            <a:ext cx="96012" cy="96012"/>
          </a:xfrm>
          <a:prstGeom prst="ellipse">
            <a:avLst/>
          </a:prstGeom>
          <a:solidFill>
            <a:srgbClr val="9FC9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99" name="Google Shape;499;p32"/>
          <p:cNvSpPr/>
          <p:nvPr/>
        </p:nvSpPr>
        <p:spPr>
          <a:xfrm>
            <a:off x="740664" y="2132838"/>
            <a:ext cx="96012" cy="96012"/>
          </a:xfrm>
          <a:prstGeom prst="ellipse">
            <a:avLst/>
          </a:prstGeom>
          <a:solidFill>
            <a:srgbClr val="89BD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00" name="Google Shape;500;p32"/>
          <p:cNvSpPr/>
          <p:nvPr/>
        </p:nvSpPr>
        <p:spPr>
          <a:xfrm>
            <a:off x="932688" y="2132838"/>
            <a:ext cx="96012" cy="96012"/>
          </a:xfrm>
          <a:prstGeom prst="ellipse">
            <a:avLst/>
          </a:prstGeom>
          <a:solidFill>
            <a:srgbClr val="549F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01" name="Google Shape;501;p32"/>
          <p:cNvSpPr/>
          <p:nvPr/>
        </p:nvSpPr>
        <p:spPr>
          <a:xfrm>
            <a:off x="608719" y="2739450"/>
            <a:ext cx="1694700" cy="8167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600" u="none" cap="none" strike="noStrike">
                <a:solidFill>
                  <a:srgbClr val="81B8E9"/>
                </a:solidFill>
                <a:latin typeface="Consolas"/>
                <a:ea typeface="Consolas"/>
                <a:cs typeface="Consolas"/>
                <a:sym typeface="Consolas"/>
              </a:rPr>
              <a:t>SELECT *</a:t>
            </a:r>
            <a:endParaRPr b="0" i="0" sz="16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81B8E9"/>
              </a:buClr>
              <a:buSzPts val="1100"/>
              <a:buFont typeface="Consolas"/>
              <a:buNone/>
            </a:pPr>
            <a:r>
              <a:rPr b="0" i="0" lang="en-GB" sz="1600" u="none" cap="none" strike="noStrike">
                <a:solidFill>
                  <a:srgbClr val="81B8E9"/>
                </a:solidFill>
                <a:latin typeface="Consolas"/>
                <a:ea typeface="Consolas"/>
                <a:cs typeface="Consolas"/>
                <a:sym typeface="Consolas"/>
              </a:rPr>
              <a:t>FROM students;</a:t>
            </a:r>
            <a:endParaRPr b="0" i="0" sz="1600" u="none" cap="none" strike="noStrike">
              <a:solidFill>
                <a:schemeClr val="dk1"/>
              </a:solidFill>
              <a:latin typeface="Calibri"/>
              <a:ea typeface="Calibri"/>
              <a:cs typeface="Calibri"/>
              <a:sym typeface="Calibri"/>
            </a:endParaRPr>
          </a:p>
        </p:txBody>
      </p:sp>
      <p:sp>
        <p:nvSpPr>
          <p:cNvPr id="502" name="Google Shape;502;p32"/>
          <p:cNvSpPr/>
          <p:nvPr/>
        </p:nvSpPr>
        <p:spPr>
          <a:xfrm>
            <a:off x="2902425" y="2023100"/>
            <a:ext cx="5756700" cy="2983200"/>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rgbClr val="000000"/>
              </a:solidFill>
              <a:latin typeface="Arial"/>
              <a:ea typeface="Arial"/>
              <a:cs typeface="Arial"/>
              <a:sym typeface="Arial"/>
            </a:endParaRPr>
          </a:p>
        </p:txBody>
      </p:sp>
      <p:sp>
        <p:nvSpPr>
          <p:cNvPr id="503" name="Google Shape;503;p32"/>
          <p:cNvSpPr/>
          <p:nvPr/>
        </p:nvSpPr>
        <p:spPr>
          <a:xfrm>
            <a:off x="3986213"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504" name="Google Shape;504;p32"/>
          <p:cNvSpPr/>
          <p:nvPr/>
        </p:nvSpPr>
        <p:spPr>
          <a:xfrm>
            <a:off x="6531901"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505" name="Google Shape;505;p32"/>
          <p:cNvSpPr/>
          <p:nvPr/>
        </p:nvSpPr>
        <p:spPr>
          <a:xfrm>
            <a:off x="5975032" y="2791206"/>
            <a:ext cx="497204" cy="205740"/>
          </a:xfrm>
          <a:prstGeom prst="rightArrow">
            <a:avLst>
              <a:gd fmla="val 50000" name="adj1"/>
              <a:gd fmla="val 50000" name="adj2"/>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06" name="Google Shape;506;p32"/>
          <p:cNvSpPr/>
          <p:nvPr/>
        </p:nvSpPr>
        <p:spPr>
          <a:xfrm>
            <a:off x="5766206" y="3010662"/>
            <a:ext cx="914857" cy="27432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7AB5E9"/>
              </a:buClr>
              <a:buSzPts val="600"/>
              <a:buFont typeface="Calibri"/>
              <a:buNone/>
            </a:pPr>
            <a:r>
              <a:rPr b="1" i="0" lang="en-GB" sz="1100" u="none" cap="none" strike="noStrike">
                <a:solidFill>
                  <a:srgbClr val="7AB5E9"/>
                </a:solidFill>
                <a:latin typeface="Calibri"/>
                <a:ea typeface="Calibri"/>
                <a:cs typeface="Calibri"/>
                <a:sym typeface="Calibri"/>
              </a:rPr>
              <a:t>query runs</a:t>
            </a:r>
            <a:endParaRPr b="0" i="0" sz="1100" u="none" cap="none" strike="noStrike">
              <a:solidFill>
                <a:schemeClr val="dk1"/>
              </a:solidFill>
              <a:latin typeface="Calibri"/>
              <a:ea typeface="Calibri"/>
              <a:cs typeface="Calibri"/>
              <a:sym typeface="Calibri"/>
            </a:endParaRPr>
          </a:p>
        </p:txBody>
      </p:sp>
      <p:sp>
        <p:nvSpPr>
          <p:cNvPr id="507" name="Google Shape;507;p32"/>
          <p:cNvSpPr/>
          <p:nvPr/>
        </p:nvSpPr>
        <p:spPr>
          <a:xfrm>
            <a:off x="3986213" y="2544318"/>
            <a:ext cx="1929155" cy="233172"/>
          </a:xfrm>
          <a:prstGeom prst="rect">
            <a:avLst/>
          </a:prstGeom>
          <a:solidFill>
            <a:srgbClr val="2579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08" name="Google Shape;508;p32"/>
          <p:cNvSpPr/>
          <p:nvPr/>
        </p:nvSpPr>
        <p:spPr>
          <a:xfrm>
            <a:off x="3986213"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509" name="Google Shape;509;p32"/>
          <p:cNvSpPr/>
          <p:nvPr/>
        </p:nvSpPr>
        <p:spPr>
          <a:xfrm>
            <a:off x="462926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510" name="Google Shape;510;p32"/>
          <p:cNvSpPr/>
          <p:nvPr/>
        </p:nvSpPr>
        <p:spPr>
          <a:xfrm>
            <a:off x="5272316"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511" name="Google Shape;511;p32"/>
          <p:cNvSpPr/>
          <p:nvPr/>
        </p:nvSpPr>
        <p:spPr>
          <a:xfrm>
            <a:off x="3986213" y="2777490"/>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2" name="Google Shape;512;p32"/>
          <p:cNvSpPr/>
          <p:nvPr/>
        </p:nvSpPr>
        <p:spPr>
          <a:xfrm>
            <a:off x="3986213"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1</a:t>
            </a:r>
            <a:endParaRPr b="0" i="0" sz="1100" u="none" cap="none" strike="noStrike">
              <a:solidFill>
                <a:schemeClr val="dk1"/>
              </a:solidFill>
              <a:latin typeface="Calibri"/>
              <a:ea typeface="Calibri"/>
              <a:cs typeface="Calibri"/>
              <a:sym typeface="Calibri"/>
            </a:endParaRPr>
          </a:p>
        </p:txBody>
      </p:sp>
      <p:sp>
        <p:nvSpPr>
          <p:cNvPr id="513" name="Google Shape;513;p32"/>
          <p:cNvSpPr/>
          <p:nvPr/>
        </p:nvSpPr>
        <p:spPr>
          <a:xfrm>
            <a:off x="462926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Amit</a:t>
            </a:r>
            <a:endParaRPr b="0" i="0" sz="1100" u="none" cap="none" strike="noStrike">
              <a:solidFill>
                <a:schemeClr val="dk1"/>
              </a:solidFill>
              <a:latin typeface="Calibri"/>
              <a:ea typeface="Calibri"/>
              <a:cs typeface="Calibri"/>
              <a:sym typeface="Calibri"/>
            </a:endParaRPr>
          </a:p>
        </p:txBody>
      </p:sp>
      <p:sp>
        <p:nvSpPr>
          <p:cNvPr id="514" name="Google Shape;514;p32"/>
          <p:cNvSpPr/>
          <p:nvPr/>
        </p:nvSpPr>
        <p:spPr>
          <a:xfrm>
            <a:off x="5272316"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515" name="Google Shape;515;p32"/>
          <p:cNvSpPr/>
          <p:nvPr/>
        </p:nvSpPr>
        <p:spPr>
          <a:xfrm>
            <a:off x="3986213" y="2996946"/>
            <a:ext cx="1929155" cy="219456"/>
          </a:xfrm>
          <a:prstGeom prst="rect">
            <a:avLst/>
          </a:prstGeom>
          <a:solidFill>
            <a:srgbClr val="F8FAFB"/>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6" name="Google Shape;516;p32"/>
          <p:cNvSpPr/>
          <p:nvPr/>
        </p:nvSpPr>
        <p:spPr>
          <a:xfrm>
            <a:off x="3986213"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2</a:t>
            </a:r>
            <a:endParaRPr b="0" i="0" sz="1100" u="none" cap="none" strike="noStrike">
              <a:solidFill>
                <a:schemeClr val="dk1"/>
              </a:solidFill>
              <a:latin typeface="Calibri"/>
              <a:ea typeface="Calibri"/>
              <a:cs typeface="Calibri"/>
              <a:sym typeface="Calibri"/>
            </a:endParaRPr>
          </a:p>
        </p:txBody>
      </p:sp>
      <p:sp>
        <p:nvSpPr>
          <p:cNvPr id="517" name="Google Shape;517;p32"/>
          <p:cNvSpPr/>
          <p:nvPr/>
        </p:nvSpPr>
        <p:spPr>
          <a:xfrm>
            <a:off x="4629264"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Riya</a:t>
            </a:r>
            <a:endParaRPr b="0" i="0" sz="1100" u="none" cap="none" strike="noStrike">
              <a:solidFill>
                <a:schemeClr val="dk1"/>
              </a:solidFill>
              <a:latin typeface="Calibri"/>
              <a:ea typeface="Calibri"/>
              <a:cs typeface="Calibri"/>
              <a:sym typeface="Calibri"/>
            </a:endParaRPr>
          </a:p>
        </p:txBody>
      </p:sp>
      <p:sp>
        <p:nvSpPr>
          <p:cNvPr id="518" name="Google Shape;518;p32"/>
          <p:cNvSpPr/>
          <p:nvPr/>
        </p:nvSpPr>
        <p:spPr>
          <a:xfrm>
            <a:off x="5272316"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ECE</a:t>
            </a:r>
            <a:endParaRPr b="0" i="0" sz="1100" u="none" cap="none" strike="noStrike">
              <a:solidFill>
                <a:schemeClr val="dk1"/>
              </a:solidFill>
              <a:latin typeface="Calibri"/>
              <a:ea typeface="Calibri"/>
              <a:cs typeface="Calibri"/>
              <a:sym typeface="Calibri"/>
            </a:endParaRPr>
          </a:p>
        </p:txBody>
      </p:sp>
      <p:sp>
        <p:nvSpPr>
          <p:cNvPr id="519" name="Google Shape;519;p32"/>
          <p:cNvSpPr/>
          <p:nvPr/>
        </p:nvSpPr>
        <p:spPr>
          <a:xfrm>
            <a:off x="3986213" y="3216402"/>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0" name="Google Shape;520;p32"/>
          <p:cNvSpPr/>
          <p:nvPr/>
        </p:nvSpPr>
        <p:spPr>
          <a:xfrm>
            <a:off x="3986213"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3</a:t>
            </a:r>
            <a:endParaRPr b="0" i="0" sz="1100" u="none" cap="none" strike="noStrike">
              <a:solidFill>
                <a:schemeClr val="dk1"/>
              </a:solidFill>
              <a:latin typeface="Calibri"/>
              <a:ea typeface="Calibri"/>
              <a:cs typeface="Calibri"/>
              <a:sym typeface="Calibri"/>
            </a:endParaRPr>
          </a:p>
        </p:txBody>
      </p:sp>
      <p:sp>
        <p:nvSpPr>
          <p:cNvPr id="521" name="Google Shape;521;p32"/>
          <p:cNvSpPr/>
          <p:nvPr/>
        </p:nvSpPr>
        <p:spPr>
          <a:xfrm>
            <a:off x="4629264"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Arjun</a:t>
            </a:r>
            <a:endParaRPr b="0" i="0" sz="1100" u="none" cap="none" strike="noStrike">
              <a:solidFill>
                <a:schemeClr val="dk1"/>
              </a:solidFill>
              <a:latin typeface="Calibri"/>
              <a:ea typeface="Calibri"/>
              <a:cs typeface="Calibri"/>
              <a:sym typeface="Calibri"/>
            </a:endParaRPr>
          </a:p>
        </p:txBody>
      </p:sp>
      <p:sp>
        <p:nvSpPr>
          <p:cNvPr id="522" name="Google Shape;522;p32"/>
          <p:cNvSpPr/>
          <p:nvPr/>
        </p:nvSpPr>
        <p:spPr>
          <a:xfrm>
            <a:off x="5272316"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523" name="Google Shape;523;p32"/>
          <p:cNvSpPr/>
          <p:nvPr/>
        </p:nvSpPr>
        <p:spPr>
          <a:xfrm>
            <a:off x="3986213" y="2544318"/>
            <a:ext cx="1929155" cy="891540"/>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4" name="Google Shape;524;p32"/>
          <p:cNvSpPr/>
          <p:nvPr/>
        </p:nvSpPr>
        <p:spPr>
          <a:xfrm>
            <a:off x="6531901" y="2544318"/>
            <a:ext cx="1929155" cy="233172"/>
          </a:xfrm>
          <a:prstGeom prst="rect">
            <a:avLst/>
          </a:prstGeom>
          <a:solidFill>
            <a:srgbClr val="2579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5" name="Google Shape;525;p32"/>
          <p:cNvSpPr/>
          <p:nvPr/>
        </p:nvSpPr>
        <p:spPr>
          <a:xfrm>
            <a:off x="6531902"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526" name="Google Shape;526;p32"/>
          <p:cNvSpPr/>
          <p:nvPr/>
        </p:nvSpPr>
        <p:spPr>
          <a:xfrm>
            <a:off x="717495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527" name="Google Shape;527;p32"/>
          <p:cNvSpPr/>
          <p:nvPr/>
        </p:nvSpPr>
        <p:spPr>
          <a:xfrm>
            <a:off x="7818005"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528" name="Google Shape;528;p32"/>
          <p:cNvSpPr/>
          <p:nvPr/>
        </p:nvSpPr>
        <p:spPr>
          <a:xfrm>
            <a:off x="6531901" y="2777490"/>
            <a:ext cx="1929155" cy="219456"/>
          </a:xfrm>
          <a:prstGeom prst="rect">
            <a:avLst/>
          </a:prstGeom>
          <a:solidFill>
            <a:srgbClr val="EFF3F7"/>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9" name="Google Shape;529;p32"/>
          <p:cNvSpPr/>
          <p:nvPr/>
        </p:nvSpPr>
        <p:spPr>
          <a:xfrm>
            <a:off x="6531902" y="2777490"/>
            <a:ext cx="59664" cy="219456"/>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0" name="Google Shape;530;p32"/>
          <p:cNvSpPr/>
          <p:nvPr/>
        </p:nvSpPr>
        <p:spPr>
          <a:xfrm>
            <a:off x="6531902"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1</a:t>
            </a:r>
            <a:endParaRPr b="0" i="0" sz="1100" u="none" cap="none" strike="noStrike">
              <a:solidFill>
                <a:schemeClr val="dk1"/>
              </a:solidFill>
              <a:latin typeface="Calibri"/>
              <a:ea typeface="Calibri"/>
              <a:cs typeface="Calibri"/>
              <a:sym typeface="Calibri"/>
            </a:endParaRPr>
          </a:p>
        </p:txBody>
      </p:sp>
      <p:sp>
        <p:nvSpPr>
          <p:cNvPr id="531" name="Google Shape;531;p32"/>
          <p:cNvSpPr/>
          <p:nvPr/>
        </p:nvSpPr>
        <p:spPr>
          <a:xfrm>
            <a:off x="717495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Amit</a:t>
            </a:r>
            <a:endParaRPr b="0" i="0" sz="1100" u="none" cap="none" strike="noStrike">
              <a:solidFill>
                <a:schemeClr val="dk1"/>
              </a:solidFill>
              <a:latin typeface="Calibri"/>
              <a:ea typeface="Calibri"/>
              <a:cs typeface="Calibri"/>
              <a:sym typeface="Calibri"/>
            </a:endParaRPr>
          </a:p>
        </p:txBody>
      </p:sp>
      <p:sp>
        <p:nvSpPr>
          <p:cNvPr id="532" name="Google Shape;532;p32"/>
          <p:cNvSpPr/>
          <p:nvPr/>
        </p:nvSpPr>
        <p:spPr>
          <a:xfrm>
            <a:off x="7818005"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533" name="Google Shape;533;p32"/>
          <p:cNvSpPr/>
          <p:nvPr/>
        </p:nvSpPr>
        <p:spPr>
          <a:xfrm>
            <a:off x="6531901" y="2996946"/>
            <a:ext cx="1929155" cy="219456"/>
          </a:xfrm>
          <a:prstGeom prst="rect">
            <a:avLst/>
          </a:prstGeom>
          <a:solidFill>
            <a:srgbClr val="EFF3F7"/>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4" name="Google Shape;534;p32"/>
          <p:cNvSpPr/>
          <p:nvPr/>
        </p:nvSpPr>
        <p:spPr>
          <a:xfrm>
            <a:off x="6531902" y="2996946"/>
            <a:ext cx="59664" cy="219456"/>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5" name="Google Shape;535;p32"/>
          <p:cNvSpPr/>
          <p:nvPr/>
        </p:nvSpPr>
        <p:spPr>
          <a:xfrm>
            <a:off x="6531902"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2</a:t>
            </a:r>
            <a:endParaRPr b="0" i="0" sz="1100" u="none" cap="none" strike="noStrike">
              <a:solidFill>
                <a:schemeClr val="dk1"/>
              </a:solidFill>
              <a:latin typeface="Calibri"/>
              <a:ea typeface="Calibri"/>
              <a:cs typeface="Calibri"/>
              <a:sym typeface="Calibri"/>
            </a:endParaRPr>
          </a:p>
        </p:txBody>
      </p:sp>
      <p:sp>
        <p:nvSpPr>
          <p:cNvPr id="536" name="Google Shape;536;p32"/>
          <p:cNvSpPr/>
          <p:nvPr/>
        </p:nvSpPr>
        <p:spPr>
          <a:xfrm>
            <a:off x="7174954"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Riya</a:t>
            </a:r>
            <a:endParaRPr b="0" i="0" sz="1100" u="none" cap="none" strike="noStrike">
              <a:solidFill>
                <a:schemeClr val="dk1"/>
              </a:solidFill>
              <a:latin typeface="Calibri"/>
              <a:ea typeface="Calibri"/>
              <a:cs typeface="Calibri"/>
              <a:sym typeface="Calibri"/>
            </a:endParaRPr>
          </a:p>
        </p:txBody>
      </p:sp>
      <p:sp>
        <p:nvSpPr>
          <p:cNvPr id="537" name="Google Shape;537;p32"/>
          <p:cNvSpPr/>
          <p:nvPr/>
        </p:nvSpPr>
        <p:spPr>
          <a:xfrm>
            <a:off x="7818005"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ECE</a:t>
            </a:r>
            <a:endParaRPr b="0" i="0" sz="1100" u="none" cap="none" strike="noStrike">
              <a:solidFill>
                <a:schemeClr val="dk1"/>
              </a:solidFill>
              <a:latin typeface="Calibri"/>
              <a:ea typeface="Calibri"/>
              <a:cs typeface="Calibri"/>
              <a:sym typeface="Calibri"/>
            </a:endParaRPr>
          </a:p>
        </p:txBody>
      </p:sp>
      <p:sp>
        <p:nvSpPr>
          <p:cNvPr id="538" name="Google Shape;538;p32"/>
          <p:cNvSpPr/>
          <p:nvPr/>
        </p:nvSpPr>
        <p:spPr>
          <a:xfrm>
            <a:off x="6531901" y="3216402"/>
            <a:ext cx="1929155" cy="219456"/>
          </a:xfrm>
          <a:prstGeom prst="rect">
            <a:avLst/>
          </a:prstGeom>
          <a:solidFill>
            <a:srgbClr val="EFF3F7"/>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9" name="Google Shape;539;p32"/>
          <p:cNvSpPr/>
          <p:nvPr/>
        </p:nvSpPr>
        <p:spPr>
          <a:xfrm>
            <a:off x="6531902" y="3216402"/>
            <a:ext cx="59664" cy="219456"/>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0" name="Google Shape;540;p32"/>
          <p:cNvSpPr/>
          <p:nvPr/>
        </p:nvSpPr>
        <p:spPr>
          <a:xfrm>
            <a:off x="6531902"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3</a:t>
            </a:r>
            <a:endParaRPr b="0" i="0" sz="1100" u="none" cap="none" strike="noStrike">
              <a:solidFill>
                <a:schemeClr val="dk1"/>
              </a:solidFill>
              <a:latin typeface="Calibri"/>
              <a:ea typeface="Calibri"/>
              <a:cs typeface="Calibri"/>
              <a:sym typeface="Calibri"/>
            </a:endParaRPr>
          </a:p>
        </p:txBody>
      </p:sp>
      <p:sp>
        <p:nvSpPr>
          <p:cNvPr id="541" name="Google Shape;541;p32"/>
          <p:cNvSpPr/>
          <p:nvPr/>
        </p:nvSpPr>
        <p:spPr>
          <a:xfrm>
            <a:off x="7174954"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Arjun</a:t>
            </a:r>
            <a:endParaRPr b="0" i="0" sz="1100" u="none" cap="none" strike="noStrike">
              <a:solidFill>
                <a:schemeClr val="dk1"/>
              </a:solidFill>
              <a:latin typeface="Calibri"/>
              <a:ea typeface="Calibri"/>
              <a:cs typeface="Calibri"/>
              <a:sym typeface="Calibri"/>
            </a:endParaRPr>
          </a:p>
        </p:txBody>
      </p:sp>
      <p:sp>
        <p:nvSpPr>
          <p:cNvPr id="542" name="Google Shape;542;p32"/>
          <p:cNvSpPr/>
          <p:nvPr/>
        </p:nvSpPr>
        <p:spPr>
          <a:xfrm>
            <a:off x="7818005" y="3216402"/>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onsolas"/>
              <a:buNone/>
            </a:pPr>
            <a:r>
              <a:rPr b="0" i="0" lang="en-GB" sz="1100" u="none" cap="none" strike="noStrike">
                <a:solidFill>
                  <a:srgbClr val="4597E1"/>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543" name="Google Shape;543;p32"/>
          <p:cNvSpPr/>
          <p:nvPr/>
        </p:nvSpPr>
        <p:spPr>
          <a:xfrm>
            <a:off x="6531901" y="2544318"/>
            <a:ext cx="1929155" cy="891540"/>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4" name="Google Shape;544;p32"/>
          <p:cNvSpPr/>
          <p:nvPr/>
        </p:nvSpPr>
        <p:spPr>
          <a:xfrm>
            <a:off x="6531901" y="3449574"/>
            <a:ext cx="1929155" cy="15087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597E1"/>
              </a:buClr>
              <a:buSzPts val="600"/>
              <a:buFont typeface="Calibri"/>
              <a:buNone/>
            </a:pPr>
            <a:r>
              <a:rPr b="0" i="1" lang="en-GB" sz="1100" u="none" cap="none" strike="noStrike">
                <a:solidFill>
                  <a:srgbClr val="4597E1"/>
                </a:solidFill>
                <a:latin typeface="Calibri"/>
                <a:ea typeface="Calibri"/>
                <a:cs typeface="Calibri"/>
                <a:sym typeface="Calibri"/>
              </a:rPr>
              <a:t>all rows returned</a:t>
            </a:r>
            <a:endParaRPr b="0" i="0" sz="1100" u="none" cap="none" strike="noStrike">
              <a:solidFill>
                <a:schemeClr val="dk1"/>
              </a:solidFill>
              <a:latin typeface="Calibri"/>
              <a:ea typeface="Calibri"/>
              <a:cs typeface="Calibri"/>
              <a:sym typeface="Calibri"/>
            </a:endParaRPr>
          </a:p>
        </p:txBody>
      </p:sp>
      <p:sp>
        <p:nvSpPr>
          <p:cNvPr id="545" name="Google Shape;545;p32"/>
          <p:cNvSpPr/>
          <p:nvPr/>
        </p:nvSpPr>
        <p:spPr>
          <a:xfrm>
            <a:off x="3132150" y="3855019"/>
            <a:ext cx="4869225"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600" u="none" cap="none" strike="noStrike">
                <a:solidFill>
                  <a:srgbClr val="16334D"/>
                </a:solidFill>
                <a:latin typeface="Cambria"/>
                <a:ea typeface="Cambria"/>
                <a:cs typeface="Cambria"/>
                <a:sym typeface="Cambria"/>
              </a:rPr>
              <a:t>The most-used command in the industry</a:t>
            </a:r>
            <a:endParaRPr b="0" i="0" sz="1600" u="none" cap="none" strike="noStrike">
              <a:solidFill>
                <a:schemeClr val="dk1"/>
              </a:solidFill>
              <a:latin typeface="Calibri"/>
              <a:ea typeface="Calibri"/>
              <a:cs typeface="Calibri"/>
              <a:sym typeface="Calibri"/>
            </a:endParaRPr>
          </a:p>
        </p:txBody>
      </p:sp>
      <p:sp>
        <p:nvSpPr>
          <p:cNvPr id="546" name="Google Shape;546;p32"/>
          <p:cNvSpPr/>
          <p:nvPr/>
        </p:nvSpPr>
        <p:spPr>
          <a:xfrm>
            <a:off x="3139238" y="4162800"/>
            <a:ext cx="5333625"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500" u="none" cap="none" strike="noStrike">
                <a:solidFill>
                  <a:srgbClr val="16334D"/>
                </a:solidFill>
                <a:latin typeface="Calibri"/>
                <a:ea typeface="Calibri"/>
                <a:cs typeface="Calibri"/>
                <a:sym typeface="Calibri"/>
              </a:rPr>
              <a:t>SELECT retrieves data — it changes nothing. It’s the command you’ll write more than any other. We’ll go deep on filtering, sorting, and pagination with SELECT in the very next lecture.</a:t>
            </a:r>
            <a:endParaRPr b="0" i="0" sz="1500" u="none" cap="none" strike="noStrike">
              <a:solidFill>
                <a:schemeClr val="dk1"/>
              </a:solidFill>
              <a:latin typeface="Calibri"/>
              <a:ea typeface="Calibri"/>
              <a:cs typeface="Calibri"/>
              <a:sym typeface="Calibri"/>
            </a:endParaRPr>
          </a:p>
        </p:txBody>
      </p:sp>
      <p:pic>
        <p:nvPicPr>
          <p:cNvPr descr="/home/claude/dbms_lecture2/logo/newton_logo_transparent.png" id="547" name="Google Shape;547;p32"/>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548" name="Google Shape;548;p32"/>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18</a:t>
            </a:r>
            <a:endParaRPr b="0" i="0" sz="1100" u="none" cap="none" strike="noStrike">
              <a:solidFill>
                <a:schemeClr val="dk1"/>
              </a:solidFill>
              <a:latin typeface="Calibri"/>
              <a:ea typeface="Calibri"/>
              <a:cs typeface="Calibri"/>
              <a:sym typeface="Calibri"/>
            </a:endParaRPr>
          </a:p>
        </p:txBody>
      </p:sp>
      <p:pic>
        <p:nvPicPr>
          <p:cNvPr id="549" name="Google Shape;549;p32" title="Screenshot 2026-07-21 at 4.51.36 PM.png"/>
          <p:cNvPicPr preferRelativeResize="0"/>
          <p:nvPr/>
        </p:nvPicPr>
        <p:blipFill rotWithShape="1">
          <a:blip r:embed="rId4">
            <a:alphaModFix/>
          </a:blip>
          <a:srcRect b="0" l="0" r="0" t="0"/>
          <a:stretch/>
        </p:blipFill>
        <p:spPr>
          <a:xfrm>
            <a:off x="3099994" y="2023106"/>
            <a:ext cx="5473011" cy="1661279"/>
          </a:xfrm>
          <a:prstGeom prst="rect">
            <a:avLst/>
          </a:prstGeom>
          <a:solidFill>
            <a:srgbClr val="F8FAFB"/>
          </a:solidFill>
          <a:ln>
            <a:noFill/>
          </a:ln>
          <a:effectLst>
            <a:outerShdw blurRad="76200" rotWithShape="0" algn="bl" dir="5400000" dist="25400">
              <a:srgbClr val="3D444B">
                <a:alpha val="18039"/>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3"/>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79C4"/>
              </a:buClr>
              <a:buSzPts val="1000"/>
              <a:buFont typeface="Calibri"/>
              <a:buNone/>
            </a:pPr>
            <a:r>
              <a:rPr b="1" i="0" lang="en-GB" sz="1100" u="none" cap="none" strike="noStrike">
                <a:solidFill>
                  <a:srgbClr val="2579C4"/>
                </a:solidFill>
                <a:latin typeface="Calibri"/>
                <a:ea typeface="Calibri"/>
                <a:cs typeface="Calibri"/>
                <a:sym typeface="Calibri"/>
              </a:rPr>
              <a:t>DML COMMAND 3</a:t>
            </a:r>
            <a:endParaRPr b="0" i="0" sz="1100" u="none" cap="none" strike="noStrike">
              <a:solidFill>
                <a:schemeClr val="dk1"/>
              </a:solidFill>
              <a:latin typeface="Calibri"/>
              <a:ea typeface="Calibri"/>
              <a:cs typeface="Calibri"/>
              <a:sym typeface="Calibri"/>
            </a:endParaRPr>
          </a:p>
        </p:txBody>
      </p:sp>
      <p:sp>
        <p:nvSpPr>
          <p:cNvPr id="556" name="Google Shape;556;p33"/>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UPDATE — correcting a mistake</a:t>
            </a:r>
            <a:endParaRPr b="0" i="0" sz="2000" u="none" cap="none" strike="noStrike">
              <a:solidFill>
                <a:schemeClr val="dk1"/>
              </a:solidFill>
              <a:latin typeface="Calibri"/>
              <a:ea typeface="Calibri"/>
              <a:cs typeface="Calibri"/>
              <a:sym typeface="Calibri"/>
            </a:endParaRPr>
          </a:p>
        </p:txBody>
      </p:sp>
      <p:sp>
        <p:nvSpPr>
          <p:cNvPr id="557" name="Google Shape;557;p33"/>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33"/>
          <p:cNvSpPr/>
          <p:nvPr/>
        </p:nvSpPr>
        <p:spPr>
          <a:xfrm>
            <a:off x="411480" y="1097280"/>
            <a:ext cx="8298180" cy="72009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33"/>
          <p:cNvSpPr/>
          <p:nvPr/>
        </p:nvSpPr>
        <p:spPr>
          <a:xfrm>
            <a:off x="492220" y="1172685"/>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400" u="none" cap="none" strike="noStrike">
                <a:solidFill>
                  <a:srgbClr val="368EDE"/>
                </a:solidFill>
                <a:latin typeface="Calibri"/>
                <a:ea typeface="Calibri"/>
                <a:cs typeface="Calibri"/>
                <a:sym typeface="Calibri"/>
              </a:rPr>
              <a:t>THE PRINCIPAL WALKS IN</a:t>
            </a:r>
            <a:endParaRPr b="0" i="0" sz="1400" u="none" cap="none" strike="noStrike">
              <a:solidFill>
                <a:schemeClr val="dk1"/>
              </a:solidFill>
              <a:latin typeface="Calibri"/>
              <a:ea typeface="Calibri"/>
              <a:cs typeface="Calibri"/>
              <a:sym typeface="Calibri"/>
            </a:endParaRPr>
          </a:p>
        </p:txBody>
      </p:sp>
      <p:sp>
        <p:nvSpPr>
          <p:cNvPr id="560" name="Google Shape;560;p33"/>
          <p:cNvSpPr/>
          <p:nvPr/>
        </p:nvSpPr>
        <p:spPr>
          <a:xfrm>
            <a:off x="492225" y="1366387"/>
            <a:ext cx="7338000" cy="387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600" u="none" cap="none" strike="noStrike">
                <a:solidFill>
                  <a:srgbClr val="16334D"/>
                </a:solidFill>
                <a:latin typeface="Cambria"/>
                <a:ea typeface="Cambria"/>
                <a:cs typeface="Cambria"/>
                <a:sym typeface="Cambria"/>
              </a:rPr>
              <a:t>"Riya’s branch was entered wrong — she’s actually in CSE, not ECE."</a:t>
            </a:r>
            <a:endParaRPr b="0" i="0" sz="1600" u="none" cap="none" strike="noStrike">
              <a:solidFill>
                <a:schemeClr val="dk1"/>
              </a:solidFill>
              <a:latin typeface="Calibri"/>
              <a:ea typeface="Calibri"/>
              <a:cs typeface="Calibri"/>
              <a:sym typeface="Calibri"/>
            </a:endParaRPr>
          </a:p>
        </p:txBody>
      </p:sp>
      <p:sp>
        <p:nvSpPr>
          <p:cNvPr id="561" name="Google Shape;561;p33"/>
          <p:cNvSpPr/>
          <p:nvPr/>
        </p:nvSpPr>
        <p:spPr>
          <a:xfrm>
            <a:off x="395044" y="2599163"/>
            <a:ext cx="2408400" cy="129600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562" name="Google Shape;562;p33"/>
          <p:cNvSpPr/>
          <p:nvPr/>
        </p:nvSpPr>
        <p:spPr>
          <a:xfrm>
            <a:off x="548640" y="2132838"/>
            <a:ext cx="96012" cy="96012"/>
          </a:xfrm>
          <a:prstGeom prst="ellipse">
            <a:avLst/>
          </a:prstGeom>
          <a:solidFill>
            <a:srgbClr val="9FC9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3" name="Google Shape;563;p33"/>
          <p:cNvSpPr/>
          <p:nvPr/>
        </p:nvSpPr>
        <p:spPr>
          <a:xfrm>
            <a:off x="740664" y="2132838"/>
            <a:ext cx="96012" cy="96012"/>
          </a:xfrm>
          <a:prstGeom prst="ellipse">
            <a:avLst/>
          </a:prstGeom>
          <a:solidFill>
            <a:srgbClr val="89BD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4" name="Google Shape;564;p33"/>
          <p:cNvSpPr/>
          <p:nvPr/>
        </p:nvSpPr>
        <p:spPr>
          <a:xfrm>
            <a:off x="932688" y="2132838"/>
            <a:ext cx="96012" cy="96012"/>
          </a:xfrm>
          <a:prstGeom prst="ellipse">
            <a:avLst/>
          </a:prstGeom>
          <a:solidFill>
            <a:srgbClr val="549F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5" name="Google Shape;565;p33"/>
          <p:cNvSpPr/>
          <p:nvPr/>
        </p:nvSpPr>
        <p:spPr>
          <a:xfrm>
            <a:off x="492224" y="2691752"/>
            <a:ext cx="2504250" cy="1091025"/>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600" u="none" cap="none" strike="noStrike">
                <a:solidFill>
                  <a:srgbClr val="81B8E9"/>
                </a:solidFill>
                <a:latin typeface="Consolas"/>
                <a:ea typeface="Consolas"/>
                <a:cs typeface="Consolas"/>
                <a:sym typeface="Consolas"/>
              </a:rPr>
              <a:t>UPDATE students</a:t>
            </a:r>
            <a:endParaRPr b="0" i="0" sz="16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BEEF1"/>
              </a:buClr>
              <a:buSzPts val="1100"/>
              <a:buFont typeface="Consolas"/>
              <a:buNone/>
            </a:pPr>
            <a:r>
              <a:rPr b="0" i="0" lang="en-GB" sz="1600" u="none" cap="none" strike="noStrike">
                <a:solidFill>
                  <a:srgbClr val="EBEEF1"/>
                </a:solidFill>
                <a:latin typeface="Consolas"/>
                <a:ea typeface="Consolas"/>
                <a:cs typeface="Consolas"/>
                <a:sym typeface="Consolas"/>
              </a:rPr>
              <a:t>SET branch = 'CSE'</a:t>
            </a:r>
            <a:endParaRPr b="0" i="0" sz="16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92C1EC"/>
              </a:buClr>
              <a:buSzPts val="1100"/>
              <a:buFont typeface="Consolas"/>
              <a:buNone/>
            </a:pPr>
            <a:r>
              <a:rPr b="0" i="0" lang="en-GB" sz="1600" u="none" cap="none" strike="noStrike">
                <a:solidFill>
                  <a:srgbClr val="92C1EC"/>
                </a:solidFill>
                <a:latin typeface="Consolas"/>
                <a:ea typeface="Consolas"/>
                <a:cs typeface="Consolas"/>
                <a:sym typeface="Consolas"/>
              </a:rPr>
              <a:t>WHERE name = 'Riya';</a:t>
            </a:r>
            <a:endParaRPr b="0" i="0" sz="1600" u="none" cap="none" strike="noStrike">
              <a:solidFill>
                <a:schemeClr val="dk1"/>
              </a:solidFill>
              <a:latin typeface="Calibri"/>
              <a:ea typeface="Calibri"/>
              <a:cs typeface="Calibri"/>
              <a:sym typeface="Calibri"/>
            </a:endParaRPr>
          </a:p>
        </p:txBody>
      </p:sp>
      <p:sp>
        <p:nvSpPr>
          <p:cNvPr id="566" name="Google Shape;566;p33"/>
          <p:cNvSpPr/>
          <p:nvPr/>
        </p:nvSpPr>
        <p:spPr>
          <a:xfrm>
            <a:off x="2915155" y="2023106"/>
            <a:ext cx="5794425" cy="2640375"/>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567" name="Google Shape;567;p33"/>
          <p:cNvSpPr/>
          <p:nvPr/>
        </p:nvSpPr>
        <p:spPr>
          <a:xfrm>
            <a:off x="3986213"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568" name="Google Shape;568;p33"/>
          <p:cNvSpPr/>
          <p:nvPr/>
        </p:nvSpPr>
        <p:spPr>
          <a:xfrm>
            <a:off x="6531901"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569" name="Google Shape;569;p33"/>
          <p:cNvSpPr/>
          <p:nvPr/>
        </p:nvSpPr>
        <p:spPr>
          <a:xfrm>
            <a:off x="5975032" y="2791206"/>
            <a:ext cx="497204" cy="205740"/>
          </a:xfrm>
          <a:prstGeom prst="rightArrow">
            <a:avLst>
              <a:gd fmla="val 50000" name="adj1"/>
              <a:gd fmla="val 50000" name="adj2"/>
            </a:avLst>
          </a:prstGeom>
          <a:solidFill>
            <a:srgbClr val="65A9E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0" name="Google Shape;570;p33"/>
          <p:cNvSpPr/>
          <p:nvPr/>
        </p:nvSpPr>
        <p:spPr>
          <a:xfrm>
            <a:off x="3986213" y="2544318"/>
            <a:ext cx="1929155" cy="233172"/>
          </a:xfrm>
          <a:prstGeom prst="rect">
            <a:avLst/>
          </a:prstGeom>
          <a:solidFill>
            <a:srgbClr val="2579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1" name="Google Shape;571;p33"/>
          <p:cNvSpPr/>
          <p:nvPr/>
        </p:nvSpPr>
        <p:spPr>
          <a:xfrm>
            <a:off x="3986213" y="2544318"/>
            <a:ext cx="964577"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572" name="Google Shape;572;p33"/>
          <p:cNvSpPr/>
          <p:nvPr/>
        </p:nvSpPr>
        <p:spPr>
          <a:xfrm>
            <a:off x="4950790" y="2544318"/>
            <a:ext cx="964577"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573" name="Google Shape;573;p33"/>
          <p:cNvSpPr/>
          <p:nvPr/>
        </p:nvSpPr>
        <p:spPr>
          <a:xfrm>
            <a:off x="3986213" y="2777490"/>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4" name="Google Shape;574;p33"/>
          <p:cNvSpPr/>
          <p:nvPr/>
        </p:nvSpPr>
        <p:spPr>
          <a:xfrm>
            <a:off x="3986213" y="2777490"/>
            <a:ext cx="964577"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700"/>
              <a:buFont typeface="Consolas"/>
              <a:buNone/>
            </a:pPr>
            <a:r>
              <a:rPr b="0" i="0" lang="en-GB" sz="1100" u="none" cap="none" strike="noStrike">
                <a:solidFill>
                  <a:srgbClr val="16334D"/>
                </a:solidFill>
                <a:latin typeface="Consolas"/>
                <a:ea typeface="Consolas"/>
                <a:cs typeface="Consolas"/>
                <a:sym typeface="Consolas"/>
              </a:rPr>
              <a:t>Riya</a:t>
            </a:r>
            <a:endParaRPr b="0" i="0" sz="1100" u="none" cap="none" strike="noStrike">
              <a:solidFill>
                <a:schemeClr val="dk1"/>
              </a:solidFill>
              <a:latin typeface="Calibri"/>
              <a:ea typeface="Calibri"/>
              <a:cs typeface="Calibri"/>
              <a:sym typeface="Calibri"/>
            </a:endParaRPr>
          </a:p>
        </p:txBody>
      </p:sp>
      <p:sp>
        <p:nvSpPr>
          <p:cNvPr id="575" name="Google Shape;575;p33"/>
          <p:cNvSpPr/>
          <p:nvPr/>
        </p:nvSpPr>
        <p:spPr>
          <a:xfrm>
            <a:off x="4950790" y="2777490"/>
            <a:ext cx="964577"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700"/>
              <a:buFont typeface="Consolas"/>
              <a:buNone/>
            </a:pPr>
            <a:r>
              <a:rPr b="0" i="0" lang="en-GB" sz="1100" u="none" cap="none" strike="noStrike">
                <a:solidFill>
                  <a:srgbClr val="16334D"/>
                </a:solidFill>
                <a:latin typeface="Consolas"/>
                <a:ea typeface="Consolas"/>
                <a:cs typeface="Consolas"/>
                <a:sym typeface="Consolas"/>
              </a:rPr>
              <a:t>ECE</a:t>
            </a:r>
            <a:endParaRPr b="0" i="0" sz="1100" u="none" cap="none" strike="noStrike">
              <a:solidFill>
                <a:schemeClr val="dk1"/>
              </a:solidFill>
              <a:latin typeface="Calibri"/>
              <a:ea typeface="Calibri"/>
              <a:cs typeface="Calibri"/>
              <a:sym typeface="Calibri"/>
            </a:endParaRPr>
          </a:p>
        </p:txBody>
      </p:sp>
      <p:sp>
        <p:nvSpPr>
          <p:cNvPr id="576" name="Google Shape;576;p33"/>
          <p:cNvSpPr/>
          <p:nvPr/>
        </p:nvSpPr>
        <p:spPr>
          <a:xfrm>
            <a:off x="3986213" y="2544318"/>
            <a:ext cx="1929155" cy="452628"/>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7" name="Google Shape;577;p33"/>
          <p:cNvSpPr/>
          <p:nvPr/>
        </p:nvSpPr>
        <p:spPr>
          <a:xfrm>
            <a:off x="6531901" y="2544318"/>
            <a:ext cx="1929155" cy="233172"/>
          </a:xfrm>
          <a:prstGeom prst="rect">
            <a:avLst/>
          </a:prstGeom>
          <a:solidFill>
            <a:srgbClr val="2579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8" name="Google Shape;578;p33"/>
          <p:cNvSpPr/>
          <p:nvPr/>
        </p:nvSpPr>
        <p:spPr>
          <a:xfrm>
            <a:off x="6531901" y="2544318"/>
            <a:ext cx="964577"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579" name="Google Shape;579;p33"/>
          <p:cNvSpPr/>
          <p:nvPr/>
        </p:nvSpPr>
        <p:spPr>
          <a:xfrm>
            <a:off x="7496479" y="2544318"/>
            <a:ext cx="964577"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580" name="Google Shape;580;p33"/>
          <p:cNvSpPr/>
          <p:nvPr/>
        </p:nvSpPr>
        <p:spPr>
          <a:xfrm>
            <a:off x="6531901" y="2777490"/>
            <a:ext cx="1929155" cy="219456"/>
          </a:xfrm>
          <a:prstGeom prst="rect">
            <a:avLst/>
          </a:prstGeom>
          <a:solidFill>
            <a:srgbClr val="E6ECF1"/>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1" name="Google Shape;581;p33"/>
          <p:cNvSpPr/>
          <p:nvPr/>
        </p:nvSpPr>
        <p:spPr>
          <a:xfrm>
            <a:off x="6531902" y="2777490"/>
            <a:ext cx="59664" cy="219456"/>
          </a:xfrm>
          <a:prstGeom prst="rect">
            <a:avLst/>
          </a:prstGeom>
          <a:solidFill>
            <a:srgbClr val="65A9E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2" name="Google Shape;582;p33"/>
          <p:cNvSpPr/>
          <p:nvPr/>
        </p:nvSpPr>
        <p:spPr>
          <a:xfrm>
            <a:off x="6531901" y="2777490"/>
            <a:ext cx="964577"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368EDE"/>
              </a:buClr>
              <a:buSzPts val="700"/>
              <a:buFont typeface="Consolas"/>
              <a:buNone/>
            </a:pPr>
            <a:r>
              <a:rPr b="1" i="0" lang="en-GB" sz="1100" u="none" cap="none" strike="noStrike">
                <a:solidFill>
                  <a:srgbClr val="368EDE"/>
                </a:solidFill>
                <a:latin typeface="Consolas"/>
                <a:ea typeface="Consolas"/>
                <a:cs typeface="Consolas"/>
                <a:sym typeface="Consolas"/>
              </a:rPr>
              <a:t>Riya</a:t>
            </a:r>
            <a:endParaRPr b="0" i="0" sz="1100" u="none" cap="none" strike="noStrike">
              <a:solidFill>
                <a:schemeClr val="dk1"/>
              </a:solidFill>
              <a:latin typeface="Calibri"/>
              <a:ea typeface="Calibri"/>
              <a:cs typeface="Calibri"/>
              <a:sym typeface="Calibri"/>
            </a:endParaRPr>
          </a:p>
        </p:txBody>
      </p:sp>
      <p:sp>
        <p:nvSpPr>
          <p:cNvPr id="583" name="Google Shape;583;p33"/>
          <p:cNvSpPr/>
          <p:nvPr/>
        </p:nvSpPr>
        <p:spPr>
          <a:xfrm>
            <a:off x="7496479" y="2777490"/>
            <a:ext cx="964577"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368EDE"/>
              </a:buClr>
              <a:buSzPts val="700"/>
              <a:buFont typeface="Consolas"/>
              <a:buNone/>
            </a:pPr>
            <a:r>
              <a:rPr b="1" i="0" lang="en-GB" sz="1100" u="none" cap="none" strike="noStrike">
                <a:solidFill>
                  <a:srgbClr val="368EDE"/>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584" name="Google Shape;584;p33"/>
          <p:cNvSpPr/>
          <p:nvPr/>
        </p:nvSpPr>
        <p:spPr>
          <a:xfrm>
            <a:off x="6531901" y="2544318"/>
            <a:ext cx="1929155" cy="452628"/>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5" name="Google Shape;585;p33"/>
          <p:cNvSpPr/>
          <p:nvPr/>
        </p:nvSpPr>
        <p:spPr>
          <a:xfrm>
            <a:off x="3081169" y="3474155"/>
            <a:ext cx="4474800"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600" u="none" cap="none" strike="noStrike">
                <a:solidFill>
                  <a:srgbClr val="16334D"/>
                </a:solidFill>
                <a:latin typeface="Cambria"/>
                <a:ea typeface="Cambria"/>
                <a:cs typeface="Cambria"/>
                <a:sym typeface="Cambria"/>
              </a:rPr>
              <a:t>Always pair UPDATE with WHERE</a:t>
            </a:r>
            <a:endParaRPr b="0" i="0" sz="1600" u="none" cap="none" strike="noStrike">
              <a:solidFill>
                <a:schemeClr val="dk1"/>
              </a:solidFill>
              <a:latin typeface="Calibri"/>
              <a:ea typeface="Calibri"/>
              <a:cs typeface="Calibri"/>
              <a:sym typeface="Calibri"/>
            </a:endParaRPr>
          </a:p>
        </p:txBody>
      </p:sp>
      <p:sp>
        <p:nvSpPr>
          <p:cNvPr id="586" name="Google Shape;586;p33"/>
          <p:cNvSpPr/>
          <p:nvPr/>
        </p:nvSpPr>
        <p:spPr>
          <a:xfrm>
            <a:off x="3144900" y="3831619"/>
            <a:ext cx="4901625"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500" u="none" cap="none" strike="noStrike">
                <a:solidFill>
                  <a:srgbClr val="16334D"/>
                </a:solidFill>
                <a:latin typeface="Calibri"/>
                <a:ea typeface="Calibri"/>
                <a:cs typeface="Calibri"/>
                <a:sym typeface="Calibri"/>
              </a:rPr>
              <a:t>UPDATE modifies existing data in place. Without a WHERE clause, it updates every single row in the table — a classic and costly mistake.</a:t>
            </a:r>
            <a:endParaRPr b="0" i="0" sz="1500" u="none" cap="none" strike="noStrike">
              <a:solidFill>
                <a:schemeClr val="dk1"/>
              </a:solidFill>
              <a:latin typeface="Calibri"/>
              <a:ea typeface="Calibri"/>
              <a:cs typeface="Calibri"/>
              <a:sym typeface="Calibri"/>
            </a:endParaRPr>
          </a:p>
        </p:txBody>
      </p:sp>
      <p:pic>
        <p:nvPicPr>
          <p:cNvPr descr="/home/claude/dbms_lecture2/logo/newton_logo_transparent.png" id="587" name="Google Shape;587;p33"/>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588" name="Google Shape;588;p33"/>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19</a:t>
            </a:r>
            <a:endParaRPr b="0" i="0" sz="1100" u="none" cap="none" strike="noStrike">
              <a:solidFill>
                <a:schemeClr val="dk1"/>
              </a:solidFill>
              <a:latin typeface="Calibri"/>
              <a:ea typeface="Calibri"/>
              <a:cs typeface="Calibri"/>
              <a:sym typeface="Calibri"/>
            </a:endParaRPr>
          </a:p>
        </p:txBody>
      </p:sp>
      <p:pic>
        <p:nvPicPr>
          <p:cNvPr id="589" name="Google Shape;589;p33" title="Screenshot 2026-07-21 at 4.54.26 PM.png"/>
          <p:cNvPicPr preferRelativeResize="0"/>
          <p:nvPr/>
        </p:nvPicPr>
        <p:blipFill rotWithShape="1">
          <a:blip r:embed="rId4">
            <a:alphaModFix/>
          </a:blip>
          <a:srcRect b="0" l="0" r="0" t="0"/>
          <a:stretch/>
        </p:blipFill>
        <p:spPr>
          <a:xfrm>
            <a:off x="2996475" y="2132831"/>
            <a:ext cx="5635819" cy="1153219"/>
          </a:xfrm>
          <a:prstGeom prst="rect">
            <a:avLst/>
          </a:prstGeom>
          <a:solidFill>
            <a:srgbClr val="F8FAFB"/>
          </a:solidFill>
          <a:ln>
            <a:noFill/>
          </a:ln>
          <a:effectLst>
            <a:outerShdw blurRad="76200" rotWithShape="0" algn="bl" dir="5400000" dist="25400">
              <a:srgbClr val="3D444B">
                <a:alpha val="18039"/>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4"/>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79C4"/>
              </a:buClr>
              <a:buSzPts val="1000"/>
              <a:buFont typeface="Calibri"/>
              <a:buNone/>
            </a:pPr>
            <a:r>
              <a:rPr b="1" i="0" lang="en-GB" sz="1100" u="none" cap="none" strike="noStrike">
                <a:solidFill>
                  <a:srgbClr val="2579C4"/>
                </a:solidFill>
                <a:latin typeface="Calibri"/>
                <a:ea typeface="Calibri"/>
                <a:cs typeface="Calibri"/>
                <a:sym typeface="Calibri"/>
              </a:rPr>
              <a:t>DML COMMAND 4</a:t>
            </a:r>
            <a:endParaRPr b="0" i="0" sz="1100" u="none" cap="none" strike="noStrike">
              <a:solidFill>
                <a:schemeClr val="dk1"/>
              </a:solidFill>
              <a:latin typeface="Calibri"/>
              <a:ea typeface="Calibri"/>
              <a:cs typeface="Calibri"/>
              <a:sym typeface="Calibri"/>
            </a:endParaRPr>
          </a:p>
        </p:txBody>
      </p:sp>
      <p:sp>
        <p:nvSpPr>
          <p:cNvPr id="596" name="Google Shape;596;p34"/>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DELETE — removing a student record</a:t>
            </a:r>
            <a:endParaRPr b="0" i="0" sz="2000" u="none" cap="none" strike="noStrike">
              <a:solidFill>
                <a:schemeClr val="dk1"/>
              </a:solidFill>
              <a:latin typeface="Calibri"/>
              <a:ea typeface="Calibri"/>
              <a:cs typeface="Calibri"/>
              <a:sym typeface="Calibri"/>
            </a:endParaRPr>
          </a:p>
        </p:txBody>
      </p:sp>
      <p:sp>
        <p:nvSpPr>
          <p:cNvPr id="597" name="Google Shape;597;p34"/>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34"/>
          <p:cNvSpPr/>
          <p:nvPr/>
        </p:nvSpPr>
        <p:spPr>
          <a:xfrm>
            <a:off x="411480" y="1097280"/>
            <a:ext cx="8298180" cy="72009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34"/>
          <p:cNvSpPr/>
          <p:nvPr/>
        </p:nvSpPr>
        <p:spPr>
          <a:xfrm>
            <a:off x="548620" y="1172685"/>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400" u="none" cap="none" strike="noStrike">
                <a:solidFill>
                  <a:srgbClr val="368EDE"/>
                </a:solidFill>
                <a:latin typeface="Calibri"/>
                <a:ea typeface="Calibri"/>
                <a:cs typeface="Calibri"/>
                <a:sym typeface="Calibri"/>
              </a:rPr>
              <a:t>THE PRINCIPAL WALKS IN</a:t>
            </a:r>
            <a:endParaRPr b="0" i="0" sz="1400" u="none" cap="none" strike="noStrike">
              <a:solidFill>
                <a:schemeClr val="dk1"/>
              </a:solidFill>
              <a:latin typeface="Calibri"/>
              <a:ea typeface="Calibri"/>
              <a:cs typeface="Calibri"/>
              <a:sym typeface="Calibri"/>
            </a:endParaRPr>
          </a:p>
        </p:txBody>
      </p:sp>
      <p:sp>
        <p:nvSpPr>
          <p:cNvPr id="600" name="Google Shape;600;p34"/>
          <p:cNvSpPr/>
          <p:nvPr/>
        </p:nvSpPr>
        <p:spPr>
          <a:xfrm>
            <a:off x="487970" y="1354384"/>
            <a:ext cx="73380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600" u="none" cap="none" strike="noStrike">
                <a:solidFill>
                  <a:srgbClr val="16334D"/>
                </a:solidFill>
                <a:latin typeface="Cambria"/>
                <a:ea typeface="Cambria"/>
                <a:cs typeface="Cambria"/>
                <a:sym typeface="Cambria"/>
              </a:rPr>
              <a:t>"This student dropped out last month. Remove their record."</a:t>
            </a:r>
            <a:endParaRPr b="0" i="0" sz="1600" u="none" cap="none" strike="noStrike">
              <a:solidFill>
                <a:schemeClr val="dk1"/>
              </a:solidFill>
              <a:latin typeface="Calibri"/>
              <a:ea typeface="Calibri"/>
              <a:cs typeface="Calibri"/>
              <a:sym typeface="Calibri"/>
            </a:endParaRPr>
          </a:p>
        </p:txBody>
      </p:sp>
      <p:sp>
        <p:nvSpPr>
          <p:cNvPr id="601" name="Google Shape;601;p34"/>
          <p:cNvSpPr/>
          <p:nvPr/>
        </p:nvSpPr>
        <p:spPr>
          <a:xfrm>
            <a:off x="487969" y="2570794"/>
            <a:ext cx="2408175" cy="171225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602" name="Google Shape;602;p34"/>
          <p:cNvSpPr/>
          <p:nvPr/>
        </p:nvSpPr>
        <p:spPr>
          <a:xfrm>
            <a:off x="548640" y="2132838"/>
            <a:ext cx="96012" cy="96012"/>
          </a:xfrm>
          <a:prstGeom prst="ellipse">
            <a:avLst/>
          </a:prstGeom>
          <a:solidFill>
            <a:srgbClr val="9FC9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3" name="Google Shape;603;p34"/>
          <p:cNvSpPr/>
          <p:nvPr/>
        </p:nvSpPr>
        <p:spPr>
          <a:xfrm>
            <a:off x="740664" y="2132838"/>
            <a:ext cx="96012" cy="96012"/>
          </a:xfrm>
          <a:prstGeom prst="ellipse">
            <a:avLst/>
          </a:prstGeom>
          <a:solidFill>
            <a:srgbClr val="89BD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4" name="Google Shape;604;p34"/>
          <p:cNvSpPr/>
          <p:nvPr/>
        </p:nvSpPr>
        <p:spPr>
          <a:xfrm>
            <a:off x="932688" y="2132838"/>
            <a:ext cx="96012" cy="96012"/>
          </a:xfrm>
          <a:prstGeom prst="ellipse">
            <a:avLst/>
          </a:prstGeom>
          <a:solidFill>
            <a:srgbClr val="549F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5" name="Google Shape;605;p34"/>
          <p:cNvSpPr/>
          <p:nvPr/>
        </p:nvSpPr>
        <p:spPr>
          <a:xfrm>
            <a:off x="548644" y="2841169"/>
            <a:ext cx="2178000" cy="15043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600" u="none" cap="none" strike="noStrike">
                <a:solidFill>
                  <a:srgbClr val="81B8E9"/>
                </a:solidFill>
                <a:latin typeface="Consolas"/>
                <a:ea typeface="Consolas"/>
                <a:cs typeface="Consolas"/>
                <a:sym typeface="Consolas"/>
              </a:rPr>
              <a:t>DELETE FROM students</a:t>
            </a:r>
            <a:endParaRPr b="0" i="0" sz="16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92C1EC"/>
              </a:buClr>
              <a:buSzPts val="1100"/>
              <a:buFont typeface="Consolas"/>
              <a:buNone/>
            </a:pPr>
            <a:r>
              <a:rPr b="0" i="0" lang="en-GB" sz="1600" u="none" cap="none" strike="noStrike">
                <a:solidFill>
                  <a:srgbClr val="92C1EC"/>
                </a:solidFill>
                <a:latin typeface="Consolas"/>
                <a:ea typeface="Consolas"/>
                <a:cs typeface="Consolas"/>
                <a:sym typeface="Consolas"/>
              </a:rPr>
              <a:t>WHERE name = 'Sneha';</a:t>
            </a:r>
            <a:endParaRPr b="0" i="0" sz="1600" u="none" cap="none" strike="noStrike">
              <a:solidFill>
                <a:schemeClr val="dk1"/>
              </a:solidFill>
              <a:latin typeface="Calibri"/>
              <a:ea typeface="Calibri"/>
              <a:cs typeface="Calibri"/>
              <a:sym typeface="Calibri"/>
            </a:endParaRPr>
          </a:p>
        </p:txBody>
      </p:sp>
      <p:sp>
        <p:nvSpPr>
          <p:cNvPr id="606" name="Google Shape;606;p34"/>
          <p:cNvSpPr/>
          <p:nvPr/>
        </p:nvSpPr>
        <p:spPr>
          <a:xfrm>
            <a:off x="3093625" y="2023100"/>
            <a:ext cx="5616000" cy="2777400"/>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607" name="Google Shape;607;p34"/>
          <p:cNvSpPr/>
          <p:nvPr/>
        </p:nvSpPr>
        <p:spPr>
          <a:xfrm>
            <a:off x="3986213"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608" name="Google Shape;608;p34"/>
          <p:cNvSpPr/>
          <p:nvPr/>
        </p:nvSpPr>
        <p:spPr>
          <a:xfrm>
            <a:off x="6531901" y="2297430"/>
            <a:ext cx="1929155" cy="19202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100" u="none" cap="none" strike="noStrike">
                <a:solidFill>
                  <a:srgbClr val="598DBD"/>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609" name="Google Shape;609;p34"/>
          <p:cNvSpPr/>
          <p:nvPr/>
        </p:nvSpPr>
        <p:spPr>
          <a:xfrm>
            <a:off x="5975032" y="2791206"/>
            <a:ext cx="497204" cy="205740"/>
          </a:xfrm>
          <a:prstGeom prst="rightArrow">
            <a:avLst>
              <a:gd fmla="val 50000" name="adj1"/>
              <a:gd fmla="val 50000" name="adj2"/>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0" name="Google Shape;610;p34"/>
          <p:cNvSpPr/>
          <p:nvPr/>
        </p:nvSpPr>
        <p:spPr>
          <a:xfrm>
            <a:off x="3986213" y="2544318"/>
            <a:ext cx="1929155" cy="233172"/>
          </a:xfrm>
          <a:prstGeom prst="rect">
            <a:avLst/>
          </a:prstGeom>
          <a:solidFill>
            <a:srgbClr val="2579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1" name="Google Shape;611;p34"/>
          <p:cNvSpPr/>
          <p:nvPr/>
        </p:nvSpPr>
        <p:spPr>
          <a:xfrm>
            <a:off x="3986213"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612" name="Google Shape;612;p34"/>
          <p:cNvSpPr/>
          <p:nvPr/>
        </p:nvSpPr>
        <p:spPr>
          <a:xfrm>
            <a:off x="462926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613" name="Google Shape;613;p34"/>
          <p:cNvSpPr/>
          <p:nvPr/>
        </p:nvSpPr>
        <p:spPr>
          <a:xfrm>
            <a:off x="5272316"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614" name="Google Shape;614;p34"/>
          <p:cNvSpPr/>
          <p:nvPr/>
        </p:nvSpPr>
        <p:spPr>
          <a:xfrm>
            <a:off x="3986213" y="2777490"/>
            <a:ext cx="1929155" cy="219456"/>
          </a:xfrm>
          <a:prstGeom prst="rect">
            <a:avLst/>
          </a:prstGeom>
          <a:solidFill>
            <a:srgbClr val="FFFFFF"/>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5" name="Google Shape;615;p34"/>
          <p:cNvSpPr/>
          <p:nvPr/>
        </p:nvSpPr>
        <p:spPr>
          <a:xfrm>
            <a:off x="3986213"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4</a:t>
            </a:r>
            <a:endParaRPr b="0" i="0" sz="1100" u="none" cap="none" strike="noStrike">
              <a:solidFill>
                <a:schemeClr val="dk1"/>
              </a:solidFill>
              <a:latin typeface="Calibri"/>
              <a:ea typeface="Calibri"/>
              <a:cs typeface="Calibri"/>
              <a:sym typeface="Calibri"/>
            </a:endParaRPr>
          </a:p>
        </p:txBody>
      </p:sp>
      <p:sp>
        <p:nvSpPr>
          <p:cNvPr id="616" name="Google Shape;616;p34"/>
          <p:cNvSpPr/>
          <p:nvPr/>
        </p:nvSpPr>
        <p:spPr>
          <a:xfrm>
            <a:off x="462926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Sneha</a:t>
            </a:r>
            <a:endParaRPr b="0" i="0" sz="1100" u="none" cap="none" strike="noStrike">
              <a:solidFill>
                <a:schemeClr val="dk1"/>
              </a:solidFill>
              <a:latin typeface="Calibri"/>
              <a:ea typeface="Calibri"/>
              <a:cs typeface="Calibri"/>
              <a:sym typeface="Calibri"/>
            </a:endParaRPr>
          </a:p>
        </p:txBody>
      </p:sp>
      <p:sp>
        <p:nvSpPr>
          <p:cNvPr id="617" name="Google Shape;617;p34"/>
          <p:cNvSpPr/>
          <p:nvPr/>
        </p:nvSpPr>
        <p:spPr>
          <a:xfrm>
            <a:off x="5272316"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ME</a:t>
            </a:r>
            <a:endParaRPr b="0" i="0" sz="1100" u="none" cap="none" strike="noStrike">
              <a:solidFill>
                <a:schemeClr val="dk1"/>
              </a:solidFill>
              <a:latin typeface="Calibri"/>
              <a:ea typeface="Calibri"/>
              <a:cs typeface="Calibri"/>
              <a:sym typeface="Calibri"/>
            </a:endParaRPr>
          </a:p>
        </p:txBody>
      </p:sp>
      <p:sp>
        <p:nvSpPr>
          <p:cNvPr id="618" name="Google Shape;618;p34"/>
          <p:cNvSpPr/>
          <p:nvPr/>
        </p:nvSpPr>
        <p:spPr>
          <a:xfrm>
            <a:off x="3986213" y="2996946"/>
            <a:ext cx="1929155" cy="219456"/>
          </a:xfrm>
          <a:prstGeom prst="rect">
            <a:avLst/>
          </a:prstGeom>
          <a:solidFill>
            <a:srgbClr val="F8FAFB"/>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9" name="Google Shape;619;p34"/>
          <p:cNvSpPr/>
          <p:nvPr/>
        </p:nvSpPr>
        <p:spPr>
          <a:xfrm>
            <a:off x="3986213"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5</a:t>
            </a:r>
            <a:endParaRPr b="0" i="0" sz="1100" u="none" cap="none" strike="noStrike">
              <a:solidFill>
                <a:schemeClr val="dk1"/>
              </a:solidFill>
              <a:latin typeface="Calibri"/>
              <a:ea typeface="Calibri"/>
              <a:cs typeface="Calibri"/>
              <a:sym typeface="Calibri"/>
            </a:endParaRPr>
          </a:p>
        </p:txBody>
      </p:sp>
      <p:sp>
        <p:nvSpPr>
          <p:cNvPr id="620" name="Google Shape;620;p34"/>
          <p:cNvSpPr/>
          <p:nvPr/>
        </p:nvSpPr>
        <p:spPr>
          <a:xfrm>
            <a:off x="4629264"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Ankit</a:t>
            </a:r>
            <a:endParaRPr b="0" i="0" sz="1100" u="none" cap="none" strike="noStrike">
              <a:solidFill>
                <a:schemeClr val="dk1"/>
              </a:solidFill>
              <a:latin typeface="Calibri"/>
              <a:ea typeface="Calibri"/>
              <a:cs typeface="Calibri"/>
              <a:sym typeface="Calibri"/>
            </a:endParaRPr>
          </a:p>
        </p:txBody>
      </p:sp>
      <p:sp>
        <p:nvSpPr>
          <p:cNvPr id="621" name="Google Shape;621;p34"/>
          <p:cNvSpPr/>
          <p:nvPr/>
        </p:nvSpPr>
        <p:spPr>
          <a:xfrm>
            <a:off x="5272316"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622" name="Google Shape;622;p34"/>
          <p:cNvSpPr/>
          <p:nvPr/>
        </p:nvSpPr>
        <p:spPr>
          <a:xfrm>
            <a:off x="3986213" y="2544318"/>
            <a:ext cx="1929155" cy="672084"/>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3" name="Google Shape;623;p34"/>
          <p:cNvSpPr/>
          <p:nvPr/>
        </p:nvSpPr>
        <p:spPr>
          <a:xfrm>
            <a:off x="6531901" y="2544318"/>
            <a:ext cx="1929155" cy="233172"/>
          </a:xfrm>
          <a:prstGeom prst="rect">
            <a:avLst/>
          </a:prstGeom>
          <a:solidFill>
            <a:srgbClr val="2579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4" name="Google Shape;624;p34"/>
          <p:cNvSpPr/>
          <p:nvPr/>
        </p:nvSpPr>
        <p:spPr>
          <a:xfrm>
            <a:off x="6531902"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id</a:t>
            </a:r>
            <a:endParaRPr b="0" i="0" sz="1100" u="none" cap="none" strike="noStrike">
              <a:solidFill>
                <a:schemeClr val="dk1"/>
              </a:solidFill>
              <a:latin typeface="Calibri"/>
              <a:ea typeface="Calibri"/>
              <a:cs typeface="Calibri"/>
              <a:sym typeface="Calibri"/>
            </a:endParaRPr>
          </a:p>
        </p:txBody>
      </p:sp>
      <p:sp>
        <p:nvSpPr>
          <p:cNvPr id="625" name="Google Shape;625;p34"/>
          <p:cNvSpPr/>
          <p:nvPr/>
        </p:nvSpPr>
        <p:spPr>
          <a:xfrm>
            <a:off x="7174954"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name</a:t>
            </a:r>
            <a:endParaRPr b="0" i="0" sz="1100" u="none" cap="none" strike="noStrike">
              <a:solidFill>
                <a:schemeClr val="dk1"/>
              </a:solidFill>
              <a:latin typeface="Calibri"/>
              <a:ea typeface="Calibri"/>
              <a:cs typeface="Calibri"/>
              <a:sym typeface="Calibri"/>
            </a:endParaRPr>
          </a:p>
        </p:txBody>
      </p:sp>
      <p:sp>
        <p:nvSpPr>
          <p:cNvPr id="626" name="Google Shape;626;p34"/>
          <p:cNvSpPr/>
          <p:nvPr/>
        </p:nvSpPr>
        <p:spPr>
          <a:xfrm>
            <a:off x="7818005" y="2544318"/>
            <a:ext cx="643051" cy="233172"/>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600"/>
              <a:buFont typeface="Consolas"/>
              <a:buNone/>
            </a:pPr>
            <a:r>
              <a:rPr b="1" i="0" lang="en-GB" sz="1100" u="none" cap="none" strike="noStrike">
                <a:solidFill>
                  <a:srgbClr val="FFFFFF"/>
                </a:solidFill>
                <a:latin typeface="Consolas"/>
                <a:ea typeface="Consolas"/>
                <a:cs typeface="Consolas"/>
                <a:sym typeface="Consolas"/>
              </a:rPr>
              <a:t>branch</a:t>
            </a:r>
            <a:endParaRPr b="0" i="0" sz="1100" u="none" cap="none" strike="noStrike">
              <a:solidFill>
                <a:schemeClr val="dk1"/>
              </a:solidFill>
              <a:latin typeface="Calibri"/>
              <a:ea typeface="Calibri"/>
              <a:cs typeface="Calibri"/>
              <a:sym typeface="Calibri"/>
            </a:endParaRPr>
          </a:p>
        </p:txBody>
      </p:sp>
      <p:sp>
        <p:nvSpPr>
          <p:cNvPr id="627" name="Google Shape;627;p34"/>
          <p:cNvSpPr/>
          <p:nvPr/>
        </p:nvSpPr>
        <p:spPr>
          <a:xfrm>
            <a:off x="6531901" y="2777490"/>
            <a:ext cx="1929155" cy="219456"/>
          </a:xfrm>
          <a:prstGeom prst="rect">
            <a:avLst/>
          </a:prstGeom>
          <a:solidFill>
            <a:srgbClr val="EFF3F7"/>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8" name="Google Shape;628;p34"/>
          <p:cNvSpPr/>
          <p:nvPr/>
        </p:nvSpPr>
        <p:spPr>
          <a:xfrm>
            <a:off x="6531902" y="2777490"/>
            <a:ext cx="59664" cy="219456"/>
          </a:xfrm>
          <a:prstGeom prst="rect">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9" name="Google Shape;629;p34"/>
          <p:cNvSpPr/>
          <p:nvPr/>
        </p:nvSpPr>
        <p:spPr>
          <a:xfrm>
            <a:off x="6531902"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AFC8DF"/>
              </a:buClr>
              <a:buSzPts val="600"/>
              <a:buFont typeface="Consolas"/>
              <a:buNone/>
            </a:pPr>
            <a:r>
              <a:rPr b="0" i="0" lang="en-GB" sz="1100" u="none" cap="none" strike="sngStrike">
                <a:solidFill>
                  <a:srgbClr val="AFC8DF"/>
                </a:solidFill>
                <a:latin typeface="Consolas"/>
                <a:ea typeface="Consolas"/>
                <a:cs typeface="Consolas"/>
                <a:sym typeface="Consolas"/>
              </a:rPr>
              <a:t>4</a:t>
            </a:r>
            <a:endParaRPr b="0" i="0" sz="1100" u="none" cap="none" strike="noStrike">
              <a:solidFill>
                <a:schemeClr val="dk1"/>
              </a:solidFill>
              <a:latin typeface="Calibri"/>
              <a:ea typeface="Calibri"/>
              <a:cs typeface="Calibri"/>
              <a:sym typeface="Calibri"/>
            </a:endParaRPr>
          </a:p>
        </p:txBody>
      </p:sp>
      <p:sp>
        <p:nvSpPr>
          <p:cNvPr id="630" name="Google Shape;630;p34"/>
          <p:cNvSpPr/>
          <p:nvPr/>
        </p:nvSpPr>
        <p:spPr>
          <a:xfrm>
            <a:off x="7174954"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AFC8DF"/>
              </a:buClr>
              <a:buSzPts val="600"/>
              <a:buFont typeface="Consolas"/>
              <a:buNone/>
            </a:pPr>
            <a:r>
              <a:rPr b="0" i="0" lang="en-GB" sz="1100" u="none" cap="none" strike="sngStrike">
                <a:solidFill>
                  <a:srgbClr val="AFC8DF"/>
                </a:solidFill>
                <a:latin typeface="Consolas"/>
                <a:ea typeface="Consolas"/>
                <a:cs typeface="Consolas"/>
                <a:sym typeface="Consolas"/>
              </a:rPr>
              <a:t>Sneha</a:t>
            </a:r>
            <a:endParaRPr b="0" i="0" sz="1100" u="none" cap="none" strike="noStrike">
              <a:solidFill>
                <a:schemeClr val="dk1"/>
              </a:solidFill>
              <a:latin typeface="Calibri"/>
              <a:ea typeface="Calibri"/>
              <a:cs typeface="Calibri"/>
              <a:sym typeface="Calibri"/>
            </a:endParaRPr>
          </a:p>
        </p:txBody>
      </p:sp>
      <p:sp>
        <p:nvSpPr>
          <p:cNvPr id="631" name="Google Shape;631;p34"/>
          <p:cNvSpPr/>
          <p:nvPr/>
        </p:nvSpPr>
        <p:spPr>
          <a:xfrm>
            <a:off x="7818005" y="2777490"/>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AFC8DF"/>
              </a:buClr>
              <a:buSzPts val="600"/>
              <a:buFont typeface="Consolas"/>
              <a:buNone/>
            </a:pPr>
            <a:r>
              <a:rPr b="0" i="0" lang="en-GB" sz="1100" u="none" cap="none" strike="sngStrike">
                <a:solidFill>
                  <a:srgbClr val="AFC8DF"/>
                </a:solidFill>
                <a:latin typeface="Consolas"/>
                <a:ea typeface="Consolas"/>
                <a:cs typeface="Consolas"/>
                <a:sym typeface="Consolas"/>
              </a:rPr>
              <a:t>ME</a:t>
            </a:r>
            <a:endParaRPr b="0" i="0" sz="1100" u="none" cap="none" strike="noStrike">
              <a:solidFill>
                <a:schemeClr val="dk1"/>
              </a:solidFill>
              <a:latin typeface="Calibri"/>
              <a:ea typeface="Calibri"/>
              <a:cs typeface="Calibri"/>
              <a:sym typeface="Calibri"/>
            </a:endParaRPr>
          </a:p>
        </p:txBody>
      </p:sp>
      <p:sp>
        <p:nvSpPr>
          <p:cNvPr id="632" name="Google Shape;632;p34"/>
          <p:cNvSpPr/>
          <p:nvPr/>
        </p:nvSpPr>
        <p:spPr>
          <a:xfrm>
            <a:off x="6531901" y="2996946"/>
            <a:ext cx="1929155" cy="219456"/>
          </a:xfrm>
          <a:prstGeom prst="rect">
            <a:avLst/>
          </a:prstGeom>
          <a:solidFill>
            <a:srgbClr val="F8FAFB"/>
          </a:solidFill>
          <a:ln cap="flat" cmpd="sng" w="9525">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3" name="Google Shape;633;p34"/>
          <p:cNvSpPr/>
          <p:nvPr/>
        </p:nvSpPr>
        <p:spPr>
          <a:xfrm>
            <a:off x="6531902"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5</a:t>
            </a:r>
            <a:endParaRPr b="0" i="0" sz="1100" u="none" cap="none" strike="noStrike">
              <a:solidFill>
                <a:schemeClr val="dk1"/>
              </a:solidFill>
              <a:latin typeface="Calibri"/>
              <a:ea typeface="Calibri"/>
              <a:cs typeface="Calibri"/>
              <a:sym typeface="Calibri"/>
            </a:endParaRPr>
          </a:p>
        </p:txBody>
      </p:sp>
      <p:sp>
        <p:nvSpPr>
          <p:cNvPr id="634" name="Google Shape;634;p34"/>
          <p:cNvSpPr/>
          <p:nvPr/>
        </p:nvSpPr>
        <p:spPr>
          <a:xfrm>
            <a:off x="7174954"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Ankit</a:t>
            </a:r>
            <a:endParaRPr b="0" i="0" sz="1100" u="none" cap="none" strike="noStrike">
              <a:solidFill>
                <a:schemeClr val="dk1"/>
              </a:solidFill>
              <a:latin typeface="Calibri"/>
              <a:ea typeface="Calibri"/>
              <a:cs typeface="Calibri"/>
              <a:sym typeface="Calibri"/>
            </a:endParaRPr>
          </a:p>
        </p:txBody>
      </p:sp>
      <p:sp>
        <p:nvSpPr>
          <p:cNvPr id="635" name="Google Shape;635;p34"/>
          <p:cNvSpPr/>
          <p:nvPr/>
        </p:nvSpPr>
        <p:spPr>
          <a:xfrm>
            <a:off x="7818005" y="2996946"/>
            <a:ext cx="643051"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6334D"/>
              </a:buClr>
              <a:buSzPts val="600"/>
              <a:buFont typeface="Consolas"/>
              <a:buNone/>
            </a:pPr>
            <a:r>
              <a:rPr b="0" i="0" lang="en-GB" sz="1100" u="none" cap="none" strike="noStrike">
                <a:solidFill>
                  <a:srgbClr val="16334D"/>
                </a:solidFill>
                <a:latin typeface="Consolas"/>
                <a:ea typeface="Consolas"/>
                <a:cs typeface="Consolas"/>
                <a:sym typeface="Consolas"/>
              </a:rPr>
              <a:t>CSE</a:t>
            </a:r>
            <a:endParaRPr b="0" i="0" sz="1100" u="none" cap="none" strike="noStrike">
              <a:solidFill>
                <a:schemeClr val="dk1"/>
              </a:solidFill>
              <a:latin typeface="Calibri"/>
              <a:ea typeface="Calibri"/>
              <a:cs typeface="Calibri"/>
              <a:sym typeface="Calibri"/>
            </a:endParaRPr>
          </a:p>
        </p:txBody>
      </p:sp>
      <p:sp>
        <p:nvSpPr>
          <p:cNvPr id="636" name="Google Shape;636;p34"/>
          <p:cNvSpPr/>
          <p:nvPr/>
        </p:nvSpPr>
        <p:spPr>
          <a:xfrm>
            <a:off x="6531901" y="2544318"/>
            <a:ext cx="1929155" cy="672084"/>
          </a:xfrm>
          <a:prstGeom prst="rect">
            <a:avLst/>
          </a:prstGeom>
          <a:noFill/>
          <a:ln cap="flat" cmpd="sng" w="12700">
            <a:solidFill>
              <a:srgbClr val="CAD1D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7" name="Google Shape;637;p34"/>
          <p:cNvSpPr/>
          <p:nvPr/>
        </p:nvSpPr>
        <p:spPr>
          <a:xfrm>
            <a:off x="3172294" y="3648056"/>
            <a:ext cx="4956525"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600" u="none" cap="none" strike="noStrike">
                <a:solidFill>
                  <a:srgbClr val="16334D"/>
                </a:solidFill>
                <a:latin typeface="Cambria"/>
                <a:ea typeface="Cambria"/>
                <a:cs typeface="Cambria"/>
                <a:sym typeface="Cambria"/>
              </a:rPr>
              <a:t>Removes selected rows, with conditions</a:t>
            </a:r>
            <a:endParaRPr b="0" i="0" sz="1600" u="none" cap="none" strike="noStrike">
              <a:solidFill>
                <a:schemeClr val="dk1"/>
              </a:solidFill>
              <a:latin typeface="Calibri"/>
              <a:ea typeface="Calibri"/>
              <a:cs typeface="Calibri"/>
              <a:sym typeface="Calibri"/>
            </a:endParaRPr>
          </a:p>
        </p:txBody>
      </p:sp>
      <p:sp>
        <p:nvSpPr>
          <p:cNvPr id="638" name="Google Shape;638;p34"/>
          <p:cNvSpPr/>
          <p:nvPr/>
        </p:nvSpPr>
        <p:spPr>
          <a:xfrm>
            <a:off x="3202256" y="3970781"/>
            <a:ext cx="5324400"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500" u="none" cap="none" strike="noStrike">
                <a:solidFill>
                  <a:srgbClr val="16334D"/>
                </a:solidFill>
                <a:latin typeface="Calibri"/>
                <a:ea typeface="Calibri"/>
                <a:cs typeface="Calibri"/>
                <a:sym typeface="Calibri"/>
              </a:rPr>
              <a:t>DELETE removes rows that match a WHERE condition — one row, several, or (with no condition at all) every row — while the table structure stays exactly as it was.</a:t>
            </a:r>
            <a:endParaRPr b="0" i="0" sz="1500" u="none" cap="none" strike="noStrike">
              <a:solidFill>
                <a:schemeClr val="dk1"/>
              </a:solidFill>
              <a:latin typeface="Calibri"/>
              <a:ea typeface="Calibri"/>
              <a:cs typeface="Calibri"/>
              <a:sym typeface="Calibri"/>
            </a:endParaRPr>
          </a:p>
        </p:txBody>
      </p:sp>
      <p:pic>
        <p:nvPicPr>
          <p:cNvPr descr="/home/claude/dbms_lecture2/logo/newton_logo_transparent.png" id="639" name="Google Shape;639;p34"/>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640" name="Google Shape;640;p34"/>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20</a:t>
            </a:r>
            <a:endParaRPr b="0" i="0" sz="1100" u="none" cap="none" strike="noStrike">
              <a:solidFill>
                <a:schemeClr val="dk1"/>
              </a:solidFill>
              <a:latin typeface="Calibri"/>
              <a:ea typeface="Calibri"/>
              <a:cs typeface="Calibri"/>
              <a:sym typeface="Calibri"/>
            </a:endParaRPr>
          </a:p>
        </p:txBody>
      </p:sp>
      <p:pic>
        <p:nvPicPr>
          <p:cNvPr id="641" name="Google Shape;641;p34" title="Screenshot 2026-07-21 at 4.56.44 PM.png"/>
          <p:cNvPicPr preferRelativeResize="0"/>
          <p:nvPr/>
        </p:nvPicPr>
        <p:blipFill rotWithShape="1">
          <a:blip r:embed="rId4">
            <a:alphaModFix/>
          </a:blip>
          <a:srcRect b="0" l="0" r="0" t="0"/>
          <a:stretch/>
        </p:blipFill>
        <p:spPr>
          <a:xfrm>
            <a:off x="3172294" y="2110182"/>
            <a:ext cx="5486401" cy="1317356"/>
          </a:xfrm>
          <a:prstGeom prst="rect">
            <a:avLst/>
          </a:prstGeom>
          <a:solidFill>
            <a:srgbClr val="F8FAFB"/>
          </a:solidFill>
          <a:ln>
            <a:noFill/>
          </a:ln>
          <a:effectLst>
            <a:outerShdw blurRad="76200" rotWithShape="0" algn="bl" dir="5400000" dist="25400">
              <a:srgbClr val="3D444B">
                <a:alpha val="18039"/>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35"/>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79C4"/>
              </a:buClr>
              <a:buSzPts val="1000"/>
              <a:buFont typeface="Calibri"/>
              <a:buNone/>
            </a:pPr>
            <a:r>
              <a:rPr b="1" i="0" lang="en-GB" sz="1400" u="none" cap="none" strike="noStrike">
                <a:solidFill>
                  <a:srgbClr val="2579C4"/>
                </a:solidFill>
                <a:latin typeface="Calibri"/>
                <a:ea typeface="Calibri"/>
                <a:cs typeface="Calibri"/>
                <a:sym typeface="Calibri"/>
              </a:rPr>
              <a:t>IMPORTANT COMPARISON</a:t>
            </a:r>
            <a:endParaRPr b="0" i="0" sz="1400" u="none" cap="none" strike="noStrike">
              <a:solidFill>
                <a:schemeClr val="dk1"/>
              </a:solidFill>
              <a:latin typeface="Calibri"/>
              <a:ea typeface="Calibri"/>
              <a:cs typeface="Calibri"/>
              <a:sym typeface="Calibri"/>
            </a:endParaRPr>
          </a:p>
        </p:txBody>
      </p:sp>
      <p:sp>
        <p:nvSpPr>
          <p:cNvPr id="648" name="Google Shape;648;p35"/>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DELETE vs TRUNCATE vs DROP</a:t>
            </a:r>
            <a:endParaRPr b="0" i="0" sz="2000" u="none" cap="none" strike="noStrike">
              <a:solidFill>
                <a:schemeClr val="dk1"/>
              </a:solidFill>
              <a:latin typeface="Calibri"/>
              <a:ea typeface="Calibri"/>
              <a:cs typeface="Calibri"/>
              <a:sym typeface="Calibri"/>
            </a:endParaRPr>
          </a:p>
        </p:txBody>
      </p:sp>
      <p:sp>
        <p:nvSpPr>
          <p:cNvPr id="649" name="Google Shape;649;p35"/>
          <p:cNvSpPr/>
          <p:nvPr/>
        </p:nvSpPr>
        <p:spPr>
          <a:xfrm>
            <a:off x="411480" y="1303020"/>
            <a:ext cx="2640330" cy="3154680"/>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35"/>
          <p:cNvSpPr/>
          <p:nvPr/>
        </p:nvSpPr>
        <p:spPr>
          <a:xfrm>
            <a:off x="411480" y="1303020"/>
            <a:ext cx="2640330" cy="514350"/>
          </a:xfrm>
          <a:prstGeom prst="roundRect">
            <a:avLst>
              <a:gd fmla="val 16000" name="adj"/>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35"/>
          <p:cNvSpPr/>
          <p:nvPr/>
        </p:nvSpPr>
        <p:spPr>
          <a:xfrm>
            <a:off x="411480" y="1577340"/>
            <a:ext cx="2640330" cy="240030"/>
          </a:xfrm>
          <a:prstGeom prst="rect">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35"/>
          <p:cNvSpPr/>
          <p:nvPr/>
        </p:nvSpPr>
        <p:spPr>
          <a:xfrm>
            <a:off x="411480" y="1303020"/>
            <a:ext cx="2640330" cy="5143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GB" sz="2000" u="none" cap="none" strike="noStrike">
                <a:solidFill>
                  <a:srgbClr val="FFFFFF"/>
                </a:solidFill>
                <a:latin typeface="Cambria"/>
                <a:ea typeface="Cambria"/>
                <a:cs typeface="Cambria"/>
                <a:sym typeface="Cambria"/>
              </a:rPr>
              <a:t>DELETE</a:t>
            </a:r>
            <a:endParaRPr b="0" i="0" sz="2000" u="none" cap="none" strike="noStrike">
              <a:solidFill>
                <a:schemeClr val="dk1"/>
              </a:solidFill>
              <a:latin typeface="Calibri"/>
              <a:ea typeface="Calibri"/>
              <a:cs typeface="Calibri"/>
              <a:sym typeface="Calibri"/>
            </a:endParaRPr>
          </a:p>
        </p:txBody>
      </p:sp>
      <p:sp>
        <p:nvSpPr>
          <p:cNvPr id="653" name="Google Shape;653;p35"/>
          <p:cNvSpPr/>
          <p:nvPr/>
        </p:nvSpPr>
        <p:spPr>
          <a:xfrm>
            <a:off x="617220" y="2023110"/>
            <a:ext cx="2228850" cy="2263140"/>
          </a:xfrm>
          <a:prstGeom prst="rect">
            <a:avLst/>
          </a:prstGeom>
          <a:noFill/>
          <a:ln>
            <a:noFill/>
          </a:ln>
        </p:spPr>
        <p:txBody>
          <a:bodyPr anchorCtr="0" anchor="t" bIns="34275" lIns="68575" spcFirstLastPara="1" rIns="68575" wrap="square" tIns="34275">
            <a:noAutofit/>
          </a:bodyPr>
          <a:lstStyle/>
          <a:p>
            <a:pPr indent="-254000" lvl="0" marL="254000" marR="0" rtl="0" algn="l">
              <a:lnSpc>
                <a:spcPct val="100000"/>
              </a:lnSpc>
              <a:spcBef>
                <a:spcPts val="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Removes selected rows</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Can use a WHERE condition</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Slower (row-by-row)</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Table structure stays</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1" i="0" lang="en-GB" sz="1400" u="none" cap="none" strike="noStrike">
                <a:solidFill>
                  <a:srgbClr val="16334D"/>
                </a:solidFill>
                <a:latin typeface="Calibri"/>
                <a:ea typeface="Calibri"/>
                <a:cs typeface="Calibri"/>
                <a:sym typeface="Calibri"/>
              </a:rPr>
              <a:t>Category: DML</a:t>
            </a:r>
            <a:endParaRPr b="0" i="0" sz="1400" u="none" cap="none" strike="noStrike">
              <a:solidFill>
                <a:schemeClr val="dk1"/>
              </a:solidFill>
              <a:latin typeface="Calibri"/>
              <a:ea typeface="Calibri"/>
              <a:cs typeface="Calibri"/>
              <a:sym typeface="Calibri"/>
            </a:endParaRPr>
          </a:p>
        </p:txBody>
      </p:sp>
      <p:sp>
        <p:nvSpPr>
          <p:cNvPr id="654" name="Google Shape;654;p35"/>
          <p:cNvSpPr/>
          <p:nvPr/>
        </p:nvSpPr>
        <p:spPr>
          <a:xfrm>
            <a:off x="3223260" y="1303020"/>
            <a:ext cx="2640330" cy="3154680"/>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35"/>
          <p:cNvSpPr/>
          <p:nvPr/>
        </p:nvSpPr>
        <p:spPr>
          <a:xfrm>
            <a:off x="3223260" y="1303020"/>
            <a:ext cx="2640330" cy="514350"/>
          </a:xfrm>
          <a:prstGeom prst="roundRect">
            <a:avLst>
              <a:gd fmla="val 16000" name="adj"/>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35"/>
          <p:cNvSpPr/>
          <p:nvPr/>
        </p:nvSpPr>
        <p:spPr>
          <a:xfrm>
            <a:off x="3223260" y="1577340"/>
            <a:ext cx="2640330" cy="240030"/>
          </a:xfrm>
          <a:prstGeom prst="rect">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35"/>
          <p:cNvSpPr/>
          <p:nvPr/>
        </p:nvSpPr>
        <p:spPr>
          <a:xfrm>
            <a:off x="3223260" y="1303020"/>
            <a:ext cx="2640330" cy="5143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GB" sz="2000" u="none" cap="none" strike="noStrike">
                <a:solidFill>
                  <a:srgbClr val="FFFFFF"/>
                </a:solidFill>
                <a:latin typeface="Cambria"/>
                <a:ea typeface="Cambria"/>
                <a:cs typeface="Cambria"/>
                <a:sym typeface="Cambria"/>
              </a:rPr>
              <a:t>TRUNCATE</a:t>
            </a:r>
            <a:endParaRPr b="0" i="0" sz="2000" u="none" cap="none" strike="noStrike">
              <a:solidFill>
                <a:schemeClr val="dk1"/>
              </a:solidFill>
              <a:latin typeface="Calibri"/>
              <a:ea typeface="Calibri"/>
              <a:cs typeface="Calibri"/>
              <a:sym typeface="Calibri"/>
            </a:endParaRPr>
          </a:p>
        </p:txBody>
      </p:sp>
      <p:sp>
        <p:nvSpPr>
          <p:cNvPr id="658" name="Google Shape;658;p35"/>
          <p:cNvSpPr/>
          <p:nvPr/>
        </p:nvSpPr>
        <p:spPr>
          <a:xfrm>
            <a:off x="3429000" y="2023110"/>
            <a:ext cx="2228850" cy="2263140"/>
          </a:xfrm>
          <a:prstGeom prst="rect">
            <a:avLst/>
          </a:prstGeom>
          <a:noFill/>
          <a:ln>
            <a:noFill/>
          </a:ln>
        </p:spPr>
        <p:txBody>
          <a:bodyPr anchorCtr="0" anchor="t" bIns="34275" lIns="68575" spcFirstLastPara="1" rIns="68575" wrap="square" tIns="34275">
            <a:noAutofit/>
          </a:bodyPr>
          <a:lstStyle/>
          <a:p>
            <a:pPr indent="-254000" lvl="0" marL="254000" marR="0" rtl="0" algn="l">
              <a:lnSpc>
                <a:spcPct val="100000"/>
              </a:lnSpc>
              <a:spcBef>
                <a:spcPts val="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Removes ALL rows</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No filtering condition</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Faster (bulk operation)</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Table structure stays</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1" i="0" lang="en-GB" sz="1400" u="none" cap="none" strike="noStrike">
                <a:solidFill>
                  <a:srgbClr val="16334D"/>
                </a:solidFill>
                <a:latin typeface="Calibri"/>
                <a:ea typeface="Calibri"/>
                <a:cs typeface="Calibri"/>
                <a:sym typeface="Calibri"/>
              </a:rPr>
              <a:t>Category: DDL</a:t>
            </a:r>
            <a:endParaRPr b="0" i="0" sz="1400" u="none" cap="none" strike="noStrike">
              <a:solidFill>
                <a:schemeClr val="dk1"/>
              </a:solidFill>
              <a:latin typeface="Calibri"/>
              <a:ea typeface="Calibri"/>
              <a:cs typeface="Calibri"/>
              <a:sym typeface="Calibri"/>
            </a:endParaRPr>
          </a:p>
        </p:txBody>
      </p:sp>
      <p:sp>
        <p:nvSpPr>
          <p:cNvPr id="659" name="Google Shape;659;p35"/>
          <p:cNvSpPr/>
          <p:nvPr/>
        </p:nvSpPr>
        <p:spPr>
          <a:xfrm>
            <a:off x="6035040" y="1303020"/>
            <a:ext cx="2640330" cy="3154680"/>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35"/>
          <p:cNvSpPr/>
          <p:nvPr/>
        </p:nvSpPr>
        <p:spPr>
          <a:xfrm>
            <a:off x="6035040" y="1303020"/>
            <a:ext cx="2640330" cy="514350"/>
          </a:xfrm>
          <a:prstGeom prst="roundRect">
            <a:avLst>
              <a:gd fmla="val 16000" name="adj"/>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35"/>
          <p:cNvSpPr/>
          <p:nvPr/>
        </p:nvSpPr>
        <p:spPr>
          <a:xfrm>
            <a:off x="6035040" y="1577340"/>
            <a:ext cx="2640330" cy="240030"/>
          </a:xfrm>
          <a:prstGeom prst="rect">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35"/>
          <p:cNvSpPr/>
          <p:nvPr/>
        </p:nvSpPr>
        <p:spPr>
          <a:xfrm>
            <a:off x="6035040" y="1303020"/>
            <a:ext cx="2640330" cy="5143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GB" sz="2000" u="none" cap="none" strike="noStrike">
                <a:solidFill>
                  <a:srgbClr val="FFFFFF"/>
                </a:solidFill>
                <a:latin typeface="Cambria"/>
                <a:ea typeface="Cambria"/>
                <a:cs typeface="Cambria"/>
                <a:sym typeface="Cambria"/>
              </a:rPr>
              <a:t>DROP</a:t>
            </a:r>
            <a:endParaRPr b="0" i="0" sz="2000" u="none" cap="none" strike="noStrike">
              <a:solidFill>
                <a:schemeClr val="dk1"/>
              </a:solidFill>
              <a:latin typeface="Calibri"/>
              <a:ea typeface="Calibri"/>
              <a:cs typeface="Calibri"/>
              <a:sym typeface="Calibri"/>
            </a:endParaRPr>
          </a:p>
        </p:txBody>
      </p:sp>
      <p:sp>
        <p:nvSpPr>
          <p:cNvPr id="663" name="Google Shape;663;p35"/>
          <p:cNvSpPr/>
          <p:nvPr/>
        </p:nvSpPr>
        <p:spPr>
          <a:xfrm>
            <a:off x="6240780" y="2023110"/>
            <a:ext cx="2228850" cy="2263140"/>
          </a:xfrm>
          <a:prstGeom prst="rect">
            <a:avLst/>
          </a:prstGeom>
          <a:noFill/>
          <a:ln>
            <a:noFill/>
          </a:ln>
        </p:spPr>
        <p:txBody>
          <a:bodyPr anchorCtr="0" anchor="t" bIns="34275" lIns="68575" spcFirstLastPara="1" rIns="68575" wrap="square" tIns="34275">
            <a:noAutofit/>
          </a:bodyPr>
          <a:lstStyle/>
          <a:p>
            <a:pPr indent="-254000" lvl="0" marL="254000" marR="0" rtl="0" algn="l">
              <a:lnSpc>
                <a:spcPct val="100000"/>
              </a:lnSpc>
              <a:spcBef>
                <a:spcPts val="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Removes the table itself</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No filtering condition</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Fastest — structure gone too</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0" i="0" lang="en-GB" sz="1400" u="none" cap="none" strike="noStrike">
                <a:solidFill>
                  <a:srgbClr val="16334D"/>
                </a:solidFill>
                <a:latin typeface="Calibri"/>
                <a:ea typeface="Calibri"/>
                <a:cs typeface="Calibri"/>
                <a:sym typeface="Calibri"/>
              </a:rPr>
              <a:t>Table structure is deleted</a:t>
            </a:r>
            <a:endParaRPr b="0" i="0" sz="1400" u="none" cap="none" strike="noStrike">
              <a:solidFill>
                <a:schemeClr val="dk1"/>
              </a:solidFill>
              <a:latin typeface="Calibri"/>
              <a:ea typeface="Calibri"/>
              <a:cs typeface="Calibri"/>
              <a:sym typeface="Calibri"/>
            </a:endParaRPr>
          </a:p>
          <a:p>
            <a:pPr indent="-254000" lvl="0" marL="254000" marR="0" rtl="0" algn="l">
              <a:lnSpc>
                <a:spcPct val="100000"/>
              </a:lnSpc>
              <a:spcBef>
                <a:spcPts val="1200"/>
              </a:spcBef>
              <a:spcAft>
                <a:spcPts val="0"/>
              </a:spcAft>
              <a:buClr>
                <a:srgbClr val="16334D"/>
              </a:buClr>
              <a:buSzPts val="1400"/>
              <a:buFont typeface="Calibri"/>
              <a:buChar char="•"/>
            </a:pPr>
            <a:r>
              <a:rPr b="1" i="0" lang="en-GB" sz="1400" u="none" cap="none" strike="noStrike">
                <a:solidFill>
                  <a:srgbClr val="16334D"/>
                </a:solidFill>
                <a:latin typeface="Calibri"/>
                <a:ea typeface="Calibri"/>
                <a:cs typeface="Calibri"/>
                <a:sym typeface="Calibri"/>
              </a:rPr>
              <a:t>Category: DDL</a:t>
            </a:r>
            <a:endParaRPr b="0" i="0" sz="1400" u="none" cap="none" strike="noStrike">
              <a:solidFill>
                <a:schemeClr val="dk1"/>
              </a:solidFill>
              <a:latin typeface="Calibri"/>
              <a:ea typeface="Calibri"/>
              <a:cs typeface="Calibri"/>
              <a:sym typeface="Calibri"/>
            </a:endParaRPr>
          </a:p>
        </p:txBody>
      </p:sp>
      <p:sp>
        <p:nvSpPr>
          <p:cNvPr id="664" name="Google Shape;664;p35"/>
          <p:cNvSpPr/>
          <p:nvPr/>
        </p:nvSpPr>
        <p:spPr>
          <a:xfrm>
            <a:off x="411488" y="4560560"/>
            <a:ext cx="8298225" cy="4457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98DBD"/>
              </a:buClr>
              <a:buSzPts val="900"/>
              <a:buFont typeface="Calibri"/>
              <a:buNone/>
            </a:pPr>
            <a:r>
              <a:rPr b="0" i="1" lang="en-GB" sz="1400" u="none" cap="none" strike="noStrike">
                <a:solidFill>
                  <a:srgbClr val="598DBD"/>
                </a:solidFill>
                <a:latin typeface="Calibri"/>
                <a:ea typeface="Calibri"/>
                <a:cs typeface="Calibri"/>
                <a:sym typeface="Calibri"/>
              </a:rPr>
              <a:t>Why is TRUNCATE faster than DELETE? DELETE logs each row removal individually; TRUNCATE deallocates the data pages in bulk.</a:t>
            </a:r>
            <a:endParaRPr b="0" i="0" sz="1400" u="none" cap="none" strike="noStrike">
              <a:solidFill>
                <a:schemeClr val="dk1"/>
              </a:solidFill>
              <a:latin typeface="Calibri"/>
              <a:ea typeface="Calibri"/>
              <a:cs typeface="Calibri"/>
              <a:sym typeface="Calibri"/>
            </a:endParaRPr>
          </a:p>
        </p:txBody>
      </p:sp>
      <p:pic>
        <p:nvPicPr>
          <p:cNvPr descr="/home/claude/dbms_lecture2/logo/newton_logo_transparent.png" id="665" name="Google Shape;665;p35"/>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666" name="Google Shape;666;p35"/>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21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671" name="Shape 671"/>
        <p:cNvGrpSpPr/>
        <p:nvPr/>
      </p:nvGrpSpPr>
      <p:grpSpPr>
        <a:xfrm>
          <a:off x="0" y="0"/>
          <a:ext cx="0" cy="0"/>
          <a:chOff x="0" y="0"/>
          <a:chExt cx="0" cy="0"/>
        </a:xfrm>
      </p:grpSpPr>
      <p:sp>
        <p:nvSpPr>
          <p:cNvPr id="672" name="Google Shape;672;p36"/>
          <p:cNvSpPr/>
          <p:nvPr/>
        </p:nvSpPr>
        <p:spPr>
          <a:xfrm>
            <a:off x="411480" y="522793"/>
            <a:ext cx="82296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2100" u="none" cap="none" strike="noStrike">
                <a:solidFill>
                  <a:srgbClr val="FFFFFF"/>
                </a:solidFill>
                <a:latin typeface="Cambria"/>
                <a:ea typeface="Cambria"/>
                <a:cs typeface="Cambria"/>
                <a:sym typeface="Cambria"/>
              </a:rPr>
              <a:t>Checkpoint — DML</a:t>
            </a:r>
            <a:endParaRPr b="0" i="0" sz="2100" u="none" cap="none" strike="noStrike">
              <a:solidFill>
                <a:schemeClr val="dk1"/>
              </a:solidFill>
              <a:latin typeface="Calibri"/>
              <a:ea typeface="Calibri"/>
              <a:cs typeface="Calibri"/>
              <a:sym typeface="Calibri"/>
            </a:endParaRPr>
          </a:p>
        </p:txBody>
      </p:sp>
      <p:sp>
        <p:nvSpPr>
          <p:cNvPr id="673" name="Google Shape;673;p36"/>
          <p:cNvSpPr/>
          <p:nvPr/>
        </p:nvSpPr>
        <p:spPr>
          <a:xfrm>
            <a:off x="411475" y="1399174"/>
            <a:ext cx="7998900" cy="2437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1.  Why is the WHERE clause so important in UPDATE and DELETE?</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2.  Can DELETE remove only one row?</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3.  Which single command only retrieves data without changing it?</a:t>
            </a:r>
            <a:endParaRPr b="0" i="0" sz="2100" u="none" cap="none" strike="noStrike">
              <a:solidFill>
                <a:srgbClr val="DBE3EB"/>
              </a:solidFill>
              <a:latin typeface="Calibri"/>
              <a:ea typeface="Calibri"/>
              <a:cs typeface="Calibri"/>
              <a:sym typeface="Calibri"/>
            </a:endParaRPr>
          </a:p>
        </p:txBody>
      </p:sp>
      <p:pic>
        <p:nvPicPr>
          <p:cNvPr descr="/home/claude/dbms_lecture2/logo/newton_logo_white.png" id="674" name="Google Shape;674;p36"/>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675" name="Google Shape;675;p36"/>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680" name="Shape 680"/>
        <p:cNvGrpSpPr/>
        <p:nvPr/>
      </p:nvGrpSpPr>
      <p:grpSpPr>
        <a:xfrm>
          <a:off x="0" y="0"/>
          <a:ext cx="0" cy="0"/>
          <a:chOff x="0" y="0"/>
          <a:chExt cx="0" cy="0"/>
        </a:xfrm>
      </p:grpSpPr>
      <p:sp>
        <p:nvSpPr>
          <p:cNvPr id="681" name="Google Shape;681;p37"/>
          <p:cNvSpPr/>
          <p:nvPr/>
        </p:nvSpPr>
        <p:spPr>
          <a:xfrm>
            <a:off x="411505" y="455768"/>
            <a:ext cx="82296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1900" u="none" cap="none" strike="noStrike">
                <a:solidFill>
                  <a:srgbClr val="FFFFFF"/>
                </a:solidFill>
                <a:latin typeface="Cambria"/>
                <a:ea typeface="Cambria"/>
                <a:cs typeface="Cambria"/>
                <a:sym typeface="Cambria"/>
              </a:rPr>
              <a:t>Checkpoint — DML</a:t>
            </a:r>
            <a:endParaRPr b="0" i="0" sz="1900" u="none" cap="none" strike="noStrike">
              <a:solidFill>
                <a:schemeClr val="dk1"/>
              </a:solidFill>
              <a:latin typeface="Calibri"/>
              <a:ea typeface="Calibri"/>
              <a:cs typeface="Calibri"/>
              <a:sym typeface="Calibri"/>
            </a:endParaRPr>
          </a:p>
        </p:txBody>
      </p:sp>
      <p:sp>
        <p:nvSpPr>
          <p:cNvPr id="682" name="Google Shape;682;p37"/>
          <p:cNvSpPr/>
          <p:nvPr/>
        </p:nvSpPr>
        <p:spPr>
          <a:xfrm>
            <a:off x="411500" y="982523"/>
            <a:ext cx="7998900" cy="3729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300"/>
              <a:buFont typeface="Calibri"/>
              <a:buNone/>
            </a:pPr>
            <a:r>
              <a:rPr b="1" i="0" lang="en-GB" sz="1900" u="none" cap="none" strike="noStrike">
                <a:solidFill>
                  <a:schemeClr val="lt1"/>
                </a:solidFill>
                <a:latin typeface="Calibri"/>
                <a:ea typeface="Calibri"/>
                <a:cs typeface="Calibri"/>
                <a:sym typeface="Calibri"/>
              </a:rPr>
              <a:t>1.  Why is the WHERE clause so important in UPDATE and DELETE?</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4192DB"/>
              </a:buClr>
              <a:buSzPts val="1100"/>
              <a:buFont typeface="Calibri"/>
              <a:buNone/>
            </a:pPr>
            <a:r>
              <a:rPr b="1" i="0" lang="en-GB" sz="1900" u="none" cap="none" strike="noStrike">
                <a:solidFill>
                  <a:srgbClr val="4192DB"/>
                </a:solidFill>
                <a:latin typeface="Calibri"/>
                <a:ea typeface="Calibri"/>
                <a:cs typeface="Calibri"/>
                <a:sym typeface="Calibri"/>
              </a:rPr>
              <a:t>A: </a:t>
            </a:r>
            <a:r>
              <a:rPr b="0" i="0" lang="en-GB" sz="1900" u="none" cap="none" strike="noStrike">
                <a:solidFill>
                  <a:srgbClr val="EAEDF0"/>
                </a:solidFill>
                <a:latin typeface="Calibri"/>
                <a:ea typeface="Calibri"/>
                <a:cs typeface="Calibri"/>
                <a:sym typeface="Calibri"/>
              </a:rPr>
              <a:t>Without WHERE, the command applies to every row in the table — WHERE scopes the change to only the intended row(s).</a:t>
            </a:r>
            <a:endParaRPr b="0" i="0" sz="1900" u="none" cap="none" strike="noStrike">
              <a:solidFill>
                <a:srgbClr val="EAEDF0"/>
              </a:solidFill>
              <a:latin typeface="Calibri"/>
              <a:ea typeface="Calibri"/>
              <a:cs typeface="Calibri"/>
              <a:sym typeface="Calibri"/>
            </a:endParaRPr>
          </a:p>
          <a:p>
            <a:pPr indent="0" lvl="0" marL="177800" marR="0" rtl="0" algn="l">
              <a:lnSpc>
                <a:spcPct val="100000"/>
              </a:lnSpc>
              <a:spcBef>
                <a:spcPts val="300"/>
              </a:spcBef>
              <a:spcAft>
                <a:spcPts val="0"/>
              </a:spcAft>
              <a:buClr>
                <a:srgbClr val="4192DB"/>
              </a:buClr>
              <a:buSzPts val="1100"/>
              <a:buFont typeface="Calibri"/>
              <a:buNone/>
            </a:pPr>
            <a:r>
              <a:t/>
            </a:r>
            <a:endParaRPr sz="1900">
              <a:solidFill>
                <a:srgbClr val="EAEDF0"/>
              </a:solidFill>
              <a:latin typeface="Calibri"/>
              <a:ea typeface="Calibri"/>
              <a:cs typeface="Calibri"/>
              <a:sym typeface="Calibri"/>
            </a:endParaRPr>
          </a:p>
          <a:p>
            <a:pPr indent="0" lvl="0" marL="0" marR="0" rtl="0" algn="l">
              <a:lnSpc>
                <a:spcPct val="100000"/>
              </a:lnSpc>
              <a:spcBef>
                <a:spcPts val="1100"/>
              </a:spcBef>
              <a:spcAft>
                <a:spcPts val="0"/>
              </a:spcAft>
              <a:buClr>
                <a:schemeClr val="lt1"/>
              </a:buClr>
              <a:buSzPts val="1300"/>
              <a:buFont typeface="Calibri"/>
              <a:buNone/>
            </a:pPr>
            <a:r>
              <a:rPr b="1" i="0" lang="en-GB" sz="1900" u="none" cap="none" strike="noStrike">
                <a:solidFill>
                  <a:schemeClr val="lt1"/>
                </a:solidFill>
                <a:latin typeface="Calibri"/>
                <a:ea typeface="Calibri"/>
                <a:cs typeface="Calibri"/>
                <a:sym typeface="Calibri"/>
              </a:rPr>
              <a:t>2.  Can DELETE remove only one row?</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4192DB"/>
              </a:buClr>
              <a:buSzPts val="1100"/>
              <a:buFont typeface="Calibri"/>
              <a:buNone/>
            </a:pPr>
            <a:r>
              <a:rPr b="1" i="0" lang="en-GB" sz="1900" u="none" cap="none" strike="noStrike">
                <a:solidFill>
                  <a:srgbClr val="4192DB"/>
                </a:solidFill>
                <a:latin typeface="Calibri"/>
                <a:ea typeface="Calibri"/>
                <a:cs typeface="Calibri"/>
                <a:sym typeface="Calibri"/>
              </a:rPr>
              <a:t>A: </a:t>
            </a:r>
            <a:r>
              <a:rPr b="0" i="0" lang="en-GB" sz="1900" u="none" cap="none" strike="noStrike">
                <a:solidFill>
                  <a:srgbClr val="EAEDF0"/>
                </a:solidFill>
                <a:latin typeface="Calibri"/>
                <a:ea typeface="Calibri"/>
                <a:cs typeface="Calibri"/>
                <a:sym typeface="Calibri"/>
              </a:rPr>
              <a:t>Yes — pair DELETE with a WHERE condition that uniquely identifies that row, e.g. WHERE id = 5.</a:t>
            </a:r>
            <a:endParaRPr b="0" i="0" sz="1900" u="none" cap="none" strike="noStrike">
              <a:solidFill>
                <a:srgbClr val="EAEDF0"/>
              </a:solidFill>
              <a:latin typeface="Calibri"/>
              <a:ea typeface="Calibri"/>
              <a:cs typeface="Calibri"/>
              <a:sym typeface="Calibri"/>
            </a:endParaRPr>
          </a:p>
          <a:p>
            <a:pPr indent="0" lvl="0" marL="177800" marR="0" rtl="0" algn="l">
              <a:lnSpc>
                <a:spcPct val="100000"/>
              </a:lnSpc>
              <a:spcBef>
                <a:spcPts val="300"/>
              </a:spcBef>
              <a:spcAft>
                <a:spcPts val="0"/>
              </a:spcAft>
              <a:buClr>
                <a:srgbClr val="4192DB"/>
              </a:buClr>
              <a:buSzPts val="1100"/>
              <a:buFont typeface="Calibri"/>
              <a:buNone/>
            </a:pPr>
            <a:r>
              <a:t/>
            </a:r>
            <a:endParaRPr sz="1900">
              <a:solidFill>
                <a:srgbClr val="EAEDF0"/>
              </a:solidFill>
              <a:latin typeface="Calibri"/>
              <a:ea typeface="Calibri"/>
              <a:cs typeface="Calibri"/>
              <a:sym typeface="Calibri"/>
            </a:endParaRPr>
          </a:p>
          <a:p>
            <a:pPr indent="0" lvl="0" marL="0" marR="0" rtl="0" algn="l">
              <a:lnSpc>
                <a:spcPct val="100000"/>
              </a:lnSpc>
              <a:spcBef>
                <a:spcPts val="1100"/>
              </a:spcBef>
              <a:spcAft>
                <a:spcPts val="0"/>
              </a:spcAft>
              <a:buClr>
                <a:schemeClr val="lt1"/>
              </a:buClr>
              <a:buSzPts val="1300"/>
              <a:buFont typeface="Calibri"/>
              <a:buNone/>
            </a:pPr>
            <a:r>
              <a:rPr b="1" i="0" lang="en-GB" sz="1900" u="none" cap="none" strike="noStrike">
                <a:solidFill>
                  <a:schemeClr val="lt1"/>
                </a:solidFill>
                <a:latin typeface="Calibri"/>
                <a:ea typeface="Calibri"/>
                <a:cs typeface="Calibri"/>
                <a:sym typeface="Calibri"/>
              </a:rPr>
              <a:t>3.  Which single command only retrieves data without changing it?</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4192DB"/>
              </a:buClr>
              <a:buSzPts val="1100"/>
              <a:buFont typeface="Calibri"/>
              <a:buNone/>
            </a:pPr>
            <a:r>
              <a:rPr b="1" i="0" lang="en-GB" sz="1900" u="none" cap="none" strike="noStrike">
                <a:solidFill>
                  <a:srgbClr val="4192DB"/>
                </a:solidFill>
                <a:latin typeface="Calibri"/>
                <a:ea typeface="Calibri"/>
                <a:cs typeface="Calibri"/>
                <a:sym typeface="Calibri"/>
              </a:rPr>
              <a:t>A: </a:t>
            </a:r>
            <a:r>
              <a:rPr b="0" i="0" lang="en-GB" sz="1900" u="none" cap="none" strike="noStrike">
                <a:solidFill>
                  <a:srgbClr val="EAEDF0"/>
                </a:solidFill>
                <a:latin typeface="Calibri"/>
                <a:ea typeface="Calibri"/>
                <a:cs typeface="Calibri"/>
                <a:sym typeface="Calibri"/>
              </a:rPr>
              <a:t>SELECT — it reads and returns rows but never modifies the underlying data.</a:t>
            </a:r>
            <a:endParaRPr b="0" i="0" sz="1900" u="none" cap="none" strike="noStrike">
              <a:solidFill>
                <a:srgbClr val="DBE3EB"/>
              </a:solidFill>
              <a:latin typeface="Calibri"/>
              <a:ea typeface="Calibri"/>
              <a:cs typeface="Calibri"/>
              <a:sym typeface="Calibri"/>
            </a:endParaRPr>
          </a:p>
        </p:txBody>
      </p:sp>
      <p:pic>
        <p:nvPicPr>
          <p:cNvPr descr="/home/claude/dbms_lecture2/logo/newton_logo_white.png" id="683" name="Google Shape;683;p37"/>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684" name="Google Shape;684;p37"/>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38"/>
          <p:cNvSpPr/>
          <p:nvPr/>
        </p:nvSpPr>
        <p:spPr>
          <a:xfrm>
            <a:off x="411480" y="274313"/>
            <a:ext cx="8092350" cy="5829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TCL: what if the system crashes mid-way?</a:t>
            </a:r>
            <a:endParaRPr b="0" i="0" sz="2000" u="none" cap="none" strike="noStrike">
              <a:solidFill>
                <a:schemeClr val="dk1"/>
              </a:solidFill>
              <a:latin typeface="Calibri"/>
              <a:ea typeface="Calibri"/>
              <a:cs typeface="Calibri"/>
              <a:sym typeface="Calibri"/>
            </a:endParaRPr>
          </a:p>
        </p:txBody>
      </p:sp>
      <p:sp>
        <p:nvSpPr>
          <p:cNvPr id="691" name="Google Shape;691;p38"/>
          <p:cNvSpPr/>
          <p:nvPr/>
        </p:nvSpPr>
        <p:spPr>
          <a:xfrm>
            <a:off x="411488" y="1063014"/>
            <a:ext cx="8298225" cy="3561075"/>
          </a:xfrm>
          <a:prstGeom prst="roundRect">
            <a:avLst>
              <a:gd fmla="val 342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692" name="Google Shape;692;p38"/>
          <p:cNvSpPr/>
          <p:nvPr/>
        </p:nvSpPr>
        <p:spPr>
          <a:xfrm>
            <a:off x="651506" y="1171338"/>
            <a:ext cx="6858000" cy="4232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1000"/>
              <a:buFont typeface="Calibri"/>
              <a:buNone/>
            </a:pPr>
            <a:r>
              <a:rPr b="1" i="0" lang="en-GB" sz="1900" u="none" cap="none" strike="noStrike">
                <a:solidFill>
                  <a:srgbClr val="368EDE"/>
                </a:solidFill>
                <a:latin typeface="Calibri"/>
                <a:ea typeface="Calibri"/>
                <a:cs typeface="Calibri"/>
                <a:sym typeface="Calibri"/>
              </a:rPr>
              <a:t>SCENARIO: Online Banking Transfer</a:t>
            </a:r>
            <a:endParaRPr b="0" i="0" sz="1900" u="none" cap="none" strike="noStrike">
              <a:solidFill>
                <a:schemeClr val="dk1"/>
              </a:solidFill>
              <a:latin typeface="Calibri"/>
              <a:ea typeface="Calibri"/>
              <a:cs typeface="Calibri"/>
              <a:sym typeface="Calibri"/>
            </a:endParaRPr>
          </a:p>
        </p:txBody>
      </p:sp>
      <p:sp>
        <p:nvSpPr>
          <p:cNvPr id="693" name="Google Shape;693;p38"/>
          <p:cNvSpPr/>
          <p:nvPr/>
        </p:nvSpPr>
        <p:spPr>
          <a:xfrm>
            <a:off x="685800" y="2091690"/>
            <a:ext cx="2331720" cy="1303020"/>
          </a:xfrm>
          <a:prstGeom prst="roundRect">
            <a:avLst>
              <a:gd fmla="val 4211" name="adj"/>
            </a:avLst>
          </a:prstGeom>
          <a:solidFill>
            <a:srgbClr val="FFFFFF"/>
          </a:solidFill>
          <a:ln cap="flat" cmpd="sng" w="12700">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694" name="Google Shape;694;p38"/>
          <p:cNvSpPr/>
          <p:nvPr/>
        </p:nvSpPr>
        <p:spPr>
          <a:xfrm>
            <a:off x="685800" y="2091690"/>
            <a:ext cx="2331720" cy="219456"/>
          </a:xfrm>
          <a:prstGeom prst="rect">
            <a:avLst/>
          </a:prstGeom>
          <a:solidFill>
            <a:srgbClr val="16334D"/>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695" name="Google Shape;695;p38"/>
          <p:cNvSpPr/>
          <p:nvPr/>
        </p:nvSpPr>
        <p:spPr>
          <a:xfrm>
            <a:off x="685800" y="2091690"/>
            <a:ext cx="2331675" cy="2193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1700" u="none" cap="none" strike="noStrike">
                <a:solidFill>
                  <a:srgbClr val="FFFFFF"/>
                </a:solidFill>
                <a:latin typeface="Calibri"/>
                <a:ea typeface="Calibri"/>
                <a:cs typeface="Calibri"/>
                <a:sym typeface="Calibri"/>
              </a:rPr>
              <a:t>ACCOUNT A · Step 1</a:t>
            </a:r>
            <a:endParaRPr b="0" i="0" sz="1900" u="none" cap="none" strike="noStrike">
              <a:solidFill>
                <a:schemeClr val="dk1"/>
              </a:solidFill>
              <a:latin typeface="Calibri"/>
              <a:ea typeface="Calibri"/>
              <a:cs typeface="Calibri"/>
              <a:sym typeface="Calibri"/>
            </a:endParaRPr>
          </a:p>
        </p:txBody>
      </p:sp>
      <p:sp>
        <p:nvSpPr>
          <p:cNvPr id="696" name="Google Shape;696;p38"/>
          <p:cNvSpPr/>
          <p:nvPr/>
        </p:nvSpPr>
        <p:spPr>
          <a:xfrm>
            <a:off x="651506" y="2599176"/>
            <a:ext cx="2331675" cy="2742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AFC8DF"/>
              </a:buClr>
              <a:buSzPts val="1100"/>
              <a:buFont typeface="Consolas"/>
              <a:buNone/>
            </a:pPr>
            <a:r>
              <a:rPr b="0" i="0" lang="en-GB" sz="1700" u="none" cap="none" strike="sngStrike">
                <a:solidFill>
                  <a:srgbClr val="AFC8DF"/>
                </a:solidFill>
                <a:latin typeface="Consolas"/>
                <a:ea typeface="Consolas"/>
                <a:cs typeface="Consolas"/>
                <a:sym typeface="Consolas"/>
              </a:rPr>
              <a:t>₹10,000</a:t>
            </a:r>
            <a:endParaRPr b="0" i="0" sz="1700" u="none" cap="none" strike="noStrike">
              <a:solidFill>
                <a:schemeClr val="dk1"/>
              </a:solidFill>
              <a:latin typeface="Calibri"/>
              <a:ea typeface="Calibri"/>
              <a:cs typeface="Calibri"/>
              <a:sym typeface="Calibri"/>
            </a:endParaRPr>
          </a:p>
        </p:txBody>
      </p:sp>
      <p:sp>
        <p:nvSpPr>
          <p:cNvPr id="697" name="Google Shape;697;p38"/>
          <p:cNvSpPr/>
          <p:nvPr/>
        </p:nvSpPr>
        <p:spPr>
          <a:xfrm>
            <a:off x="685856" y="2985077"/>
            <a:ext cx="2331675" cy="2742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6CA5D7"/>
              </a:buClr>
              <a:buSzPts val="1300"/>
              <a:buFont typeface="Consolas"/>
              <a:buNone/>
            </a:pPr>
            <a:r>
              <a:rPr b="1" i="0" lang="en-GB" sz="1600" u="none" cap="none" strike="noStrike">
                <a:solidFill>
                  <a:srgbClr val="2579C4"/>
                </a:solidFill>
                <a:latin typeface="Consolas"/>
                <a:ea typeface="Consolas"/>
                <a:cs typeface="Consolas"/>
                <a:sym typeface="Consolas"/>
              </a:rPr>
              <a:t>₹5,000  (–5,000)</a:t>
            </a:r>
            <a:endParaRPr b="0" i="0" sz="1600" u="none" cap="none" strike="noStrike">
              <a:solidFill>
                <a:srgbClr val="2579C4"/>
              </a:solidFill>
              <a:latin typeface="Calibri"/>
              <a:ea typeface="Calibri"/>
              <a:cs typeface="Calibri"/>
              <a:sym typeface="Calibri"/>
            </a:endParaRPr>
          </a:p>
        </p:txBody>
      </p:sp>
      <p:sp>
        <p:nvSpPr>
          <p:cNvPr id="698" name="Google Shape;698;p38"/>
          <p:cNvSpPr/>
          <p:nvPr/>
        </p:nvSpPr>
        <p:spPr>
          <a:xfrm>
            <a:off x="3394710" y="2091690"/>
            <a:ext cx="2331720" cy="1303020"/>
          </a:xfrm>
          <a:prstGeom prst="roundRect">
            <a:avLst>
              <a:gd fmla="val 5263" name="adj"/>
            </a:avLst>
          </a:prstGeom>
          <a:solidFill>
            <a:srgbClr val="EFF3F6"/>
          </a:solidFill>
          <a:ln cap="flat" cmpd="sng" w="19050">
            <a:solidFill>
              <a:srgbClr val="9BC7E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699" name="Google Shape;699;p38"/>
          <p:cNvSpPr/>
          <p:nvPr/>
        </p:nvSpPr>
        <p:spPr>
          <a:xfrm>
            <a:off x="4200549" y="2198776"/>
            <a:ext cx="720000" cy="423225"/>
          </a:xfrm>
          <a:prstGeom prst="triangle">
            <a:avLst>
              <a:gd fmla="val 50000" name="adj"/>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700" name="Google Shape;700;p38"/>
          <p:cNvSpPr/>
          <p:nvPr/>
        </p:nvSpPr>
        <p:spPr>
          <a:xfrm>
            <a:off x="4308227" y="2311144"/>
            <a:ext cx="504675" cy="3048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500"/>
              <a:buFont typeface="Calibri"/>
              <a:buNone/>
            </a:pPr>
            <a:r>
              <a:rPr b="1" i="0" lang="en-GB" sz="1700" u="none" cap="none" strike="noStrike">
                <a:solidFill>
                  <a:srgbClr val="FFFFFF"/>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01" name="Google Shape;701;p38"/>
          <p:cNvSpPr/>
          <p:nvPr/>
        </p:nvSpPr>
        <p:spPr>
          <a:xfrm>
            <a:off x="3497580" y="2811780"/>
            <a:ext cx="2125980" cy="27432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6CA5D7"/>
              </a:buClr>
              <a:buSzPts val="1100"/>
              <a:buFont typeface="Calibri"/>
              <a:buNone/>
            </a:pPr>
            <a:r>
              <a:rPr b="1" i="0" lang="en-GB" sz="1900" u="none" cap="none" strike="noStrike">
                <a:solidFill>
                  <a:srgbClr val="6CA5D7"/>
                </a:solidFill>
                <a:latin typeface="Calibri"/>
                <a:ea typeface="Calibri"/>
                <a:cs typeface="Calibri"/>
                <a:sym typeface="Calibri"/>
              </a:rPr>
              <a:t>SYSTEM CRASHES</a:t>
            </a:r>
            <a:endParaRPr b="0" i="0" sz="1900" u="none" cap="none" strike="noStrike">
              <a:solidFill>
                <a:schemeClr val="dk1"/>
              </a:solidFill>
              <a:latin typeface="Calibri"/>
              <a:ea typeface="Calibri"/>
              <a:cs typeface="Calibri"/>
              <a:sym typeface="Calibri"/>
            </a:endParaRPr>
          </a:p>
        </p:txBody>
      </p:sp>
      <p:sp>
        <p:nvSpPr>
          <p:cNvPr id="702" name="Google Shape;702;p38"/>
          <p:cNvSpPr/>
          <p:nvPr/>
        </p:nvSpPr>
        <p:spPr>
          <a:xfrm>
            <a:off x="3497580" y="3065526"/>
            <a:ext cx="2126025" cy="2742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900"/>
              <a:buFont typeface="Calibri"/>
              <a:buNone/>
            </a:pPr>
            <a:r>
              <a:rPr b="0" i="1" lang="en-GB" sz="1200" u="none" cap="none" strike="noStrike">
                <a:solidFill>
                  <a:srgbClr val="598DBD"/>
                </a:solidFill>
                <a:latin typeface="Calibri"/>
                <a:ea typeface="Calibri"/>
                <a:cs typeface="Calibri"/>
                <a:sym typeface="Calibri"/>
              </a:rPr>
              <a:t>r</a:t>
            </a:r>
            <a:r>
              <a:rPr b="0" i="1" lang="en-GB" sz="1300" u="none" cap="none" strike="noStrike">
                <a:solidFill>
                  <a:srgbClr val="598DBD"/>
                </a:solidFill>
                <a:latin typeface="Calibri"/>
                <a:ea typeface="Calibri"/>
                <a:cs typeface="Calibri"/>
                <a:sym typeface="Calibri"/>
              </a:rPr>
              <a:t>ight at this exact moment</a:t>
            </a:r>
            <a:endParaRPr b="0" i="0" sz="1300" u="none" cap="none" strike="noStrike">
              <a:solidFill>
                <a:schemeClr val="dk1"/>
              </a:solidFill>
              <a:latin typeface="Calibri"/>
              <a:ea typeface="Calibri"/>
              <a:cs typeface="Calibri"/>
              <a:sym typeface="Calibri"/>
            </a:endParaRPr>
          </a:p>
        </p:txBody>
      </p:sp>
      <p:sp>
        <p:nvSpPr>
          <p:cNvPr id="703" name="Google Shape;703;p38"/>
          <p:cNvSpPr/>
          <p:nvPr/>
        </p:nvSpPr>
        <p:spPr>
          <a:xfrm>
            <a:off x="6103620" y="2091690"/>
            <a:ext cx="2331720" cy="1303020"/>
          </a:xfrm>
          <a:prstGeom prst="roundRect">
            <a:avLst>
              <a:gd fmla="val 4211" name="adj"/>
            </a:avLst>
          </a:prstGeom>
          <a:solidFill>
            <a:srgbClr val="FFFFFF"/>
          </a:solidFill>
          <a:ln cap="flat" cmpd="sng" w="12700">
            <a:solidFill>
              <a:srgbClr val="E7EAE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704" name="Google Shape;704;p38"/>
          <p:cNvSpPr/>
          <p:nvPr/>
        </p:nvSpPr>
        <p:spPr>
          <a:xfrm>
            <a:off x="6103620" y="2091690"/>
            <a:ext cx="2331720" cy="219456"/>
          </a:xfrm>
          <a:prstGeom prst="rect">
            <a:avLst/>
          </a:prstGeom>
          <a:solidFill>
            <a:srgbClr val="16334D"/>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705" name="Google Shape;705;p38"/>
          <p:cNvSpPr/>
          <p:nvPr/>
        </p:nvSpPr>
        <p:spPr>
          <a:xfrm>
            <a:off x="6103620" y="2091690"/>
            <a:ext cx="2331720" cy="21945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1700" u="none" cap="none" strike="noStrike">
                <a:solidFill>
                  <a:srgbClr val="FFFFFF"/>
                </a:solidFill>
                <a:latin typeface="Calibri"/>
                <a:ea typeface="Calibri"/>
                <a:cs typeface="Calibri"/>
                <a:sym typeface="Calibri"/>
              </a:rPr>
              <a:t>ACCOUNT B · Step 3</a:t>
            </a:r>
            <a:endParaRPr b="0" i="0" sz="1700" u="none" cap="none" strike="noStrike">
              <a:solidFill>
                <a:schemeClr val="dk1"/>
              </a:solidFill>
              <a:latin typeface="Calibri"/>
              <a:ea typeface="Calibri"/>
              <a:cs typeface="Calibri"/>
              <a:sym typeface="Calibri"/>
            </a:endParaRPr>
          </a:p>
        </p:txBody>
      </p:sp>
      <p:sp>
        <p:nvSpPr>
          <p:cNvPr id="706" name="Google Shape;706;p38"/>
          <p:cNvSpPr/>
          <p:nvPr/>
        </p:nvSpPr>
        <p:spPr>
          <a:xfrm>
            <a:off x="6103620" y="2599186"/>
            <a:ext cx="2331675" cy="2742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AFC8DF"/>
              </a:buClr>
              <a:buSzPts val="1100"/>
              <a:buFont typeface="Consolas"/>
              <a:buNone/>
            </a:pPr>
            <a:r>
              <a:rPr b="0" i="0" lang="en-GB" sz="1700" u="none" cap="none" strike="sngStrike">
                <a:solidFill>
                  <a:srgbClr val="AFC8DF"/>
                </a:solidFill>
                <a:latin typeface="Consolas"/>
                <a:ea typeface="Consolas"/>
                <a:cs typeface="Consolas"/>
                <a:sym typeface="Consolas"/>
              </a:rPr>
              <a:t>₹8,000</a:t>
            </a:r>
            <a:endParaRPr b="0" i="0" sz="1700" u="none" cap="none" strike="noStrike">
              <a:solidFill>
                <a:schemeClr val="dk1"/>
              </a:solidFill>
              <a:latin typeface="Calibri"/>
              <a:ea typeface="Calibri"/>
              <a:cs typeface="Calibri"/>
              <a:sym typeface="Calibri"/>
            </a:endParaRPr>
          </a:p>
        </p:txBody>
      </p:sp>
      <p:sp>
        <p:nvSpPr>
          <p:cNvPr id="707" name="Google Shape;707;p38"/>
          <p:cNvSpPr/>
          <p:nvPr/>
        </p:nvSpPr>
        <p:spPr>
          <a:xfrm>
            <a:off x="6172170" y="2985077"/>
            <a:ext cx="2331675" cy="2742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79C4"/>
              </a:buClr>
              <a:buSzPts val="1300"/>
              <a:buFont typeface="Consolas"/>
              <a:buNone/>
            </a:pPr>
            <a:r>
              <a:rPr b="1" i="0" lang="en-GB" sz="1600" u="none" cap="none" strike="noStrike">
                <a:solidFill>
                  <a:srgbClr val="9BC7EF"/>
                </a:solidFill>
                <a:latin typeface="Consolas"/>
                <a:ea typeface="Consolas"/>
                <a:cs typeface="Consolas"/>
                <a:sym typeface="Consolas"/>
              </a:rPr>
              <a:t>₹8,000  (+0,000)</a:t>
            </a:r>
            <a:endParaRPr b="0" i="0" sz="1600" u="none" cap="none" strike="noStrike">
              <a:solidFill>
                <a:srgbClr val="9BC7EF"/>
              </a:solidFill>
              <a:latin typeface="Calibri"/>
              <a:ea typeface="Calibri"/>
              <a:cs typeface="Calibri"/>
              <a:sym typeface="Calibri"/>
            </a:endParaRPr>
          </a:p>
        </p:txBody>
      </p:sp>
      <p:sp>
        <p:nvSpPr>
          <p:cNvPr id="708" name="Google Shape;708;p38"/>
          <p:cNvSpPr/>
          <p:nvPr/>
        </p:nvSpPr>
        <p:spPr>
          <a:xfrm>
            <a:off x="3072384" y="2674620"/>
            <a:ext cx="267462" cy="123444"/>
          </a:xfrm>
          <a:prstGeom prst="rightArrow">
            <a:avLst>
              <a:gd fmla="val 50000" name="adj1"/>
              <a:gd fmla="val 50000" name="adj2"/>
            </a:avLst>
          </a:prstGeom>
          <a:solidFill>
            <a:srgbClr val="CAD1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709" name="Google Shape;709;p38"/>
          <p:cNvSpPr/>
          <p:nvPr/>
        </p:nvSpPr>
        <p:spPr>
          <a:xfrm>
            <a:off x="5781294" y="2674620"/>
            <a:ext cx="267462" cy="123444"/>
          </a:xfrm>
          <a:prstGeom prst="rightArrow">
            <a:avLst>
              <a:gd fmla="val 50000" name="adj1"/>
              <a:gd fmla="val 50000" name="adj2"/>
            </a:avLst>
          </a:prstGeom>
          <a:solidFill>
            <a:srgbClr val="CAD1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710" name="Google Shape;710;p38"/>
          <p:cNvSpPr/>
          <p:nvPr/>
        </p:nvSpPr>
        <p:spPr>
          <a:xfrm>
            <a:off x="651506" y="3669038"/>
            <a:ext cx="7818075" cy="7227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000"/>
              <a:buFont typeface="Calibri"/>
              <a:buNone/>
            </a:pPr>
            <a:r>
              <a:rPr b="0" i="1" lang="en-GB" sz="1900" u="none" cap="none" strike="noStrike">
                <a:solidFill>
                  <a:srgbClr val="16334D"/>
                </a:solidFill>
                <a:latin typeface="Calibri"/>
                <a:ea typeface="Calibri"/>
                <a:cs typeface="Calibri"/>
                <a:sym typeface="Calibri"/>
              </a:rPr>
              <a:t>Money vanished from Account A, never reached Account B — unless the database can guarantee "all steps, or none."</a:t>
            </a:r>
            <a:endParaRPr b="0" i="0" sz="1900" u="none" cap="none" strike="noStrike">
              <a:solidFill>
                <a:schemeClr val="dk1"/>
              </a:solidFill>
              <a:latin typeface="Calibri"/>
              <a:ea typeface="Calibri"/>
              <a:cs typeface="Calibri"/>
              <a:sym typeface="Calibri"/>
            </a:endParaRPr>
          </a:p>
        </p:txBody>
      </p:sp>
      <p:pic>
        <p:nvPicPr>
          <p:cNvPr descr="/home/claude/dbms_lecture2/logo/newton_logo_transparent.png" id="711" name="Google Shape;711;p38"/>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712" name="Google Shape;712;p38"/>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23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7" name="Shape 717"/>
        <p:cNvGrpSpPr/>
        <p:nvPr/>
      </p:nvGrpSpPr>
      <p:grpSpPr>
        <a:xfrm>
          <a:off x="0" y="0"/>
          <a:ext cx="0" cy="0"/>
          <a:chOff x="0" y="0"/>
          <a:chExt cx="0" cy="0"/>
        </a:xfrm>
      </p:grpSpPr>
      <p:pic>
        <p:nvPicPr>
          <p:cNvPr descr="/home/claude/assets/newton_logo.png" id="718" name="Google Shape;718;p39"/>
          <p:cNvPicPr preferRelativeResize="0"/>
          <p:nvPr/>
        </p:nvPicPr>
        <p:blipFill rotWithShape="1">
          <a:blip r:embed="rId4">
            <a:alphaModFix/>
          </a:blip>
          <a:srcRect b="0" l="0" r="0" t="0"/>
          <a:stretch/>
        </p:blipFill>
        <p:spPr>
          <a:xfrm>
            <a:off x="8080781" y="164592"/>
            <a:ext cx="788671" cy="233203"/>
          </a:xfrm>
          <a:prstGeom prst="rect">
            <a:avLst/>
          </a:prstGeom>
          <a:noFill/>
          <a:ln>
            <a:noFill/>
          </a:ln>
        </p:spPr>
      </p:pic>
      <p:sp>
        <p:nvSpPr>
          <p:cNvPr id="719" name="Google Shape;719;p39"/>
          <p:cNvSpPr/>
          <p:nvPr/>
        </p:nvSpPr>
        <p:spPr>
          <a:xfrm>
            <a:off x="411480" y="192024"/>
            <a:ext cx="61722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894D7"/>
              </a:buClr>
              <a:buSzPts val="1500"/>
              <a:buFont typeface="Calibri"/>
              <a:buNone/>
            </a:pPr>
            <a:r>
              <a:rPr b="1" i="0" lang="en-GB" sz="1900" u="none" cap="none" strike="noStrike">
                <a:solidFill>
                  <a:srgbClr val="4894D7"/>
                </a:solidFill>
                <a:latin typeface="Calibri"/>
                <a:ea typeface="Calibri"/>
                <a:cs typeface="Calibri"/>
                <a:sym typeface="Calibri"/>
              </a:rPr>
              <a:t>TCL COMMAND 1</a:t>
            </a:r>
            <a:endParaRPr b="0" i="0" sz="1900" u="none" cap="none" strike="noStrike">
              <a:solidFill>
                <a:schemeClr val="dk1"/>
              </a:solidFill>
              <a:latin typeface="Calibri"/>
              <a:ea typeface="Calibri"/>
              <a:cs typeface="Calibri"/>
              <a:sym typeface="Calibri"/>
            </a:endParaRPr>
          </a:p>
        </p:txBody>
      </p:sp>
      <p:sp>
        <p:nvSpPr>
          <p:cNvPr id="720" name="Google Shape;720;p39"/>
          <p:cNvSpPr/>
          <p:nvPr/>
        </p:nvSpPr>
        <p:spPr>
          <a:xfrm>
            <a:off x="411480" y="438912"/>
            <a:ext cx="8160975" cy="466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B4163"/>
              </a:buClr>
              <a:buSzPts val="2900"/>
              <a:buFont typeface="Cambria"/>
              <a:buNone/>
            </a:pPr>
            <a:r>
              <a:rPr b="1" i="0" lang="en-GB" sz="2000" u="none" cap="none" strike="noStrike">
                <a:solidFill>
                  <a:srgbClr val="1B4163"/>
                </a:solidFill>
                <a:latin typeface="Cambria"/>
                <a:ea typeface="Cambria"/>
                <a:cs typeface="Cambria"/>
                <a:sym typeface="Cambria"/>
              </a:rPr>
              <a:t>COMMIT — locking in the changes</a:t>
            </a:r>
            <a:endParaRPr b="0" i="0" sz="2000" u="none" cap="none" strike="noStrike">
              <a:solidFill>
                <a:schemeClr val="dk1"/>
              </a:solidFill>
              <a:latin typeface="Calibri"/>
              <a:ea typeface="Calibri"/>
              <a:cs typeface="Calibri"/>
              <a:sym typeface="Calibri"/>
            </a:endParaRPr>
          </a:p>
        </p:txBody>
      </p:sp>
      <p:sp>
        <p:nvSpPr>
          <p:cNvPr id="721" name="Google Shape;721;p39"/>
          <p:cNvSpPr/>
          <p:nvPr/>
        </p:nvSpPr>
        <p:spPr>
          <a:xfrm>
            <a:off x="411480" y="973836"/>
            <a:ext cx="8298225" cy="720000"/>
          </a:xfrm>
          <a:prstGeom prst="roundRect">
            <a:avLst>
              <a:gd fmla="val 11429" name="adj"/>
            </a:avLst>
          </a:prstGeom>
          <a:solidFill>
            <a:srgbClr val="E5EBF1"/>
          </a:solidFill>
          <a:ln cap="flat" cmpd="sng" w="12700">
            <a:solidFill>
              <a:srgbClr val="A8CEF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39"/>
          <p:cNvSpPr/>
          <p:nvPr/>
        </p:nvSpPr>
        <p:spPr>
          <a:xfrm>
            <a:off x="476850" y="1013475"/>
            <a:ext cx="8061600" cy="680400"/>
          </a:xfrm>
          <a:prstGeom prst="rect">
            <a:avLst/>
          </a:prstGeom>
          <a:noFill/>
          <a:ln>
            <a:noFill/>
          </a:ln>
        </p:spPr>
        <p:txBody>
          <a:bodyPr anchorCtr="0" anchor="ctr" bIns="34275" lIns="68575" spcFirstLastPara="1" rIns="68575" wrap="square" tIns="34275">
            <a:noAutofit/>
          </a:bodyPr>
          <a:lstStyle/>
          <a:p>
            <a:pPr indent="0" lvl="0" marL="0" marR="0" rtl="0" algn="l">
              <a:lnSpc>
                <a:spcPct val="108000"/>
              </a:lnSpc>
              <a:spcBef>
                <a:spcPts val="0"/>
              </a:spcBef>
              <a:spcAft>
                <a:spcPts val="0"/>
              </a:spcAft>
              <a:buClr>
                <a:srgbClr val="499AE1"/>
              </a:buClr>
              <a:buSzPts val="1000"/>
              <a:buFont typeface="Calibri"/>
              <a:buNone/>
            </a:pPr>
            <a:r>
              <a:rPr b="1" i="0" lang="en-GB" sz="1400" u="none" cap="none" strike="noStrike">
                <a:solidFill>
                  <a:srgbClr val="499AE1"/>
                </a:solidFill>
                <a:latin typeface="Calibri"/>
                <a:ea typeface="Calibri"/>
                <a:cs typeface="Calibri"/>
                <a:sym typeface="Calibri"/>
              </a:rPr>
              <a:t>THE PRINCIPAL WALKS IN</a:t>
            </a:r>
            <a:endParaRPr b="0" i="0" sz="1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172531"/>
              </a:buClr>
              <a:buSzPts val="1400"/>
              <a:buFont typeface="Calibri"/>
              <a:buNone/>
            </a:pPr>
            <a:r>
              <a:rPr b="0" i="1" lang="en-GB" sz="2000" u="none" cap="none" strike="noStrike">
                <a:solidFill>
                  <a:srgbClr val="172531"/>
                </a:solidFill>
                <a:latin typeface="Calibri"/>
                <a:ea typeface="Calibri"/>
                <a:cs typeface="Calibri"/>
                <a:sym typeface="Calibri"/>
              </a:rPr>
              <a:t>“Both steps of the transfer succeeded — save it for good.”</a:t>
            </a:r>
            <a:endParaRPr b="0" i="0" sz="1800" u="none" cap="none" strike="noStrike">
              <a:solidFill>
                <a:schemeClr val="dk1"/>
              </a:solidFill>
              <a:latin typeface="Calibri"/>
              <a:ea typeface="Calibri"/>
              <a:cs typeface="Calibri"/>
              <a:sym typeface="Calibri"/>
            </a:endParaRPr>
          </a:p>
        </p:txBody>
      </p:sp>
      <p:sp>
        <p:nvSpPr>
          <p:cNvPr id="723" name="Google Shape;723;p39"/>
          <p:cNvSpPr/>
          <p:nvPr/>
        </p:nvSpPr>
        <p:spPr>
          <a:xfrm>
            <a:off x="411487" y="1789931"/>
            <a:ext cx="4403475" cy="2571750"/>
          </a:xfrm>
          <a:prstGeom prst="roundRect">
            <a:avLst>
              <a:gd fmla="val 2667" name="adj"/>
            </a:avLst>
          </a:prstGeom>
          <a:solidFill>
            <a:srgbClr val="142E45"/>
          </a:solidFill>
          <a:ln>
            <a:noFill/>
          </a:ln>
          <a:effectLst>
            <a:outerShdw blurRad="76200" rotWithShape="0" algn="bl" dir="5400000" dist="25400">
              <a:srgbClr val="000000">
                <a:alpha val="200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4" name="Google Shape;724;p39"/>
          <p:cNvSpPr/>
          <p:nvPr/>
        </p:nvSpPr>
        <p:spPr>
          <a:xfrm>
            <a:off x="582936" y="1903094"/>
            <a:ext cx="4615425" cy="21602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FCFDD"/>
              </a:buClr>
              <a:buSzPts val="1700"/>
              <a:buFont typeface="Consolas"/>
              <a:buNone/>
            </a:pPr>
            <a:r>
              <a:rPr b="0" i="0" lang="en-GB" sz="1700" u="none" cap="none" strike="noStrike">
                <a:solidFill>
                  <a:srgbClr val="BFCFDD"/>
                </a:solidFill>
                <a:latin typeface="Consolas"/>
                <a:ea typeface="Consolas"/>
                <a:cs typeface="Consolas"/>
                <a:sym typeface="Consolas"/>
              </a:rPr>
              <a:t>BEGIN;</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700"/>
              <a:buFont typeface="Consolas"/>
              <a:buNone/>
            </a:pPr>
            <a:r>
              <a:rPr b="0" i="0" lang="en-GB" sz="1700" u="none" cap="none" strike="noStrike">
                <a:solidFill>
                  <a:srgbClr val="ECF0F3"/>
                </a:solidFill>
                <a:latin typeface="Consolas"/>
                <a:ea typeface="Consolas"/>
                <a:cs typeface="Consolas"/>
                <a:sym typeface="Consolas"/>
              </a:rPr>
              <a:t>UPDATE accounts SET balance</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700"/>
              <a:buFont typeface="Consolas"/>
              <a:buNone/>
            </a:pPr>
            <a:r>
              <a:rPr b="0" i="0" lang="en-GB" sz="1700" u="none" cap="none" strike="noStrike">
                <a:solidFill>
                  <a:srgbClr val="ECF0F3"/>
                </a:solidFill>
                <a:latin typeface="Consolas"/>
                <a:ea typeface="Consolas"/>
                <a:cs typeface="Consolas"/>
                <a:sym typeface="Consolas"/>
              </a:rPr>
              <a:t>  = balance - 5000</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700"/>
              <a:buFont typeface="Consolas"/>
              <a:buNone/>
            </a:pPr>
            <a:r>
              <a:rPr b="0" i="0" lang="en-GB" sz="1700" u="none" cap="none" strike="noStrike">
                <a:solidFill>
                  <a:srgbClr val="ECF0F3"/>
                </a:solidFill>
                <a:latin typeface="Consolas"/>
                <a:ea typeface="Consolas"/>
                <a:cs typeface="Consolas"/>
                <a:sym typeface="Consolas"/>
              </a:rPr>
              <a:t>  WHERE id='A';</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700"/>
              <a:buFont typeface="Consolas"/>
              <a:buNone/>
            </a:pPr>
            <a:r>
              <a:rPr b="0" i="0" lang="en-GB" sz="1700" u="none" cap="none" strike="noStrike">
                <a:solidFill>
                  <a:srgbClr val="ECF0F3"/>
                </a:solidFill>
                <a:latin typeface="Consolas"/>
                <a:ea typeface="Consolas"/>
                <a:cs typeface="Consolas"/>
                <a:sym typeface="Consolas"/>
              </a:rPr>
              <a:t>UPDATE accounts SET balance</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700"/>
              <a:buFont typeface="Consolas"/>
              <a:buNone/>
            </a:pPr>
            <a:r>
              <a:rPr b="0" i="0" lang="en-GB" sz="1700" u="none" cap="none" strike="noStrike">
                <a:solidFill>
                  <a:srgbClr val="ECF0F3"/>
                </a:solidFill>
                <a:latin typeface="Consolas"/>
                <a:ea typeface="Consolas"/>
                <a:cs typeface="Consolas"/>
                <a:sym typeface="Consolas"/>
              </a:rPr>
              <a:t>  = balance + 5000</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700"/>
              <a:buFont typeface="Consolas"/>
              <a:buNone/>
            </a:pPr>
            <a:r>
              <a:rPr b="0" i="0" lang="en-GB" sz="1700" u="none" cap="none" strike="noStrike">
                <a:solidFill>
                  <a:srgbClr val="ECF0F3"/>
                </a:solidFill>
                <a:latin typeface="Consolas"/>
                <a:ea typeface="Consolas"/>
                <a:cs typeface="Consolas"/>
                <a:sym typeface="Consolas"/>
              </a:rPr>
              <a:t>  WHERE id='B';</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FC9EF"/>
              </a:buClr>
              <a:buSzPts val="1700"/>
              <a:buFont typeface="Consolas"/>
              <a:buNone/>
            </a:pPr>
            <a:r>
              <a:rPr b="1" i="0" lang="en-GB" sz="1700" u="none" cap="none" strike="noStrike">
                <a:solidFill>
                  <a:srgbClr val="9FC9EF"/>
                </a:solidFill>
                <a:latin typeface="Consolas"/>
                <a:ea typeface="Consolas"/>
                <a:cs typeface="Consolas"/>
                <a:sym typeface="Consolas"/>
              </a:rPr>
              <a:t>COMMIT;</a:t>
            </a:r>
            <a:endParaRPr b="0" i="0" sz="1700" u="none" cap="none" strike="noStrike">
              <a:solidFill>
                <a:schemeClr val="dk1"/>
              </a:solidFill>
              <a:latin typeface="Calibri"/>
              <a:ea typeface="Calibri"/>
              <a:cs typeface="Calibri"/>
              <a:sym typeface="Calibri"/>
            </a:endParaRPr>
          </a:p>
        </p:txBody>
      </p:sp>
      <p:sp>
        <p:nvSpPr>
          <p:cNvPr id="725" name="Google Shape;725;p39"/>
          <p:cNvSpPr/>
          <p:nvPr/>
        </p:nvSpPr>
        <p:spPr>
          <a:xfrm>
            <a:off x="4906462" y="1789931"/>
            <a:ext cx="3803175" cy="2571750"/>
          </a:xfrm>
          <a:prstGeom prst="roundRect">
            <a:avLst>
              <a:gd fmla="val 2667" name="adj"/>
            </a:avLst>
          </a:prstGeom>
          <a:solidFill>
            <a:srgbClr val="F8FAFB"/>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6" name="Google Shape;726;p39"/>
          <p:cNvSpPr/>
          <p:nvPr/>
        </p:nvSpPr>
        <p:spPr>
          <a:xfrm>
            <a:off x="5052491" y="1897952"/>
            <a:ext cx="27090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163"/>
              </a:buClr>
              <a:buSzPts val="1700"/>
              <a:buFont typeface="Cambria"/>
              <a:buNone/>
            </a:pPr>
            <a:r>
              <a:rPr b="1" i="0" lang="en-GB" sz="1700" u="none" cap="none" strike="noStrike">
                <a:solidFill>
                  <a:srgbClr val="1B4163"/>
                </a:solidFill>
                <a:latin typeface="Cambria"/>
                <a:ea typeface="Cambria"/>
                <a:cs typeface="Cambria"/>
                <a:sym typeface="Cambria"/>
              </a:rPr>
              <a:t>What COMMIT does</a:t>
            </a:r>
            <a:endParaRPr b="0" i="0" sz="1700" u="none" cap="none" strike="noStrike">
              <a:solidFill>
                <a:schemeClr val="dk1"/>
              </a:solidFill>
              <a:latin typeface="Calibri"/>
              <a:ea typeface="Calibri"/>
              <a:cs typeface="Calibri"/>
              <a:sym typeface="Calibri"/>
            </a:endParaRPr>
          </a:p>
        </p:txBody>
      </p:sp>
      <p:sp>
        <p:nvSpPr>
          <p:cNvPr id="727" name="Google Shape;727;p39"/>
          <p:cNvSpPr/>
          <p:nvPr/>
        </p:nvSpPr>
        <p:spPr>
          <a:xfrm>
            <a:off x="4991475" y="2235713"/>
            <a:ext cx="3479400" cy="2023650"/>
          </a:xfrm>
          <a:prstGeom prst="rect">
            <a:avLst/>
          </a:prstGeom>
          <a:noFill/>
          <a:ln>
            <a:noFill/>
          </a:ln>
        </p:spPr>
        <p:txBody>
          <a:bodyPr anchorCtr="0" anchor="t" bIns="34275" lIns="68575" spcFirstLastPara="1" rIns="68575" wrap="square" tIns="34275">
            <a:noAutofit/>
          </a:bodyPr>
          <a:lstStyle/>
          <a:p>
            <a:pPr indent="0" lvl="0" marL="0" marR="0" rtl="0" algn="l">
              <a:lnSpc>
                <a:spcPct val="118000"/>
              </a:lnSpc>
              <a:spcBef>
                <a:spcPts val="0"/>
              </a:spcBef>
              <a:spcAft>
                <a:spcPts val="0"/>
              </a:spcAft>
              <a:buClr>
                <a:srgbClr val="172531"/>
              </a:buClr>
              <a:buSzPts val="1400"/>
              <a:buFont typeface="Calibri"/>
              <a:buNone/>
            </a:pPr>
            <a:r>
              <a:rPr b="0" i="0" lang="en-GB" sz="1500" u="none" cap="none" strike="noStrike">
                <a:solidFill>
                  <a:srgbClr val="172531"/>
                </a:solidFill>
                <a:latin typeface="Calibri"/>
                <a:ea typeface="Calibri"/>
                <a:cs typeface="Calibri"/>
                <a:sym typeface="Calibri"/>
              </a:rPr>
              <a:t>•  Makes every change since BEGIN permanent</a:t>
            </a:r>
            <a:endParaRPr b="0" i="0" sz="15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500" u="none" cap="none" strike="noStrike">
                <a:solidFill>
                  <a:srgbClr val="172531"/>
                </a:solidFill>
                <a:latin typeface="Calibri"/>
                <a:ea typeface="Calibri"/>
                <a:cs typeface="Calibri"/>
                <a:sym typeface="Calibri"/>
              </a:rPr>
              <a:t>•  Visible to every other session once it runs</a:t>
            </a:r>
            <a:endParaRPr b="0" i="0" sz="15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500" u="none" cap="none" strike="noStrike">
                <a:solidFill>
                  <a:srgbClr val="172531"/>
                </a:solidFill>
                <a:latin typeface="Calibri"/>
                <a:ea typeface="Calibri"/>
                <a:cs typeface="Calibri"/>
                <a:sym typeface="Calibri"/>
              </a:rPr>
              <a:t>•  Until then, only this session sees it</a:t>
            </a:r>
            <a:endParaRPr b="0" i="0" sz="15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500" u="none" cap="none" strike="noStrike">
                <a:solidFill>
                  <a:srgbClr val="172531"/>
                </a:solidFill>
                <a:latin typeface="Calibri"/>
                <a:ea typeface="Calibri"/>
                <a:cs typeface="Calibri"/>
                <a:sym typeface="Calibri"/>
              </a:rPr>
              <a:t>•  Can't be undone with ROLLBACK afterward</a:t>
            </a:r>
            <a:endParaRPr b="0" i="0" sz="1500" u="none" cap="none" strike="noStrike">
              <a:solidFill>
                <a:schemeClr val="dk1"/>
              </a:solidFill>
              <a:latin typeface="Calibri"/>
              <a:ea typeface="Calibri"/>
              <a:cs typeface="Calibri"/>
              <a:sym typeface="Calibri"/>
            </a:endParaRPr>
          </a:p>
        </p:txBody>
      </p:sp>
      <p:sp>
        <p:nvSpPr>
          <p:cNvPr id="728" name="Google Shape;728;p39"/>
          <p:cNvSpPr/>
          <p:nvPr/>
        </p:nvSpPr>
        <p:spPr>
          <a:xfrm>
            <a:off x="411480" y="4457700"/>
            <a:ext cx="8298225" cy="480150"/>
          </a:xfrm>
          <a:prstGeom prst="roundRect">
            <a:avLst>
              <a:gd fmla="val 14286" name="adj"/>
            </a:avLst>
          </a:prstGeom>
          <a:solidFill>
            <a:srgbClr val="142E4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icons/arrow_white.png" id="729" name="Google Shape;729;p39"/>
          <p:cNvPicPr preferRelativeResize="0"/>
          <p:nvPr/>
        </p:nvPicPr>
        <p:blipFill rotWithShape="1">
          <a:blip r:embed="rId5">
            <a:alphaModFix/>
          </a:blip>
          <a:srcRect b="0" l="0" r="0" t="0"/>
          <a:stretch/>
        </p:blipFill>
        <p:spPr>
          <a:xfrm>
            <a:off x="582930" y="4581144"/>
            <a:ext cx="233172" cy="233172"/>
          </a:xfrm>
          <a:prstGeom prst="rect">
            <a:avLst/>
          </a:prstGeom>
          <a:noFill/>
          <a:ln>
            <a:noFill/>
          </a:ln>
        </p:spPr>
      </p:pic>
      <p:sp>
        <p:nvSpPr>
          <p:cNvPr id="730" name="Google Shape;730;p39"/>
          <p:cNvSpPr/>
          <p:nvPr/>
        </p:nvSpPr>
        <p:spPr>
          <a:xfrm>
            <a:off x="925830" y="4457700"/>
            <a:ext cx="7612425"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4E9"/>
              </a:buClr>
              <a:buSzPts val="1400"/>
              <a:buFont typeface="Calibri"/>
              <a:buNone/>
            </a:pPr>
            <a:r>
              <a:rPr b="0" i="1" lang="en-GB" sz="1700" u="none" cap="none" strike="noStrike">
                <a:solidFill>
                  <a:srgbClr val="DEE4E9"/>
                </a:solidFill>
                <a:latin typeface="Calibri"/>
                <a:ea typeface="Calibri"/>
                <a:cs typeface="Calibri"/>
                <a:sym typeface="Calibri"/>
              </a:rPr>
              <a:t>See the account balances move through each stage on the next slide →</a:t>
            </a:r>
            <a:endParaRPr b="0" i="0" sz="1700" u="none" cap="none" strike="noStrike">
              <a:solidFill>
                <a:schemeClr val="dk1"/>
              </a:solidFill>
              <a:latin typeface="Calibri"/>
              <a:ea typeface="Calibri"/>
              <a:cs typeface="Calibri"/>
              <a:sym typeface="Calibri"/>
            </a:endParaRPr>
          </a:p>
        </p:txBody>
      </p:sp>
      <p:sp>
        <p:nvSpPr>
          <p:cNvPr id="731" name="Google Shape;731;p39"/>
          <p:cNvSpPr/>
          <p:nvPr/>
        </p:nvSpPr>
        <p:spPr>
          <a:xfrm>
            <a:off x="8663711" y="4855464"/>
            <a:ext cx="342900"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9AB9D4"/>
              </a:buClr>
              <a:buSzPts val="900"/>
              <a:buFont typeface="Calibri"/>
              <a:buNone/>
            </a:pPr>
            <a:r>
              <a:rPr b="0" i="0" lang="en-GB" sz="1100" u="none" cap="none" strike="noStrike">
                <a:solidFill>
                  <a:srgbClr val="9AB9D4"/>
                </a:solidFill>
                <a:latin typeface="Calibri"/>
                <a:ea typeface="Calibri"/>
                <a:cs typeface="Calibri"/>
                <a:sym typeface="Calibri"/>
              </a:rPr>
              <a:t>24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6" name="Shape 736"/>
        <p:cNvGrpSpPr/>
        <p:nvPr/>
      </p:nvGrpSpPr>
      <p:grpSpPr>
        <a:xfrm>
          <a:off x="0" y="0"/>
          <a:ext cx="0" cy="0"/>
          <a:chOff x="0" y="0"/>
          <a:chExt cx="0" cy="0"/>
        </a:xfrm>
      </p:grpSpPr>
      <p:pic>
        <p:nvPicPr>
          <p:cNvPr descr="/home/claude/assets/newton_logo.png" id="737" name="Google Shape;737;p40"/>
          <p:cNvPicPr preferRelativeResize="0"/>
          <p:nvPr/>
        </p:nvPicPr>
        <p:blipFill rotWithShape="1">
          <a:blip r:embed="rId3">
            <a:alphaModFix/>
          </a:blip>
          <a:srcRect b="0" l="0" r="0" t="0"/>
          <a:stretch/>
        </p:blipFill>
        <p:spPr>
          <a:xfrm>
            <a:off x="8080781" y="164592"/>
            <a:ext cx="788671" cy="233203"/>
          </a:xfrm>
          <a:prstGeom prst="rect">
            <a:avLst/>
          </a:prstGeom>
          <a:noFill/>
          <a:ln>
            <a:noFill/>
          </a:ln>
        </p:spPr>
      </p:pic>
      <p:sp>
        <p:nvSpPr>
          <p:cNvPr id="738" name="Google Shape;738;p40"/>
          <p:cNvSpPr/>
          <p:nvPr/>
        </p:nvSpPr>
        <p:spPr>
          <a:xfrm>
            <a:off x="411480" y="192024"/>
            <a:ext cx="61722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894D7"/>
              </a:buClr>
              <a:buSzPts val="1500"/>
              <a:buFont typeface="Calibri"/>
              <a:buNone/>
            </a:pPr>
            <a:r>
              <a:rPr b="1" i="0" lang="en-GB" sz="1900" u="none" cap="none" strike="noStrike">
                <a:solidFill>
                  <a:srgbClr val="4894D7"/>
                </a:solidFill>
                <a:latin typeface="Calibri"/>
                <a:ea typeface="Calibri"/>
                <a:cs typeface="Calibri"/>
                <a:sym typeface="Calibri"/>
              </a:rPr>
              <a:t>TCL COMMAND 1 · RESULT</a:t>
            </a:r>
            <a:endParaRPr b="0" i="0" sz="1900" u="none" cap="none" strike="noStrike">
              <a:solidFill>
                <a:schemeClr val="dk1"/>
              </a:solidFill>
              <a:latin typeface="Calibri"/>
              <a:ea typeface="Calibri"/>
              <a:cs typeface="Calibri"/>
              <a:sym typeface="Calibri"/>
            </a:endParaRPr>
          </a:p>
        </p:txBody>
      </p:sp>
      <p:sp>
        <p:nvSpPr>
          <p:cNvPr id="739" name="Google Shape;739;p40"/>
          <p:cNvSpPr/>
          <p:nvPr/>
        </p:nvSpPr>
        <p:spPr>
          <a:xfrm>
            <a:off x="411480" y="438912"/>
            <a:ext cx="8160975" cy="466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B4163"/>
              </a:buClr>
              <a:buSzPts val="2900"/>
              <a:buFont typeface="Cambria"/>
              <a:buNone/>
            </a:pPr>
            <a:r>
              <a:rPr b="1" i="0" lang="en-GB" sz="2000" u="none" cap="none" strike="noStrike">
                <a:solidFill>
                  <a:srgbClr val="1B4163"/>
                </a:solidFill>
                <a:latin typeface="Cambria"/>
                <a:ea typeface="Cambria"/>
                <a:cs typeface="Cambria"/>
                <a:sym typeface="Cambria"/>
              </a:rPr>
              <a:t>COMMIT: tracing the account balances</a:t>
            </a:r>
            <a:endParaRPr b="0" i="0" sz="2000" u="none" cap="none" strike="noStrike">
              <a:solidFill>
                <a:schemeClr val="dk1"/>
              </a:solidFill>
              <a:latin typeface="Calibri"/>
              <a:ea typeface="Calibri"/>
              <a:cs typeface="Calibri"/>
              <a:sym typeface="Calibri"/>
            </a:endParaRPr>
          </a:p>
        </p:txBody>
      </p:sp>
      <p:sp>
        <p:nvSpPr>
          <p:cNvPr id="740" name="Google Shape;740;p40"/>
          <p:cNvSpPr/>
          <p:nvPr/>
        </p:nvSpPr>
        <p:spPr>
          <a:xfrm>
            <a:off x="445750" y="1035550"/>
            <a:ext cx="2380200" cy="2709000"/>
          </a:xfrm>
          <a:prstGeom prst="roundRect">
            <a:avLst>
              <a:gd fmla="val 2778" name="adj"/>
            </a:avLst>
          </a:prstGeom>
          <a:solidFill>
            <a:srgbClr val="F8FAFB"/>
          </a:solidFill>
          <a:ln cap="flat" cmpd="sng" w="15875">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741" name="Google Shape;741;p40"/>
          <p:cNvSpPr/>
          <p:nvPr/>
        </p:nvSpPr>
        <p:spPr>
          <a:xfrm>
            <a:off x="582930" y="1172718"/>
            <a:ext cx="2331675" cy="3087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6E9CC5"/>
              </a:buClr>
              <a:buSzPts val="1200"/>
              <a:buFont typeface="Calibri"/>
              <a:buNone/>
            </a:pPr>
            <a:r>
              <a:rPr b="1" i="0" lang="en-GB" sz="1400" u="none" cap="none" strike="noStrike">
                <a:solidFill>
                  <a:srgbClr val="6E9CC5"/>
                </a:solidFill>
                <a:latin typeface="Calibri"/>
                <a:ea typeface="Calibri"/>
                <a:cs typeface="Calibri"/>
                <a:sym typeface="Calibri"/>
              </a:rPr>
              <a:t>BEFORE TRANSACTION</a:t>
            </a:r>
            <a:endParaRPr b="0" i="0" sz="1400" u="none" cap="none" strike="noStrike">
              <a:solidFill>
                <a:schemeClr val="dk1"/>
              </a:solidFill>
              <a:latin typeface="Calibri"/>
              <a:ea typeface="Calibri"/>
              <a:cs typeface="Calibri"/>
              <a:sym typeface="Calibri"/>
            </a:endParaRPr>
          </a:p>
        </p:txBody>
      </p:sp>
      <p:graphicFrame>
        <p:nvGraphicFramePr>
          <p:cNvPr id="742" name="Google Shape;742;p40"/>
          <p:cNvGraphicFramePr/>
          <p:nvPr/>
        </p:nvGraphicFramePr>
        <p:xfrm>
          <a:off x="805815" y="1529334"/>
          <a:ext cx="3000000" cy="3000000"/>
        </p:xfrm>
        <a:graphic>
          <a:graphicData uri="http://schemas.openxmlformats.org/drawingml/2006/table">
            <a:tbl>
              <a:tblPr>
                <a:noFill/>
                <a:tableStyleId>{C39A8331-18CA-48D6-8124-F7E8F97B184A}</a:tableStyleId>
              </a:tblPr>
              <a:tblGrid>
                <a:gridCol w="942975"/>
                <a:gridCol w="942975"/>
              </a:tblGrid>
              <a:tr h="425175">
                <a:tc>
                  <a:txBody>
                    <a:bodyPr/>
                    <a:lstStyle/>
                    <a:p>
                      <a:pPr indent="0" lvl="0" marL="0" marR="0" rtl="0" algn="ctr">
                        <a:lnSpc>
                          <a:spcPct val="100000"/>
                        </a:lnSpc>
                        <a:spcBef>
                          <a:spcPts val="0"/>
                        </a:spcBef>
                        <a:spcAft>
                          <a:spcPts val="0"/>
                        </a:spcAft>
                        <a:buClr>
                          <a:srgbClr val="FFFFFF"/>
                        </a:buClr>
                        <a:buSzPts val="1400"/>
                        <a:buFont typeface="Calibri"/>
                        <a:buNone/>
                      </a:pPr>
                      <a:r>
                        <a:rPr b="1" lang="en-GB" sz="1700" u="none" cap="none" strike="noStrike">
                          <a:solidFill>
                            <a:srgbClr val="FFFFFF"/>
                          </a:solidFill>
                          <a:latin typeface="Calibri"/>
                          <a:ea typeface="Calibri"/>
                          <a:cs typeface="Calibri"/>
                          <a:sym typeface="Calibri"/>
                        </a:rPr>
                        <a:t>acct</a:t>
                      </a:r>
                      <a:endParaRPr sz="1700" u="none" cap="none" strike="noStrike">
                        <a:latin typeface="Calibri"/>
                        <a:ea typeface="Calibri"/>
                        <a:cs typeface="Calibri"/>
                        <a:sym typeface="Calibri"/>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4894D7"/>
                    </a:solidFill>
                  </a:tcPr>
                </a:tc>
                <a:tc>
                  <a:txBody>
                    <a:bodyPr/>
                    <a:lstStyle/>
                    <a:p>
                      <a:pPr indent="0" lvl="0" marL="0" marR="0" rtl="0" algn="ctr">
                        <a:lnSpc>
                          <a:spcPct val="100000"/>
                        </a:lnSpc>
                        <a:spcBef>
                          <a:spcPts val="0"/>
                        </a:spcBef>
                        <a:spcAft>
                          <a:spcPts val="0"/>
                        </a:spcAft>
                        <a:buClr>
                          <a:srgbClr val="FFFFFF"/>
                        </a:buClr>
                        <a:buSzPts val="1400"/>
                        <a:buFont typeface="Calibri"/>
                        <a:buNone/>
                      </a:pPr>
                      <a:r>
                        <a:rPr b="1" lang="en-GB" sz="1700" u="none" cap="none" strike="noStrike">
                          <a:solidFill>
                            <a:srgbClr val="FFFFFF"/>
                          </a:solidFill>
                          <a:latin typeface="Calibri"/>
                          <a:ea typeface="Calibri"/>
                          <a:cs typeface="Calibri"/>
                          <a:sym typeface="Calibri"/>
                        </a:rPr>
                        <a:t>balance</a:t>
                      </a:r>
                      <a:endParaRPr sz="1700" u="none" cap="none" strike="noStrike">
                        <a:latin typeface="Calibri"/>
                        <a:ea typeface="Calibri"/>
                        <a:cs typeface="Calibri"/>
                        <a:sym typeface="Calibri"/>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4894D7"/>
                    </a:solidFill>
                  </a:tcPr>
                </a:tc>
              </a:tr>
              <a:tr h="425175">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A</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10,000</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r>
              <a:tr h="425175">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B</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8,000</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r>
            </a:tbl>
          </a:graphicData>
        </a:graphic>
      </p:graphicFrame>
      <p:sp>
        <p:nvSpPr>
          <p:cNvPr id="743" name="Google Shape;743;p40"/>
          <p:cNvSpPr/>
          <p:nvPr/>
        </p:nvSpPr>
        <p:spPr>
          <a:xfrm>
            <a:off x="617220" y="3257550"/>
            <a:ext cx="2263050" cy="445725"/>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6E9CC5"/>
              </a:buClr>
              <a:buSzPts val="1100"/>
              <a:buFont typeface="Calibri"/>
              <a:buNone/>
            </a:pPr>
            <a:r>
              <a:rPr b="0" i="1" lang="en-GB" sz="1600" u="none" cap="none" strike="noStrike">
                <a:solidFill>
                  <a:srgbClr val="6E9CC5"/>
                </a:solidFill>
                <a:latin typeface="Calibri"/>
                <a:ea typeface="Calibri"/>
                <a:cs typeface="Calibri"/>
                <a:sym typeface="Calibri"/>
              </a:rPr>
              <a:t>nothing has run yet</a:t>
            </a:r>
            <a:endParaRPr b="0" i="0" sz="1600" u="none" cap="none" strike="noStrike">
              <a:solidFill>
                <a:schemeClr val="dk1"/>
              </a:solidFill>
              <a:latin typeface="Calibri"/>
              <a:ea typeface="Calibri"/>
              <a:cs typeface="Calibri"/>
              <a:sym typeface="Calibri"/>
            </a:endParaRPr>
          </a:p>
        </p:txBody>
      </p:sp>
      <p:sp>
        <p:nvSpPr>
          <p:cNvPr id="744" name="Google Shape;744;p40"/>
          <p:cNvSpPr/>
          <p:nvPr/>
        </p:nvSpPr>
        <p:spPr>
          <a:xfrm>
            <a:off x="3017520" y="2245995"/>
            <a:ext cx="342900" cy="342900"/>
          </a:xfrm>
          <a:prstGeom prst="ellipse">
            <a:avLst/>
          </a:prstGeom>
          <a:solidFill>
            <a:srgbClr val="4894D7"/>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icons/arrow_white.png" id="745" name="Google Shape;745;p40"/>
          <p:cNvPicPr preferRelativeResize="0"/>
          <p:nvPr/>
        </p:nvPicPr>
        <p:blipFill rotWithShape="1">
          <a:blip r:embed="rId4">
            <a:alphaModFix/>
          </a:blip>
          <a:srcRect b="0" l="0" r="0" t="0"/>
          <a:stretch/>
        </p:blipFill>
        <p:spPr>
          <a:xfrm>
            <a:off x="3092958" y="2321433"/>
            <a:ext cx="192024" cy="192024"/>
          </a:xfrm>
          <a:prstGeom prst="rect">
            <a:avLst/>
          </a:prstGeom>
          <a:noFill/>
          <a:ln>
            <a:noFill/>
          </a:ln>
        </p:spPr>
      </p:pic>
      <p:sp>
        <p:nvSpPr>
          <p:cNvPr id="746" name="Google Shape;746;p40"/>
          <p:cNvSpPr/>
          <p:nvPr/>
        </p:nvSpPr>
        <p:spPr>
          <a:xfrm>
            <a:off x="2325113" y="2581800"/>
            <a:ext cx="1527900" cy="425100"/>
          </a:xfrm>
          <a:prstGeom prst="rect">
            <a:avLst/>
          </a:prstGeom>
          <a:noFill/>
          <a:ln>
            <a:noFill/>
          </a:ln>
        </p:spPr>
        <p:txBody>
          <a:bodyPr anchorCtr="0" anchor="ctr" bIns="34275" lIns="68575" spcFirstLastPara="1" rIns="68575" wrap="square" tIns="34275">
            <a:noAutofit/>
          </a:bodyPr>
          <a:lstStyle/>
          <a:p>
            <a:pPr indent="0" lvl="0" marL="0" marR="0" rtl="0" algn="ctr">
              <a:lnSpc>
                <a:spcPct val="110000"/>
              </a:lnSpc>
              <a:spcBef>
                <a:spcPts val="0"/>
              </a:spcBef>
              <a:spcAft>
                <a:spcPts val="0"/>
              </a:spcAft>
              <a:buClr>
                <a:srgbClr val="6E9CC5"/>
              </a:buClr>
              <a:buSzPts val="1000"/>
              <a:buFont typeface="Consolas"/>
              <a:buNone/>
            </a:pPr>
            <a:r>
              <a:rPr b="1" i="0" lang="en-GB" sz="1400" u="none" cap="none" strike="noStrike">
                <a:solidFill>
                  <a:srgbClr val="6E9CC5"/>
                </a:solidFill>
                <a:latin typeface="Consolas"/>
                <a:ea typeface="Consolas"/>
                <a:cs typeface="Consolas"/>
                <a:sym typeface="Consolas"/>
              </a:rPr>
              <a:t> </a:t>
            </a:r>
            <a:r>
              <a:rPr b="1" i="0" lang="en-GB" sz="1000" u="none" cap="none" strike="noStrike">
                <a:solidFill>
                  <a:srgbClr val="6E9CC5"/>
                </a:solidFill>
                <a:latin typeface="Consolas"/>
                <a:ea typeface="Consolas"/>
                <a:cs typeface="Consolas"/>
                <a:sym typeface="Consolas"/>
              </a:rPr>
              <a:t>UPDATES</a:t>
            </a:r>
            <a:endParaRPr b="0" i="0" sz="10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6E9CC5"/>
              </a:buClr>
              <a:buSzPts val="1000"/>
              <a:buFont typeface="Consolas"/>
              <a:buNone/>
            </a:pPr>
            <a:r>
              <a:rPr b="1" i="0" lang="en-GB" sz="1000" u="none" cap="none" strike="noStrike">
                <a:solidFill>
                  <a:srgbClr val="6E9CC5"/>
                </a:solidFill>
                <a:latin typeface="Consolas"/>
                <a:ea typeface="Consolas"/>
                <a:cs typeface="Consolas"/>
                <a:sym typeface="Consolas"/>
              </a:rPr>
              <a:t>  run</a:t>
            </a:r>
            <a:endParaRPr b="0" i="0" sz="1000" u="none" cap="none" strike="noStrike">
              <a:solidFill>
                <a:schemeClr val="dk1"/>
              </a:solidFill>
              <a:latin typeface="Calibri"/>
              <a:ea typeface="Calibri"/>
              <a:cs typeface="Calibri"/>
              <a:sym typeface="Calibri"/>
            </a:endParaRPr>
          </a:p>
        </p:txBody>
      </p:sp>
      <p:sp>
        <p:nvSpPr>
          <p:cNvPr id="747" name="Google Shape;747;p40"/>
          <p:cNvSpPr/>
          <p:nvPr/>
        </p:nvSpPr>
        <p:spPr>
          <a:xfrm>
            <a:off x="3394710" y="1062990"/>
            <a:ext cx="2468925" cy="2709000"/>
          </a:xfrm>
          <a:prstGeom prst="roundRect">
            <a:avLst>
              <a:gd fmla="val 2778" name="adj"/>
            </a:avLst>
          </a:prstGeom>
          <a:solidFill>
            <a:srgbClr val="F8FAFB"/>
          </a:solidFill>
          <a:ln cap="flat" cmpd="sng" w="15875">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748" name="Google Shape;748;p40"/>
          <p:cNvSpPr/>
          <p:nvPr/>
        </p:nvSpPr>
        <p:spPr>
          <a:xfrm>
            <a:off x="3463290" y="1172718"/>
            <a:ext cx="2331675" cy="3087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499AE1"/>
              </a:buClr>
              <a:buSzPts val="1200"/>
              <a:buFont typeface="Calibri"/>
              <a:buNone/>
            </a:pPr>
            <a:r>
              <a:rPr b="1" i="0" lang="en-GB" sz="1400" u="none" cap="none" strike="noStrike">
                <a:solidFill>
                  <a:srgbClr val="499AE1"/>
                </a:solidFill>
                <a:latin typeface="Calibri"/>
                <a:ea typeface="Calibri"/>
                <a:cs typeface="Calibri"/>
                <a:sym typeface="Calibri"/>
              </a:rPr>
              <a:t>PENDING</a:t>
            </a:r>
            <a:endParaRPr b="0" i="0" sz="1400" u="none" cap="none" strike="noStrike">
              <a:solidFill>
                <a:schemeClr val="dk1"/>
              </a:solidFill>
              <a:latin typeface="Calibri"/>
              <a:ea typeface="Calibri"/>
              <a:cs typeface="Calibri"/>
              <a:sym typeface="Calibri"/>
            </a:endParaRPr>
          </a:p>
        </p:txBody>
      </p:sp>
      <p:graphicFrame>
        <p:nvGraphicFramePr>
          <p:cNvPr id="749" name="Google Shape;749;p40"/>
          <p:cNvGraphicFramePr/>
          <p:nvPr/>
        </p:nvGraphicFramePr>
        <p:xfrm>
          <a:off x="3686175" y="1529334"/>
          <a:ext cx="3000000" cy="3000000"/>
        </p:xfrm>
        <a:graphic>
          <a:graphicData uri="http://schemas.openxmlformats.org/drawingml/2006/table">
            <a:tbl>
              <a:tblPr>
                <a:noFill/>
                <a:tableStyleId>{C39A8331-18CA-48D6-8124-F7E8F97B184A}</a:tableStyleId>
              </a:tblPr>
              <a:tblGrid>
                <a:gridCol w="942975"/>
                <a:gridCol w="942975"/>
              </a:tblGrid>
              <a:tr h="425175">
                <a:tc>
                  <a:txBody>
                    <a:bodyPr/>
                    <a:lstStyle/>
                    <a:p>
                      <a:pPr indent="0" lvl="0" marL="0" marR="0" rtl="0" algn="ctr">
                        <a:lnSpc>
                          <a:spcPct val="100000"/>
                        </a:lnSpc>
                        <a:spcBef>
                          <a:spcPts val="0"/>
                        </a:spcBef>
                        <a:spcAft>
                          <a:spcPts val="0"/>
                        </a:spcAft>
                        <a:buClr>
                          <a:srgbClr val="FFFFFF"/>
                        </a:buClr>
                        <a:buSzPts val="1400"/>
                        <a:buFont typeface="Calibri"/>
                        <a:buNone/>
                      </a:pPr>
                      <a:r>
                        <a:rPr b="1" lang="en-GB" sz="1700" u="none" cap="none" strike="noStrike">
                          <a:solidFill>
                            <a:srgbClr val="FFFFFF"/>
                          </a:solidFill>
                          <a:latin typeface="Calibri"/>
                          <a:ea typeface="Calibri"/>
                          <a:cs typeface="Calibri"/>
                          <a:sym typeface="Calibri"/>
                        </a:rPr>
                        <a:t>acct</a:t>
                      </a:r>
                      <a:endParaRPr sz="1700" u="none" cap="none" strike="noStrike">
                        <a:latin typeface="Calibri"/>
                        <a:ea typeface="Calibri"/>
                        <a:cs typeface="Calibri"/>
                        <a:sym typeface="Calibri"/>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4894D7"/>
                    </a:solidFill>
                  </a:tcPr>
                </a:tc>
                <a:tc>
                  <a:txBody>
                    <a:bodyPr/>
                    <a:lstStyle/>
                    <a:p>
                      <a:pPr indent="0" lvl="0" marL="0" marR="0" rtl="0" algn="ctr">
                        <a:lnSpc>
                          <a:spcPct val="100000"/>
                        </a:lnSpc>
                        <a:spcBef>
                          <a:spcPts val="0"/>
                        </a:spcBef>
                        <a:spcAft>
                          <a:spcPts val="0"/>
                        </a:spcAft>
                        <a:buClr>
                          <a:srgbClr val="FFFFFF"/>
                        </a:buClr>
                        <a:buSzPts val="1400"/>
                        <a:buFont typeface="Calibri"/>
                        <a:buNone/>
                      </a:pPr>
                      <a:r>
                        <a:rPr b="1" lang="en-GB" sz="1700" u="none" cap="none" strike="noStrike">
                          <a:solidFill>
                            <a:srgbClr val="FFFFFF"/>
                          </a:solidFill>
                          <a:latin typeface="Calibri"/>
                          <a:ea typeface="Calibri"/>
                          <a:cs typeface="Calibri"/>
                          <a:sym typeface="Calibri"/>
                        </a:rPr>
                        <a:t>balance</a:t>
                      </a:r>
                      <a:endParaRPr sz="1700" u="none" cap="none" strike="noStrike">
                        <a:latin typeface="Calibri"/>
                        <a:ea typeface="Calibri"/>
                        <a:cs typeface="Calibri"/>
                        <a:sym typeface="Calibri"/>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4894D7"/>
                    </a:solidFill>
                  </a:tcPr>
                </a:tc>
              </a:tr>
              <a:tr h="425175">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A</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5,000</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r>
              <a:tr h="425175">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B</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13,000</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r>
            </a:tbl>
          </a:graphicData>
        </a:graphic>
      </p:graphicFrame>
      <p:sp>
        <p:nvSpPr>
          <p:cNvPr id="750" name="Google Shape;750;p40"/>
          <p:cNvSpPr/>
          <p:nvPr/>
        </p:nvSpPr>
        <p:spPr>
          <a:xfrm>
            <a:off x="3497588" y="3178451"/>
            <a:ext cx="2263050" cy="524925"/>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499AE1"/>
              </a:buClr>
              <a:buSzPts val="1100"/>
              <a:buFont typeface="Calibri"/>
              <a:buNone/>
            </a:pPr>
            <a:r>
              <a:rPr b="0" i="1" lang="en-GB" sz="1600" u="none" cap="none" strike="noStrike">
                <a:solidFill>
                  <a:srgbClr val="499AE1"/>
                </a:solidFill>
                <a:latin typeface="Calibri"/>
                <a:ea typeface="Calibri"/>
                <a:cs typeface="Calibri"/>
                <a:sym typeface="Calibri"/>
              </a:rPr>
              <a:t>uncommitted — this session only</a:t>
            </a:r>
            <a:endParaRPr b="0" i="0" sz="1600" u="none" cap="none" strike="noStrike">
              <a:solidFill>
                <a:schemeClr val="dk1"/>
              </a:solidFill>
              <a:latin typeface="Calibri"/>
              <a:ea typeface="Calibri"/>
              <a:cs typeface="Calibri"/>
              <a:sym typeface="Calibri"/>
            </a:endParaRPr>
          </a:p>
        </p:txBody>
      </p:sp>
      <p:sp>
        <p:nvSpPr>
          <p:cNvPr id="751" name="Google Shape;751;p40"/>
          <p:cNvSpPr/>
          <p:nvPr/>
        </p:nvSpPr>
        <p:spPr>
          <a:xfrm>
            <a:off x="5897880" y="2245995"/>
            <a:ext cx="342900" cy="342900"/>
          </a:xfrm>
          <a:prstGeom prst="ellipse">
            <a:avLst/>
          </a:prstGeom>
          <a:solidFill>
            <a:srgbClr val="2784D7"/>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icons/arrow_white.png" id="752" name="Google Shape;752;p40"/>
          <p:cNvPicPr preferRelativeResize="0"/>
          <p:nvPr/>
        </p:nvPicPr>
        <p:blipFill rotWithShape="1">
          <a:blip r:embed="rId4">
            <a:alphaModFix/>
          </a:blip>
          <a:srcRect b="0" l="0" r="0" t="0"/>
          <a:stretch/>
        </p:blipFill>
        <p:spPr>
          <a:xfrm>
            <a:off x="5973318" y="2321433"/>
            <a:ext cx="192024" cy="192024"/>
          </a:xfrm>
          <a:prstGeom prst="rect">
            <a:avLst/>
          </a:prstGeom>
          <a:noFill/>
          <a:ln>
            <a:noFill/>
          </a:ln>
        </p:spPr>
      </p:pic>
      <p:sp>
        <p:nvSpPr>
          <p:cNvPr id="753" name="Google Shape;753;p40"/>
          <p:cNvSpPr/>
          <p:nvPr/>
        </p:nvSpPr>
        <p:spPr>
          <a:xfrm>
            <a:off x="5511979" y="2513450"/>
            <a:ext cx="1234350" cy="42525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6E9CC5"/>
              </a:buClr>
              <a:buSzPts val="1000"/>
              <a:buFont typeface="Consolas"/>
              <a:buNone/>
            </a:pPr>
            <a:r>
              <a:rPr b="1" i="0" lang="en-GB" sz="1000" u="none" cap="none" strike="noStrike">
                <a:solidFill>
                  <a:srgbClr val="6E9CC5"/>
                </a:solidFill>
                <a:latin typeface="Consolas"/>
                <a:ea typeface="Consolas"/>
                <a:cs typeface="Consolas"/>
                <a:sym typeface="Consolas"/>
              </a:rPr>
              <a:t>    COMMIT</a:t>
            </a:r>
            <a:endParaRPr b="0" i="0" sz="1000" u="none" cap="none" strike="noStrike">
              <a:solidFill>
                <a:schemeClr val="dk1"/>
              </a:solidFill>
              <a:latin typeface="Calibri"/>
              <a:ea typeface="Calibri"/>
              <a:cs typeface="Calibri"/>
              <a:sym typeface="Calibri"/>
            </a:endParaRPr>
          </a:p>
        </p:txBody>
      </p:sp>
      <p:sp>
        <p:nvSpPr>
          <p:cNvPr id="754" name="Google Shape;754;p40"/>
          <p:cNvSpPr/>
          <p:nvPr/>
        </p:nvSpPr>
        <p:spPr>
          <a:xfrm>
            <a:off x="6275070" y="1062990"/>
            <a:ext cx="2468925" cy="2709000"/>
          </a:xfrm>
          <a:prstGeom prst="roundRect">
            <a:avLst>
              <a:gd fmla="val 2778" name="adj"/>
            </a:avLst>
          </a:prstGeom>
          <a:solidFill>
            <a:srgbClr val="F8FAFB"/>
          </a:solidFill>
          <a:ln cap="flat" cmpd="sng" w="15875">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755" name="Google Shape;755;p40"/>
          <p:cNvSpPr/>
          <p:nvPr/>
        </p:nvSpPr>
        <p:spPr>
          <a:xfrm>
            <a:off x="6343650" y="1172718"/>
            <a:ext cx="2331675" cy="3087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784D7"/>
              </a:buClr>
              <a:buSzPts val="1200"/>
              <a:buFont typeface="Calibri"/>
              <a:buNone/>
            </a:pPr>
            <a:r>
              <a:rPr b="1" i="0" lang="en-GB" sz="1400" u="none" cap="none" strike="noStrike">
                <a:solidFill>
                  <a:srgbClr val="2784D7"/>
                </a:solidFill>
                <a:latin typeface="Calibri"/>
                <a:ea typeface="Calibri"/>
                <a:cs typeface="Calibri"/>
                <a:sym typeface="Calibri"/>
              </a:rPr>
              <a:t>AFTER COMMIT</a:t>
            </a:r>
            <a:endParaRPr b="0" i="0" sz="1400" u="none" cap="none" strike="noStrike">
              <a:solidFill>
                <a:schemeClr val="dk1"/>
              </a:solidFill>
              <a:latin typeface="Calibri"/>
              <a:ea typeface="Calibri"/>
              <a:cs typeface="Calibri"/>
              <a:sym typeface="Calibri"/>
            </a:endParaRPr>
          </a:p>
        </p:txBody>
      </p:sp>
      <p:graphicFrame>
        <p:nvGraphicFramePr>
          <p:cNvPr id="756" name="Google Shape;756;p40"/>
          <p:cNvGraphicFramePr/>
          <p:nvPr/>
        </p:nvGraphicFramePr>
        <p:xfrm>
          <a:off x="6566535" y="1529334"/>
          <a:ext cx="3000000" cy="3000000"/>
        </p:xfrm>
        <a:graphic>
          <a:graphicData uri="http://schemas.openxmlformats.org/drawingml/2006/table">
            <a:tbl>
              <a:tblPr>
                <a:noFill/>
                <a:tableStyleId>{C39A8331-18CA-48D6-8124-F7E8F97B184A}</a:tableStyleId>
              </a:tblPr>
              <a:tblGrid>
                <a:gridCol w="942975"/>
                <a:gridCol w="942975"/>
              </a:tblGrid>
              <a:tr h="425175">
                <a:tc>
                  <a:txBody>
                    <a:bodyPr/>
                    <a:lstStyle/>
                    <a:p>
                      <a:pPr indent="0" lvl="0" marL="0" marR="0" rtl="0" algn="ctr">
                        <a:lnSpc>
                          <a:spcPct val="100000"/>
                        </a:lnSpc>
                        <a:spcBef>
                          <a:spcPts val="0"/>
                        </a:spcBef>
                        <a:spcAft>
                          <a:spcPts val="0"/>
                        </a:spcAft>
                        <a:buClr>
                          <a:srgbClr val="FFFFFF"/>
                        </a:buClr>
                        <a:buSzPts val="1400"/>
                        <a:buFont typeface="Calibri"/>
                        <a:buNone/>
                      </a:pPr>
                      <a:r>
                        <a:rPr b="1" lang="en-GB" sz="1700" u="none" cap="none" strike="noStrike">
                          <a:solidFill>
                            <a:srgbClr val="FFFFFF"/>
                          </a:solidFill>
                          <a:latin typeface="Calibri"/>
                          <a:ea typeface="Calibri"/>
                          <a:cs typeface="Calibri"/>
                          <a:sym typeface="Calibri"/>
                        </a:rPr>
                        <a:t>acct</a:t>
                      </a:r>
                      <a:endParaRPr sz="1700" u="none" cap="none" strike="noStrike">
                        <a:latin typeface="Calibri"/>
                        <a:ea typeface="Calibri"/>
                        <a:cs typeface="Calibri"/>
                        <a:sym typeface="Calibri"/>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4894D7"/>
                    </a:solidFill>
                  </a:tcPr>
                </a:tc>
                <a:tc>
                  <a:txBody>
                    <a:bodyPr/>
                    <a:lstStyle/>
                    <a:p>
                      <a:pPr indent="0" lvl="0" marL="0" marR="0" rtl="0" algn="ctr">
                        <a:lnSpc>
                          <a:spcPct val="100000"/>
                        </a:lnSpc>
                        <a:spcBef>
                          <a:spcPts val="0"/>
                        </a:spcBef>
                        <a:spcAft>
                          <a:spcPts val="0"/>
                        </a:spcAft>
                        <a:buClr>
                          <a:srgbClr val="FFFFFF"/>
                        </a:buClr>
                        <a:buSzPts val="1400"/>
                        <a:buFont typeface="Calibri"/>
                        <a:buNone/>
                      </a:pPr>
                      <a:r>
                        <a:rPr b="1" lang="en-GB" sz="1700" u="none" cap="none" strike="noStrike">
                          <a:solidFill>
                            <a:srgbClr val="FFFFFF"/>
                          </a:solidFill>
                          <a:latin typeface="Calibri"/>
                          <a:ea typeface="Calibri"/>
                          <a:cs typeface="Calibri"/>
                          <a:sym typeface="Calibri"/>
                        </a:rPr>
                        <a:t>balance</a:t>
                      </a:r>
                      <a:endParaRPr sz="1700" u="none" cap="none" strike="noStrike">
                        <a:latin typeface="Calibri"/>
                        <a:ea typeface="Calibri"/>
                        <a:cs typeface="Calibri"/>
                        <a:sym typeface="Calibri"/>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4894D7"/>
                    </a:solidFill>
                  </a:tcPr>
                </a:tc>
              </a:tr>
              <a:tr h="425175">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A</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5,000</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r>
              <a:tr h="425175">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B</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72531"/>
                        </a:buClr>
                        <a:buSzPts val="1400"/>
                        <a:buFont typeface="Consolas"/>
                        <a:buNone/>
                      </a:pPr>
                      <a:r>
                        <a:rPr lang="en-GB" sz="1700" u="none" cap="none" strike="noStrike">
                          <a:solidFill>
                            <a:srgbClr val="172531"/>
                          </a:solidFill>
                          <a:latin typeface="Consolas"/>
                          <a:ea typeface="Consolas"/>
                          <a:cs typeface="Consolas"/>
                          <a:sym typeface="Consolas"/>
                        </a:rPr>
                        <a:t>13,000</a:t>
                      </a:r>
                      <a:endParaRPr sz="1700" u="none" cap="none" strike="noStrike">
                        <a:latin typeface="Consolas"/>
                        <a:ea typeface="Consolas"/>
                        <a:cs typeface="Consolas"/>
                        <a:sym typeface="Consolas"/>
                      </a:endParaRPr>
                    </a:p>
                  </a:txBody>
                  <a:tcPr marT="34300" marB="34300" marR="68600" marL="68600" anchor="ctr">
                    <a:lnL cap="flat" cmpd="sng" w="9525">
                      <a:solidFill>
                        <a:srgbClr val="E2E6EA"/>
                      </a:solidFill>
                      <a:prstDash val="solid"/>
                      <a:round/>
                      <a:headEnd len="sm" w="sm" type="none"/>
                      <a:tailEnd len="sm" w="sm" type="none"/>
                    </a:lnL>
                    <a:lnR cap="flat" cmpd="sng" w="9525">
                      <a:solidFill>
                        <a:srgbClr val="E2E6EA"/>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solidFill>
                      <a:srgbClr val="FFFFFF"/>
                    </a:solidFill>
                  </a:tcPr>
                </a:tc>
              </a:tr>
            </a:tbl>
          </a:graphicData>
        </a:graphic>
      </p:graphicFrame>
      <p:sp>
        <p:nvSpPr>
          <p:cNvPr id="757" name="Google Shape;757;p40"/>
          <p:cNvSpPr/>
          <p:nvPr/>
        </p:nvSpPr>
        <p:spPr>
          <a:xfrm>
            <a:off x="6377940" y="3257550"/>
            <a:ext cx="2263050" cy="445725"/>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2784D7"/>
              </a:buClr>
              <a:buSzPts val="1100"/>
              <a:buFont typeface="Calibri"/>
              <a:buNone/>
            </a:pPr>
            <a:r>
              <a:rPr b="0" i="1" lang="en-GB" sz="1600" u="none" cap="none" strike="noStrike">
                <a:solidFill>
                  <a:srgbClr val="2784D7"/>
                </a:solidFill>
                <a:latin typeface="Calibri"/>
                <a:ea typeface="Calibri"/>
                <a:cs typeface="Calibri"/>
                <a:sym typeface="Calibri"/>
              </a:rPr>
              <a:t>✓ permanent, visible to all</a:t>
            </a:r>
            <a:endParaRPr b="0" i="0" sz="1600" u="none" cap="none" strike="noStrike">
              <a:solidFill>
                <a:schemeClr val="dk1"/>
              </a:solidFill>
              <a:latin typeface="Calibri"/>
              <a:ea typeface="Calibri"/>
              <a:cs typeface="Calibri"/>
              <a:sym typeface="Calibri"/>
            </a:endParaRPr>
          </a:p>
        </p:txBody>
      </p:sp>
      <p:sp>
        <p:nvSpPr>
          <p:cNvPr id="758" name="Google Shape;758;p40"/>
          <p:cNvSpPr/>
          <p:nvPr/>
        </p:nvSpPr>
        <p:spPr>
          <a:xfrm>
            <a:off x="411480" y="3874770"/>
            <a:ext cx="8298225" cy="788625"/>
          </a:xfrm>
          <a:prstGeom prst="roundRect">
            <a:avLst>
              <a:gd fmla="val 8696" name="adj"/>
            </a:avLst>
          </a:prstGeom>
          <a:solidFill>
            <a:srgbClr val="F8FAFB"/>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759" name="Google Shape;759;p40"/>
          <p:cNvSpPr/>
          <p:nvPr/>
        </p:nvSpPr>
        <p:spPr>
          <a:xfrm>
            <a:off x="617220" y="3874770"/>
            <a:ext cx="7886700" cy="788625"/>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1B4163"/>
              </a:buClr>
              <a:buSzPts val="1300"/>
              <a:buFont typeface="Calibri"/>
              <a:buNone/>
            </a:pPr>
            <a:r>
              <a:rPr b="1" i="0" lang="en-GB" sz="1400" u="none" cap="none" strike="noStrike">
                <a:solidFill>
                  <a:srgbClr val="1B4163"/>
                </a:solidFill>
                <a:latin typeface="Calibri"/>
                <a:ea typeface="Calibri"/>
                <a:cs typeface="Calibri"/>
                <a:sym typeface="Calibri"/>
              </a:rPr>
              <a:t>Same numbers as the query: </a:t>
            </a:r>
            <a:r>
              <a:rPr b="0" i="0" lang="en-GB" sz="1400" u="none" cap="none" strike="noStrike">
                <a:solidFill>
                  <a:srgbClr val="172531"/>
                </a:solidFill>
                <a:latin typeface="Calibri"/>
                <a:ea typeface="Calibri"/>
                <a:cs typeface="Calibri"/>
                <a:sym typeface="Calibri"/>
              </a:rPr>
              <a:t>A drops by 5000, B rises by 5000. COMMIT only changes visibility — the values were already set in the pending stage.</a:t>
            </a:r>
            <a:endParaRPr b="0" i="0" sz="1400" u="none" cap="none" strike="noStrike">
              <a:solidFill>
                <a:schemeClr val="dk1"/>
              </a:solidFill>
              <a:latin typeface="Calibri"/>
              <a:ea typeface="Calibri"/>
              <a:cs typeface="Calibri"/>
              <a:sym typeface="Calibri"/>
            </a:endParaRPr>
          </a:p>
        </p:txBody>
      </p:sp>
      <p:sp>
        <p:nvSpPr>
          <p:cNvPr id="760" name="Google Shape;760;p40"/>
          <p:cNvSpPr/>
          <p:nvPr/>
        </p:nvSpPr>
        <p:spPr>
          <a:xfrm>
            <a:off x="8663711" y="4855464"/>
            <a:ext cx="342900"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9AB9D4"/>
              </a:buClr>
              <a:buSzPts val="900"/>
              <a:buFont typeface="Calibri"/>
              <a:buNone/>
            </a:pPr>
            <a:r>
              <a:rPr b="0" i="0" lang="en-GB" sz="1100" u="none" cap="none" strike="noStrike">
                <a:solidFill>
                  <a:srgbClr val="9AB9D4"/>
                </a:solidFill>
                <a:latin typeface="Calibri"/>
                <a:ea typeface="Calibri"/>
                <a:cs typeface="Calibri"/>
                <a:sym typeface="Calibri"/>
              </a:rPr>
              <a:t>25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5" name="Shape 765"/>
        <p:cNvGrpSpPr/>
        <p:nvPr/>
      </p:nvGrpSpPr>
      <p:grpSpPr>
        <a:xfrm>
          <a:off x="0" y="0"/>
          <a:ext cx="0" cy="0"/>
          <a:chOff x="0" y="0"/>
          <a:chExt cx="0" cy="0"/>
        </a:xfrm>
      </p:grpSpPr>
      <p:pic>
        <p:nvPicPr>
          <p:cNvPr descr="/home/claude/assets/newton_logo.png" id="766" name="Google Shape;766;p41"/>
          <p:cNvPicPr preferRelativeResize="0"/>
          <p:nvPr/>
        </p:nvPicPr>
        <p:blipFill rotWithShape="1">
          <a:blip r:embed="rId3">
            <a:alphaModFix/>
          </a:blip>
          <a:srcRect b="0" l="0" r="0" t="0"/>
          <a:stretch/>
        </p:blipFill>
        <p:spPr>
          <a:xfrm>
            <a:off x="8080781" y="164592"/>
            <a:ext cx="788671" cy="233203"/>
          </a:xfrm>
          <a:prstGeom prst="rect">
            <a:avLst/>
          </a:prstGeom>
          <a:noFill/>
          <a:ln>
            <a:noFill/>
          </a:ln>
        </p:spPr>
      </p:pic>
      <p:sp>
        <p:nvSpPr>
          <p:cNvPr id="767" name="Google Shape;767;p41"/>
          <p:cNvSpPr/>
          <p:nvPr/>
        </p:nvSpPr>
        <p:spPr>
          <a:xfrm>
            <a:off x="411480" y="192024"/>
            <a:ext cx="61722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894D7"/>
              </a:buClr>
              <a:buSzPts val="1500"/>
              <a:buFont typeface="Calibri"/>
              <a:buNone/>
            </a:pPr>
            <a:r>
              <a:rPr b="1" i="0" lang="en-GB" sz="1900" u="none" cap="none" strike="noStrike">
                <a:solidFill>
                  <a:srgbClr val="4894D7"/>
                </a:solidFill>
                <a:latin typeface="Calibri"/>
                <a:ea typeface="Calibri"/>
                <a:cs typeface="Calibri"/>
                <a:sym typeface="Calibri"/>
              </a:rPr>
              <a:t>TCL COMMAND 2</a:t>
            </a:r>
            <a:endParaRPr b="0" i="0" sz="1900" u="none" cap="none" strike="noStrike">
              <a:solidFill>
                <a:schemeClr val="dk1"/>
              </a:solidFill>
              <a:latin typeface="Calibri"/>
              <a:ea typeface="Calibri"/>
              <a:cs typeface="Calibri"/>
              <a:sym typeface="Calibri"/>
            </a:endParaRPr>
          </a:p>
        </p:txBody>
      </p:sp>
      <p:sp>
        <p:nvSpPr>
          <p:cNvPr id="768" name="Google Shape;768;p41"/>
          <p:cNvSpPr/>
          <p:nvPr/>
        </p:nvSpPr>
        <p:spPr>
          <a:xfrm>
            <a:off x="411480" y="438912"/>
            <a:ext cx="8160975" cy="466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B4163"/>
              </a:buClr>
              <a:buSzPts val="2900"/>
              <a:buFont typeface="Cambria"/>
              <a:buNone/>
            </a:pPr>
            <a:r>
              <a:rPr b="1" i="0" lang="en-GB" sz="2000" u="none" cap="none" strike="noStrike">
                <a:solidFill>
                  <a:srgbClr val="1B4163"/>
                </a:solidFill>
                <a:latin typeface="Cambria"/>
                <a:ea typeface="Cambria"/>
                <a:cs typeface="Cambria"/>
                <a:sym typeface="Cambria"/>
              </a:rPr>
              <a:t>ROLLBACK — undoing a mistake</a:t>
            </a:r>
            <a:endParaRPr b="0" i="0" sz="2000" u="none" cap="none" strike="noStrike">
              <a:solidFill>
                <a:schemeClr val="dk1"/>
              </a:solidFill>
              <a:latin typeface="Calibri"/>
              <a:ea typeface="Calibri"/>
              <a:cs typeface="Calibri"/>
              <a:sym typeface="Calibri"/>
            </a:endParaRPr>
          </a:p>
        </p:txBody>
      </p:sp>
      <p:sp>
        <p:nvSpPr>
          <p:cNvPr id="769" name="Google Shape;769;p41"/>
          <p:cNvSpPr/>
          <p:nvPr/>
        </p:nvSpPr>
        <p:spPr>
          <a:xfrm>
            <a:off x="411480" y="973836"/>
            <a:ext cx="8298225" cy="720000"/>
          </a:xfrm>
          <a:prstGeom prst="roundRect">
            <a:avLst>
              <a:gd fmla="val 11429" name="adj"/>
            </a:avLst>
          </a:prstGeom>
          <a:solidFill>
            <a:srgbClr val="E5EBF1"/>
          </a:solidFill>
          <a:ln cap="flat" cmpd="sng" w="12700">
            <a:solidFill>
              <a:srgbClr val="A8CEF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41"/>
          <p:cNvSpPr/>
          <p:nvPr/>
        </p:nvSpPr>
        <p:spPr>
          <a:xfrm>
            <a:off x="521900" y="1072350"/>
            <a:ext cx="7826400" cy="550500"/>
          </a:xfrm>
          <a:prstGeom prst="rect">
            <a:avLst/>
          </a:prstGeom>
          <a:noFill/>
          <a:ln>
            <a:noFill/>
          </a:ln>
        </p:spPr>
        <p:txBody>
          <a:bodyPr anchorCtr="0" anchor="ctr" bIns="34275" lIns="68575" spcFirstLastPara="1" rIns="68575" wrap="square" tIns="34275">
            <a:noAutofit/>
          </a:bodyPr>
          <a:lstStyle/>
          <a:p>
            <a:pPr indent="0" lvl="0" marL="0" marR="0" rtl="0" algn="l">
              <a:lnSpc>
                <a:spcPct val="108000"/>
              </a:lnSpc>
              <a:spcBef>
                <a:spcPts val="0"/>
              </a:spcBef>
              <a:spcAft>
                <a:spcPts val="0"/>
              </a:spcAft>
              <a:buClr>
                <a:srgbClr val="499AE1"/>
              </a:buClr>
              <a:buSzPts val="1000"/>
              <a:buFont typeface="Calibri"/>
              <a:buNone/>
            </a:pPr>
            <a:r>
              <a:rPr b="1" i="0" lang="en-GB" sz="1200" u="none" cap="none" strike="noStrike">
                <a:solidFill>
                  <a:srgbClr val="499AE1"/>
                </a:solidFill>
                <a:latin typeface="Calibri"/>
                <a:ea typeface="Calibri"/>
                <a:cs typeface="Calibri"/>
                <a:sym typeface="Calibri"/>
              </a:rPr>
              <a:t>THE PRINCIPAL WALKS IN</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172531"/>
              </a:buClr>
              <a:buSzPts val="1400"/>
              <a:buFont typeface="Calibri"/>
              <a:buNone/>
            </a:pPr>
            <a:r>
              <a:rPr b="0" i="1" lang="en-GB" sz="1500" u="none" cap="none" strike="noStrike">
                <a:solidFill>
                  <a:srgbClr val="172531"/>
                </a:solidFill>
                <a:latin typeface="Calibri"/>
                <a:ea typeface="Calibri"/>
                <a:cs typeface="Calibri"/>
                <a:sym typeface="Calibri"/>
              </a:rPr>
              <a:t>“Wait — Account A has insufficient balance! Undo everything since the transaction started.”</a:t>
            </a:r>
            <a:endParaRPr b="0" i="0" sz="1200" u="none" cap="none" strike="noStrike">
              <a:solidFill>
                <a:schemeClr val="dk1"/>
              </a:solidFill>
              <a:latin typeface="Calibri"/>
              <a:ea typeface="Calibri"/>
              <a:cs typeface="Calibri"/>
              <a:sym typeface="Calibri"/>
            </a:endParaRPr>
          </a:p>
        </p:txBody>
      </p:sp>
      <p:sp>
        <p:nvSpPr>
          <p:cNvPr id="771" name="Google Shape;771;p41"/>
          <p:cNvSpPr/>
          <p:nvPr/>
        </p:nvSpPr>
        <p:spPr>
          <a:xfrm>
            <a:off x="411487" y="1789894"/>
            <a:ext cx="4615425" cy="2571750"/>
          </a:xfrm>
          <a:prstGeom prst="roundRect">
            <a:avLst>
              <a:gd fmla="val 2667" name="adj"/>
            </a:avLst>
          </a:prstGeom>
          <a:solidFill>
            <a:srgbClr val="142E45"/>
          </a:solidFill>
          <a:ln>
            <a:noFill/>
          </a:ln>
          <a:effectLst>
            <a:outerShdw blurRad="76200" rotWithShape="0" algn="bl" dir="5400000" dist="25400">
              <a:srgbClr val="000000">
                <a:alpha val="200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2" name="Google Shape;772;p41"/>
          <p:cNvSpPr/>
          <p:nvPr/>
        </p:nvSpPr>
        <p:spPr>
          <a:xfrm>
            <a:off x="521888" y="1903106"/>
            <a:ext cx="4667625" cy="24819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4C1DB"/>
              </a:buClr>
              <a:buSzPts val="1200"/>
              <a:buFont typeface="Consolas"/>
              <a:buNone/>
            </a:pPr>
            <a:r>
              <a:rPr b="0" i="1" lang="en-GB" sz="1300" u="none" cap="none" strike="noStrike">
                <a:solidFill>
                  <a:srgbClr val="A4C1DB"/>
                </a:solidFill>
                <a:latin typeface="Consolas"/>
                <a:ea typeface="Consolas"/>
                <a:cs typeface="Consolas"/>
                <a:sym typeface="Consolas"/>
              </a:rPr>
              <a:t>-- Step 1: Deduct ₹2000 from Account A</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200"/>
              <a:buFont typeface="Consolas"/>
              <a:buNone/>
            </a:pPr>
            <a:r>
              <a:rPr b="0" i="0" lang="en-GB" sz="1300" u="none" cap="none" strike="noStrike">
                <a:solidFill>
                  <a:srgbClr val="ECF0F3"/>
                </a:solidFill>
                <a:latin typeface="Consolas"/>
                <a:ea typeface="Consolas"/>
                <a:cs typeface="Consolas"/>
                <a:sym typeface="Consolas"/>
              </a:rPr>
              <a:t>UPDATE accounts</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200"/>
              <a:buFont typeface="Consolas"/>
              <a:buNone/>
            </a:pPr>
            <a:r>
              <a:rPr b="0" i="0" lang="en-GB" sz="1300" u="none" cap="none" strike="noStrike">
                <a:solidFill>
                  <a:srgbClr val="ECF0F3"/>
                </a:solidFill>
                <a:latin typeface="Consolas"/>
                <a:ea typeface="Consolas"/>
                <a:cs typeface="Consolas"/>
                <a:sym typeface="Consolas"/>
              </a:rPr>
              <a:t>SET balance = balance - 2000</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200"/>
              <a:buFont typeface="Consolas"/>
              <a:buNone/>
            </a:pPr>
            <a:r>
              <a:rPr b="0" i="0" lang="en-GB" sz="1300" u="none" cap="none" strike="noStrike">
                <a:solidFill>
                  <a:srgbClr val="ECF0F3"/>
                </a:solidFill>
                <a:latin typeface="Consolas"/>
                <a:ea typeface="Consolas"/>
                <a:cs typeface="Consolas"/>
                <a:sym typeface="Consolas"/>
              </a:rPr>
              <a:t>WHERE id = 'A';</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4C1DB"/>
              </a:buClr>
              <a:buSzPts val="1200"/>
              <a:buFont typeface="Consolas"/>
              <a:buNone/>
            </a:pPr>
            <a:r>
              <a:rPr b="0" i="1" lang="en-GB" sz="1300" u="none" cap="none" strike="noStrike">
                <a:solidFill>
                  <a:srgbClr val="A4C1DB"/>
                </a:solidFill>
                <a:latin typeface="Consolas"/>
                <a:ea typeface="Consolas"/>
                <a:cs typeface="Consolas"/>
                <a:sym typeface="Consolas"/>
              </a:rPr>
              <a:t>-- Step 2: Check the balance</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200"/>
              <a:buFont typeface="Consolas"/>
              <a:buNone/>
            </a:pPr>
            <a:r>
              <a:rPr b="0" i="0" lang="en-GB" sz="1300" u="none" cap="none" strike="noStrike">
                <a:solidFill>
                  <a:srgbClr val="ECF0F3"/>
                </a:solidFill>
                <a:latin typeface="Consolas"/>
                <a:ea typeface="Consolas"/>
                <a:cs typeface="Consolas"/>
                <a:sym typeface="Consolas"/>
              </a:rPr>
              <a:t>SELECT balance FROM accounts</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200"/>
              <a:buFont typeface="Consolas"/>
              <a:buNone/>
            </a:pPr>
            <a:r>
              <a:rPr b="0" i="0" lang="en-GB" sz="1300" u="none" cap="none" strike="noStrike">
                <a:solidFill>
                  <a:srgbClr val="ECF0F3"/>
                </a:solidFill>
                <a:latin typeface="Consolas"/>
                <a:ea typeface="Consolas"/>
                <a:cs typeface="Consolas"/>
                <a:sym typeface="Consolas"/>
              </a:rPr>
              <a:t>WHERE id = 'A';</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4C1DB"/>
              </a:buClr>
              <a:buSzPts val="1200"/>
              <a:buFont typeface="Consolas"/>
              <a:buNone/>
            </a:pPr>
            <a:r>
              <a:rPr b="0" i="1" lang="en-GB" sz="1300" u="none" cap="none" strike="noStrike">
                <a:solidFill>
                  <a:srgbClr val="A4C1DB"/>
                </a:solidFill>
                <a:latin typeface="Consolas"/>
                <a:ea typeface="Consolas"/>
                <a:cs typeface="Consolas"/>
                <a:sym typeface="Consolas"/>
              </a:rPr>
              <a:t>-- Suppose the query returns: -1000</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4C1DB"/>
              </a:buClr>
              <a:buSzPts val="1200"/>
              <a:buFont typeface="Consolas"/>
              <a:buNone/>
            </a:pPr>
            <a:r>
              <a:rPr b="0" i="1" lang="en-GB" sz="1300" u="none" cap="none" strike="noStrike">
                <a:solidFill>
                  <a:srgbClr val="A4C1DB"/>
                </a:solidFill>
                <a:latin typeface="Consolas"/>
                <a:ea typeface="Consolas"/>
                <a:cs typeface="Consolas"/>
                <a:sym typeface="Consolas"/>
              </a:rPr>
              <a:t>-- This means Account A has insufficient balance.</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BECEDC"/>
              </a:buClr>
              <a:buSzPts val="1200"/>
              <a:buFont typeface="Consolas"/>
              <a:buNone/>
            </a:pPr>
            <a:r>
              <a:rPr b="1" i="0" lang="en-GB" sz="1300" u="none" cap="none" strike="noStrike">
                <a:solidFill>
                  <a:srgbClr val="BECEDC"/>
                </a:solidFill>
                <a:latin typeface="Consolas"/>
                <a:ea typeface="Consolas"/>
                <a:cs typeface="Consolas"/>
                <a:sym typeface="Consolas"/>
              </a:rPr>
              <a:t>ROLLBACK;</a:t>
            </a:r>
            <a:endParaRPr b="0" i="0" sz="1400" u="none" cap="none" strike="noStrike">
              <a:solidFill>
                <a:srgbClr val="BFCFDD"/>
              </a:solidFill>
              <a:latin typeface="Consolas"/>
              <a:ea typeface="Consolas"/>
              <a:cs typeface="Consolas"/>
              <a:sym typeface="Consolas"/>
            </a:endParaRPr>
          </a:p>
        </p:txBody>
      </p:sp>
      <p:sp>
        <p:nvSpPr>
          <p:cNvPr id="773" name="Google Shape;773;p41"/>
          <p:cNvSpPr/>
          <p:nvPr/>
        </p:nvSpPr>
        <p:spPr>
          <a:xfrm>
            <a:off x="5189418" y="1789894"/>
            <a:ext cx="3520350" cy="2571750"/>
          </a:xfrm>
          <a:prstGeom prst="roundRect">
            <a:avLst>
              <a:gd fmla="val 2667" name="adj"/>
            </a:avLst>
          </a:prstGeom>
          <a:solidFill>
            <a:srgbClr val="F8FAFB"/>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4" name="Google Shape;774;p41"/>
          <p:cNvSpPr/>
          <p:nvPr/>
        </p:nvSpPr>
        <p:spPr>
          <a:xfrm>
            <a:off x="5395073" y="1940814"/>
            <a:ext cx="27090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163"/>
              </a:buClr>
              <a:buSzPts val="1700"/>
              <a:buFont typeface="Cambria"/>
              <a:buNone/>
            </a:pPr>
            <a:r>
              <a:rPr b="1" i="0" lang="en-GB" sz="1700" u="none" cap="none" strike="noStrike">
                <a:solidFill>
                  <a:srgbClr val="1B4163"/>
                </a:solidFill>
                <a:latin typeface="Cambria"/>
                <a:ea typeface="Cambria"/>
                <a:cs typeface="Cambria"/>
                <a:sym typeface="Cambria"/>
              </a:rPr>
              <a:t>What ROLLBACK does</a:t>
            </a:r>
            <a:endParaRPr b="0" i="0" sz="1700" u="none" cap="none" strike="noStrike">
              <a:solidFill>
                <a:schemeClr val="dk1"/>
              </a:solidFill>
              <a:latin typeface="Calibri"/>
              <a:ea typeface="Calibri"/>
              <a:cs typeface="Calibri"/>
              <a:sym typeface="Calibri"/>
            </a:endParaRPr>
          </a:p>
        </p:txBody>
      </p:sp>
      <p:sp>
        <p:nvSpPr>
          <p:cNvPr id="775" name="Google Shape;775;p41"/>
          <p:cNvSpPr/>
          <p:nvPr/>
        </p:nvSpPr>
        <p:spPr>
          <a:xfrm>
            <a:off x="5430618" y="2530688"/>
            <a:ext cx="3037950" cy="1851750"/>
          </a:xfrm>
          <a:prstGeom prst="rect">
            <a:avLst/>
          </a:prstGeom>
          <a:noFill/>
          <a:ln>
            <a:noFill/>
          </a:ln>
        </p:spPr>
        <p:txBody>
          <a:bodyPr anchorCtr="0" anchor="t" bIns="34275" lIns="68575" spcFirstLastPara="1" rIns="68575" wrap="square" tIns="34275">
            <a:noAutofit/>
          </a:bodyPr>
          <a:lstStyle/>
          <a:p>
            <a:pPr indent="0" lvl="0" marL="0" marR="0" rtl="0" algn="l">
              <a:lnSpc>
                <a:spcPct val="118000"/>
              </a:lnSpc>
              <a:spcBef>
                <a:spcPts val="0"/>
              </a:spcBef>
              <a:spcAft>
                <a:spcPts val="0"/>
              </a:spcAft>
              <a:buClr>
                <a:srgbClr val="172531"/>
              </a:buClr>
              <a:buSzPts val="1400"/>
              <a:buFont typeface="Calibri"/>
              <a:buNone/>
            </a:pPr>
            <a:r>
              <a:rPr b="0" i="0" lang="en-GB" sz="1400" u="none" cap="none" strike="noStrike">
                <a:solidFill>
                  <a:srgbClr val="172531"/>
                </a:solidFill>
                <a:latin typeface="Calibri"/>
                <a:ea typeface="Calibri"/>
                <a:cs typeface="Calibri"/>
                <a:sym typeface="Calibri"/>
              </a:rPr>
              <a:t>•  Reverses changes since BEGIN / last COMMIT</a:t>
            </a:r>
            <a:endParaRPr b="0" i="0" sz="14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400" u="none" cap="none" strike="noStrike">
                <a:solidFill>
                  <a:srgbClr val="172531"/>
                </a:solidFill>
                <a:latin typeface="Calibri"/>
                <a:ea typeface="Calibri"/>
                <a:cs typeface="Calibri"/>
                <a:sym typeface="Calibri"/>
              </a:rPr>
              <a:t>•  Only works before COMMIT runs</a:t>
            </a:r>
            <a:endParaRPr b="0" i="0" sz="14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400" u="none" cap="none" strike="noStrike">
                <a:solidFill>
                  <a:srgbClr val="172531"/>
                </a:solidFill>
                <a:latin typeface="Calibri"/>
                <a:ea typeface="Calibri"/>
                <a:cs typeface="Calibri"/>
                <a:sym typeface="Calibri"/>
              </a:rPr>
              <a:t>•  Safety net for mid-transaction mistakes</a:t>
            </a:r>
            <a:endParaRPr b="0" i="0" sz="14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400" u="none" cap="none" strike="noStrike">
                <a:solidFill>
                  <a:srgbClr val="172531"/>
                </a:solidFill>
                <a:latin typeface="Calibri"/>
                <a:ea typeface="Calibri"/>
                <a:cs typeface="Calibri"/>
                <a:sym typeface="Calibri"/>
              </a:rPr>
              <a:t>•  After it runs, nothing happened at all</a:t>
            </a:r>
            <a:endParaRPr b="0" i="0" sz="1400" u="none" cap="none" strike="noStrike">
              <a:solidFill>
                <a:schemeClr val="dk1"/>
              </a:solidFill>
              <a:latin typeface="Calibri"/>
              <a:ea typeface="Calibri"/>
              <a:cs typeface="Calibri"/>
              <a:sym typeface="Calibri"/>
            </a:endParaRPr>
          </a:p>
        </p:txBody>
      </p:sp>
      <p:sp>
        <p:nvSpPr>
          <p:cNvPr id="776" name="Google Shape;776;p41"/>
          <p:cNvSpPr/>
          <p:nvPr/>
        </p:nvSpPr>
        <p:spPr>
          <a:xfrm>
            <a:off x="411480" y="4457700"/>
            <a:ext cx="8298225" cy="480150"/>
          </a:xfrm>
          <a:prstGeom prst="roundRect">
            <a:avLst>
              <a:gd fmla="val 14286" name="adj"/>
            </a:avLst>
          </a:prstGeom>
          <a:solidFill>
            <a:srgbClr val="142E4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icons/arrow_white.png" id="777" name="Google Shape;777;p41"/>
          <p:cNvPicPr preferRelativeResize="0"/>
          <p:nvPr/>
        </p:nvPicPr>
        <p:blipFill rotWithShape="1">
          <a:blip r:embed="rId4">
            <a:alphaModFix/>
          </a:blip>
          <a:srcRect b="0" l="0" r="0" t="0"/>
          <a:stretch/>
        </p:blipFill>
        <p:spPr>
          <a:xfrm>
            <a:off x="582930" y="4581144"/>
            <a:ext cx="233172" cy="233172"/>
          </a:xfrm>
          <a:prstGeom prst="rect">
            <a:avLst/>
          </a:prstGeom>
          <a:noFill/>
          <a:ln>
            <a:noFill/>
          </a:ln>
        </p:spPr>
      </p:pic>
      <p:sp>
        <p:nvSpPr>
          <p:cNvPr id="778" name="Google Shape;778;p41"/>
          <p:cNvSpPr/>
          <p:nvPr/>
        </p:nvSpPr>
        <p:spPr>
          <a:xfrm>
            <a:off x="925830" y="4457700"/>
            <a:ext cx="7612425"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4E9"/>
              </a:buClr>
              <a:buSzPts val="1400"/>
              <a:buFont typeface="Calibri"/>
              <a:buNone/>
            </a:pPr>
            <a:r>
              <a:rPr b="0" i="1" lang="en-GB" sz="1400" u="none" cap="none" strike="noStrike">
                <a:solidFill>
                  <a:srgbClr val="DEE4E9"/>
                </a:solidFill>
                <a:latin typeface="Calibri"/>
                <a:ea typeface="Calibri"/>
                <a:cs typeface="Calibri"/>
                <a:sym typeface="Calibri"/>
              </a:rPr>
              <a:t>See Account A's balance snap back to its original on the next slide →</a:t>
            </a:r>
            <a:endParaRPr b="0" i="0" sz="1400" u="none" cap="none" strike="noStrike">
              <a:solidFill>
                <a:schemeClr val="dk1"/>
              </a:solidFill>
              <a:latin typeface="Calibri"/>
              <a:ea typeface="Calibri"/>
              <a:cs typeface="Calibri"/>
              <a:sym typeface="Calibri"/>
            </a:endParaRPr>
          </a:p>
        </p:txBody>
      </p:sp>
      <p:sp>
        <p:nvSpPr>
          <p:cNvPr id="779" name="Google Shape;779;p41"/>
          <p:cNvSpPr/>
          <p:nvPr/>
        </p:nvSpPr>
        <p:spPr>
          <a:xfrm>
            <a:off x="8663711" y="4855464"/>
            <a:ext cx="342900"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9AB9D4"/>
              </a:buClr>
              <a:buSzPts val="900"/>
              <a:buFont typeface="Calibri"/>
              <a:buNone/>
            </a:pPr>
            <a:r>
              <a:rPr b="0" i="0" lang="en-GB" sz="1100" u="none" cap="none" strike="noStrike">
                <a:solidFill>
                  <a:srgbClr val="9AB9D4"/>
                </a:solidFill>
                <a:latin typeface="Calibri"/>
                <a:ea typeface="Calibri"/>
                <a:cs typeface="Calibri"/>
                <a:sym typeface="Calibri"/>
              </a:rPr>
              <a:t>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4" name="Shape 784"/>
        <p:cNvGrpSpPr/>
        <p:nvPr/>
      </p:nvGrpSpPr>
      <p:grpSpPr>
        <a:xfrm>
          <a:off x="0" y="0"/>
          <a:ext cx="0" cy="0"/>
          <a:chOff x="0" y="0"/>
          <a:chExt cx="0" cy="0"/>
        </a:xfrm>
      </p:grpSpPr>
      <p:pic>
        <p:nvPicPr>
          <p:cNvPr descr="/home/claude/assets/newton_logo.png" id="785" name="Google Shape;785;p42"/>
          <p:cNvPicPr preferRelativeResize="0"/>
          <p:nvPr/>
        </p:nvPicPr>
        <p:blipFill rotWithShape="1">
          <a:blip r:embed="rId3">
            <a:alphaModFix/>
          </a:blip>
          <a:srcRect b="0" l="0" r="0" t="0"/>
          <a:stretch/>
        </p:blipFill>
        <p:spPr>
          <a:xfrm>
            <a:off x="8080781" y="164592"/>
            <a:ext cx="788671" cy="233203"/>
          </a:xfrm>
          <a:prstGeom prst="rect">
            <a:avLst/>
          </a:prstGeom>
          <a:noFill/>
          <a:ln>
            <a:noFill/>
          </a:ln>
        </p:spPr>
      </p:pic>
      <p:sp>
        <p:nvSpPr>
          <p:cNvPr id="786" name="Google Shape;786;p42"/>
          <p:cNvSpPr/>
          <p:nvPr/>
        </p:nvSpPr>
        <p:spPr>
          <a:xfrm>
            <a:off x="411480" y="192024"/>
            <a:ext cx="61722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894D7"/>
              </a:buClr>
              <a:buSzPts val="1500"/>
              <a:buFont typeface="Calibri"/>
              <a:buNone/>
            </a:pPr>
            <a:r>
              <a:rPr b="1" i="0" lang="en-GB" sz="1900" u="none" cap="none" strike="noStrike">
                <a:solidFill>
                  <a:srgbClr val="4894D7"/>
                </a:solidFill>
                <a:latin typeface="Calibri"/>
                <a:ea typeface="Calibri"/>
                <a:cs typeface="Calibri"/>
                <a:sym typeface="Calibri"/>
              </a:rPr>
              <a:t>TCL COMMAND 2 · RESULT</a:t>
            </a:r>
            <a:endParaRPr b="0" i="0" sz="1900" u="none" cap="none" strike="noStrike">
              <a:solidFill>
                <a:schemeClr val="dk1"/>
              </a:solidFill>
              <a:latin typeface="Calibri"/>
              <a:ea typeface="Calibri"/>
              <a:cs typeface="Calibri"/>
              <a:sym typeface="Calibri"/>
            </a:endParaRPr>
          </a:p>
        </p:txBody>
      </p:sp>
      <p:sp>
        <p:nvSpPr>
          <p:cNvPr id="787" name="Google Shape;787;p42"/>
          <p:cNvSpPr/>
          <p:nvPr/>
        </p:nvSpPr>
        <p:spPr>
          <a:xfrm>
            <a:off x="411480" y="438912"/>
            <a:ext cx="8160975" cy="466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B4163"/>
              </a:buClr>
              <a:buSzPts val="2900"/>
              <a:buFont typeface="Cambria"/>
              <a:buNone/>
            </a:pPr>
            <a:r>
              <a:rPr b="1" i="0" lang="en-GB" sz="2000" u="none" cap="none" strike="noStrike">
                <a:solidFill>
                  <a:srgbClr val="1B4163"/>
                </a:solidFill>
                <a:latin typeface="Cambria"/>
                <a:ea typeface="Cambria"/>
                <a:cs typeface="Cambria"/>
                <a:sym typeface="Cambria"/>
              </a:rPr>
              <a:t>ROLLBACK: tracing Account A's balance</a:t>
            </a:r>
            <a:endParaRPr b="0" i="0" sz="2000" u="none" cap="none" strike="noStrike">
              <a:solidFill>
                <a:schemeClr val="dk1"/>
              </a:solidFill>
              <a:latin typeface="Calibri"/>
              <a:ea typeface="Calibri"/>
              <a:cs typeface="Calibri"/>
              <a:sym typeface="Calibri"/>
            </a:endParaRPr>
          </a:p>
        </p:txBody>
      </p:sp>
      <p:sp>
        <p:nvSpPr>
          <p:cNvPr id="788" name="Google Shape;788;p42"/>
          <p:cNvSpPr/>
          <p:nvPr/>
        </p:nvSpPr>
        <p:spPr>
          <a:xfrm>
            <a:off x="274275" y="1035528"/>
            <a:ext cx="2469000" cy="2709000"/>
          </a:xfrm>
          <a:prstGeom prst="roundRect">
            <a:avLst>
              <a:gd fmla="val 2778" name="adj"/>
            </a:avLst>
          </a:prstGeom>
          <a:solidFill>
            <a:srgbClr val="F8FAFB"/>
          </a:solidFill>
          <a:ln cap="flat" cmpd="sng" w="15875">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2300" u="none" cap="none" strike="noStrike">
              <a:solidFill>
                <a:srgbClr val="000000"/>
              </a:solidFill>
              <a:latin typeface="Arial"/>
              <a:ea typeface="Arial"/>
              <a:cs typeface="Arial"/>
              <a:sym typeface="Arial"/>
            </a:endParaRPr>
          </a:p>
        </p:txBody>
      </p:sp>
      <p:sp>
        <p:nvSpPr>
          <p:cNvPr id="789" name="Google Shape;789;p42"/>
          <p:cNvSpPr/>
          <p:nvPr/>
        </p:nvSpPr>
        <p:spPr>
          <a:xfrm>
            <a:off x="342855" y="1186404"/>
            <a:ext cx="2331600" cy="288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6E9CC5"/>
              </a:buClr>
              <a:buSzPts val="1200"/>
              <a:buFont typeface="Calibri"/>
              <a:buNone/>
            </a:pPr>
            <a:r>
              <a:rPr b="1" i="0" lang="en-GB" sz="1500" u="none" cap="none" strike="noStrike">
                <a:solidFill>
                  <a:srgbClr val="6E9CC5"/>
                </a:solidFill>
                <a:latin typeface="Calibri"/>
                <a:ea typeface="Calibri"/>
                <a:cs typeface="Calibri"/>
                <a:sym typeface="Calibri"/>
              </a:rPr>
              <a:t>BEFORE TRANSACTION</a:t>
            </a:r>
            <a:endParaRPr b="0" i="0" sz="1500" u="none" cap="none" strike="noStrike">
              <a:solidFill>
                <a:schemeClr val="dk1"/>
              </a:solidFill>
              <a:latin typeface="Calibri"/>
              <a:ea typeface="Calibri"/>
              <a:cs typeface="Calibri"/>
              <a:sym typeface="Calibri"/>
            </a:endParaRPr>
          </a:p>
        </p:txBody>
      </p:sp>
      <p:sp>
        <p:nvSpPr>
          <p:cNvPr id="790" name="Google Shape;790;p42"/>
          <p:cNvSpPr/>
          <p:nvPr/>
        </p:nvSpPr>
        <p:spPr>
          <a:xfrm>
            <a:off x="342855" y="1529304"/>
            <a:ext cx="2331600" cy="240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6E9CC5"/>
              </a:buClr>
              <a:buSzPts val="1000"/>
              <a:buFont typeface="Calibri"/>
              <a:buNone/>
            </a:pPr>
            <a:r>
              <a:rPr b="0" i="0" lang="en-GB" sz="1400" u="none" cap="none" strike="noStrike">
                <a:solidFill>
                  <a:srgbClr val="6E9CC5"/>
                </a:solidFill>
                <a:latin typeface="Calibri"/>
                <a:ea typeface="Calibri"/>
                <a:cs typeface="Calibri"/>
                <a:sym typeface="Calibri"/>
              </a:rPr>
              <a:t>Account A</a:t>
            </a:r>
            <a:endParaRPr b="0" i="0" sz="1400" u="none" cap="none" strike="noStrike">
              <a:solidFill>
                <a:schemeClr val="dk1"/>
              </a:solidFill>
              <a:latin typeface="Calibri"/>
              <a:ea typeface="Calibri"/>
              <a:cs typeface="Calibri"/>
              <a:sym typeface="Calibri"/>
            </a:endParaRPr>
          </a:p>
        </p:txBody>
      </p:sp>
      <p:sp>
        <p:nvSpPr>
          <p:cNvPr id="791" name="Google Shape;791;p42"/>
          <p:cNvSpPr/>
          <p:nvPr/>
        </p:nvSpPr>
        <p:spPr>
          <a:xfrm>
            <a:off x="514305" y="1803624"/>
            <a:ext cx="1988700" cy="925800"/>
          </a:xfrm>
          <a:prstGeom prst="roundRect">
            <a:avLst>
              <a:gd fmla="val 5926" name="adj"/>
            </a:avLst>
          </a:prstGeom>
          <a:solidFill>
            <a:srgbClr val="FFFFFF"/>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rgbClr val="000000"/>
              </a:solidFill>
              <a:latin typeface="Arial"/>
              <a:ea typeface="Arial"/>
              <a:cs typeface="Arial"/>
              <a:sym typeface="Arial"/>
            </a:endParaRPr>
          </a:p>
        </p:txBody>
      </p:sp>
      <p:sp>
        <p:nvSpPr>
          <p:cNvPr id="792" name="Google Shape;792;p42"/>
          <p:cNvSpPr/>
          <p:nvPr/>
        </p:nvSpPr>
        <p:spPr>
          <a:xfrm>
            <a:off x="514305" y="1803624"/>
            <a:ext cx="1988700" cy="925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6E9CC5"/>
              </a:buClr>
              <a:buSzPts val="2000"/>
              <a:buFont typeface="Consolas"/>
              <a:buNone/>
            </a:pPr>
            <a:r>
              <a:rPr b="1" i="0" lang="en-GB" sz="2100" u="none" cap="none" strike="noStrike">
                <a:solidFill>
                  <a:srgbClr val="6E9CC5"/>
                </a:solidFill>
                <a:latin typeface="Consolas"/>
                <a:ea typeface="Consolas"/>
                <a:cs typeface="Consolas"/>
                <a:sym typeface="Consolas"/>
              </a:rPr>
              <a:t>₹ 1,000</a:t>
            </a:r>
            <a:endParaRPr b="0" i="0" sz="2100" u="none" cap="none" strike="noStrike">
              <a:solidFill>
                <a:schemeClr val="dk1"/>
              </a:solidFill>
              <a:latin typeface="Calibri"/>
              <a:ea typeface="Calibri"/>
              <a:cs typeface="Calibri"/>
              <a:sym typeface="Calibri"/>
            </a:endParaRPr>
          </a:p>
        </p:txBody>
      </p:sp>
      <p:sp>
        <p:nvSpPr>
          <p:cNvPr id="793" name="Google Shape;793;p42"/>
          <p:cNvSpPr/>
          <p:nvPr/>
        </p:nvSpPr>
        <p:spPr>
          <a:xfrm>
            <a:off x="377145" y="3209513"/>
            <a:ext cx="2263200" cy="4665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6E9CC5"/>
              </a:buClr>
              <a:buSzPts val="1100"/>
              <a:buFont typeface="Calibri"/>
              <a:buNone/>
            </a:pPr>
            <a:r>
              <a:rPr b="0" i="1" lang="en-GB" sz="1500" u="none" cap="none" strike="noStrike">
                <a:solidFill>
                  <a:srgbClr val="6E9CC5"/>
                </a:solidFill>
                <a:latin typeface="Calibri"/>
                <a:ea typeface="Calibri"/>
                <a:cs typeface="Calibri"/>
                <a:sym typeface="Calibri"/>
              </a:rPr>
              <a:t>a healthy starting balance</a:t>
            </a:r>
            <a:endParaRPr b="0" i="0" sz="1500" u="none" cap="none" strike="noStrike">
              <a:solidFill>
                <a:schemeClr val="dk1"/>
              </a:solidFill>
              <a:latin typeface="Calibri"/>
              <a:ea typeface="Calibri"/>
              <a:cs typeface="Calibri"/>
              <a:sym typeface="Calibri"/>
            </a:endParaRPr>
          </a:p>
        </p:txBody>
      </p:sp>
      <p:sp>
        <p:nvSpPr>
          <p:cNvPr id="794" name="Google Shape;794;p42"/>
          <p:cNvSpPr/>
          <p:nvPr/>
        </p:nvSpPr>
        <p:spPr>
          <a:xfrm>
            <a:off x="2837920" y="2218583"/>
            <a:ext cx="342900" cy="342900"/>
          </a:xfrm>
          <a:prstGeom prst="ellipse">
            <a:avLst/>
          </a:prstGeom>
          <a:solidFill>
            <a:srgbClr val="4894D7"/>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rgbClr val="000000"/>
              </a:solidFill>
              <a:latin typeface="Arial"/>
              <a:ea typeface="Arial"/>
              <a:cs typeface="Arial"/>
              <a:sym typeface="Arial"/>
            </a:endParaRPr>
          </a:p>
        </p:txBody>
      </p:sp>
      <p:pic>
        <p:nvPicPr>
          <p:cNvPr descr="/home/claude/icons/arrow_white.png" id="795" name="Google Shape;795;p42"/>
          <p:cNvPicPr preferRelativeResize="0"/>
          <p:nvPr/>
        </p:nvPicPr>
        <p:blipFill rotWithShape="1">
          <a:blip r:embed="rId4">
            <a:alphaModFix/>
          </a:blip>
          <a:srcRect b="0" l="0" r="0" t="0"/>
          <a:stretch/>
        </p:blipFill>
        <p:spPr>
          <a:xfrm>
            <a:off x="2913358" y="2294021"/>
            <a:ext cx="192024" cy="192024"/>
          </a:xfrm>
          <a:prstGeom prst="rect">
            <a:avLst/>
          </a:prstGeom>
          <a:noFill/>
          <a:ln>
            <a:noFill/>
          </a:ln>
        </p:spPr>
      </p:pic>
      <p:sp>
        <p:nvSpPr>
          <p:cNvPr id="796" name="Google Shape;796;p42"/>
          <p:cNvSpPr/>
          <p:nvPr/>
        </p:nvSpPr>
        <p:spPr>
          <a:xfrm>
            <a:off x="2763050" y="2686675"/>
            <a:ext cx="631500" cy="425100"/>
          </a:xfrm>
          <a:prstGeom prst="rect">
            <a:avLst/>
          </a:prstGeom>
          <a:noFill/>
          <a:ln>
            <a:noFill/>
          </a:ln>
        </p:spPr>
        <p:txBody>
          <a:bodyPr anchorCtr="0" anchor="ctr" bIns="34275" lIns="68575" spcFirstLastPara="1" rIns="68575" wrap="square" tIns="34275">
            <a:noAutofit/>
          </a:bodyPr>
          <a:lstStyle/>
          <a:p>
            <a:pPr indent="0" lvl="0" marL="0" marR="0" rtl="0" algn="ctr">
              <a:lnSpc>
                <a:spcPct val="110000"/>
              </a:lnSpc>
              <a:spcBef>
                <a:spcPts val="0"/>
              </a:spcBef>
              <a:spcAft>
                <a:spcPts val="0"/>
              </a:spcAft>
              <a:buClr>
                <a:srgbClr val="6E9CC5"/>
              </a:buClr>
              <a:buSzPts val="1000"/>
              <a:buFont typeface="Consolas"/>
              <a:buNone/>
            </a:pPr>
            <a:r>
              <a:rPr b="1" i="0" lang="en-GB" sz="1100" u="none" cap="none" strike="noStrike">
                <a:solidFill>
                  <a:srgbClr val="6E9CC5"/>
                </a:solidFill>
                <a:latin typeface="Consolas"/>
                <a:ea typeface="Consolas"/>
                <a:cs typeface="Consolas"/>
                <a:sym typeface="Consolas"/>
              </a:rPr>
              <a:t>UPDATE</a:t>
            </a:r>
            <a:endParaRPr b="0" i="0" sz="11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6E9CC5"/>
              </a:buClr>
              <a:buSzPts val="1000"/>
              <a:buFont typeface="Consolas"/>
              <a:buNone/>
            </a:pPr>
            <a:r>
              <a:rPr b="1" i="0" lang="en-GB" sz="1100" u="none" cap="none" strike="noStrike">
                <a:solidFill>
                  <a:srgbClr val="6E9CC5"/>
                </a:solidFill>
                <a:latin typeface="Consolas"/>
                <a:ea typeface="Consolas"/>
                <a:cs typeface="Consolas"/>
                <a:sym typeface="Consolas"/>
              </a:rPr>
              <a:t>runs</a:t>
            </a:r>
            <a:endParaRPr b="0" i="0" sz="1100" u="none" cap="none" strike="noStrike">
              <a:solidFill>
                <a:schemeClr val="dk1"/>
              </a:solidFill>
              <a:latin typeface="Calibri"/>
              <a:ea typeface="Calibri"/>
              <a:cs typeface="Calibri"/>
              <a:sym typeface="Calibri"/>
            </a:endParaRPr>
          </a:p>
        </p:txBody>
      </p:sp>
      <p:sp>
        <p:nvSpPr>
          <p:cNvPr id="797" name="Google Shape;797;p42"/>
          <p:cNvSpPr/>
          <p:nvPr/>
        </p:nvSpPr>
        <p:spPr>
          <a:xfrm>
            <a:off x="3394700" y="1063000"/>
            <a:ext cx="2365800" cy="2709000"/>
          </a:xfrm>
          <a:prstGeom prst="roundRect">
            <a:avLst>
              <a:gd fmla="val 2778" name="adj"/>
            </a:avLst>
          </a:prstGeom>
          <a:solidFill>
            <a:srgbClr val="F8FAFB"/>
          </a:solidFill>
          <a:ln cap="flat" cmpd="sng" w="19050">
            <a:solidFill>
              <a:srgbClr val="9BC7E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2300" u="none" cap="none" strike="noStrike">
              <a:solidFill>
                <a:srgbClr val="000000"/>
              </a:solidFill>
              <a:latin typeface="Arial"/>
              <a:ea typeface="Arial"/>
              <a:cs typeface="Arial"/>
              <a:sym typeface="Arial"/>
            </a:endParaRPr>
          </a:p>
        </p:txBody>
      </p:sp>
      <p:sp>
        <p:nvSpPr>
          <p:cNvPr id="798" name="Google Shape;798;p42"/>
          <p:cNvSpPr/>
          <p:nvPr/>
        </p:nvSpPr>
        <p:spPr>
          <a:xfrm>
            <a:off x="3463290" y="1213866"/>
            <a:ext cx="2331675" cy="288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9BC7EF"/>
              </a:buClr>
              <a:buSzPts val="1200"/>
              <a:buFont typeface="Calibri"/>
              <a:buNone/>
            </a:pPr>
            <a:r>
              <a:rPr b="1" i="0" lang="en-GB" sz="1500" u="none" cap="none" strike="noStrike">
                <a:solidFill>
                  <a:srgbClr val="9BC7EF"/>
                </a:solidFill>
                <a:latin typeface="Calibri"/>
                <a:ea typeface="Calibri"/>
                <a:cs typeface="Calibri"/>
                <a:sym typeface="Calibri"/>
              </a:rPr>
              <a:t>PENDING (checked)</a:t>
            </a:r>
            <a:endParaRPr b="0" i="0" sz="1500" u="none" cap="none" strike="noStrike">
              <a:solidFill>
                <a:schemeClr val="dk1"/>
              </a:solidFill>
              <a:latin typeface="Calibri"/>
              <a:ea typeface="Calibri"/>
              <a:cs typeface="Calibri"/>
              <a:sym typeface="Calibri"/>
            </a:endParaRPr>
          </a:p>
        </p:txBody>
      </p:sp>
      <p:sp>
        <p:nvSpPr>
          <p:cNvPr id="799" name="Google Shape;799;p42"/>
          <p:cNvSpPr/>
          <p:nvPr/>
        </p:nvSpPr>
        <p:spPr>
          <a:xfrm>
            <a:off x="3463290" y="1556766"/>
            <a:ext cx="2331675" cy="2400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6E9CC5"/>
              </a:buClr>
              <a:buSzPts val="1000"/>
              <a:buFont typeface="Calibri"/>
              <a:buNone/>
            </a:pPr>
            <a:r>
              <a:rPr b="0" i="0" lang="en-GB" sz="1400" u="none" cap="none" strike="noStrike">
                <a:solidFill>
                  <a:srgbClr val="6E9CC5"/>
                </a:solidFill>
                <a:latin typeface="Calibri"/>
                <a:ea typeface="Calibri"/>
                <a:cs typeface="Calibri"/>
                <a:sym typeface="Calibri"/>
              </a:rPr>
              <a:t>Account A</a:t>
            </a:r>
            <a:endParaRPr b="0" i="0" sz="1400" u="none" cap="none" strike="noStrike">
              <a:solidFill>
                <a:schemeClr val="dk1"/>
              </a:solidFill>
              <a:latin typeface="Calibri"/>
              <a:ea typeface="Calibri"/>
              <a:cs typeface="Calibri"/>
              <a:sym typeface="Calibri"/>
            </a:endParaRPr>
          </a:p>
        </p:txBody>
      </p:sp>
      <p:sp>
        <p:nvSpPr>
          <p:cNvPr id="800" name="Google Shape;800;p42"/>
          <p:cNvSpPr/>
          <p:nvPr/>
        </p:nvSpPr>
        <p:spPr>
          <a:xfrm>
            <a:off x="3634740" y="1831086"/>
            <a:ext cx="1988775" cy="925875"/>
          </a:xfrm>
          <a:prstGeom prst="roundRect">
            <a:avLst>
              <a:gd fmla="val 5926" name="adj"/>
            </a:avLst>
          </a:prstGeom>
          <a:solidFill>
            <a:srgbClr val="FFFFFF"/>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rgbClr val="000000"/>
              </a:solidFill>
              <a:latin typeface="Arial"/>
              <a:ea typeface="Arial"/>
              <a:cs typeface="Arial"/>
              <a:sym typeface="Arial"/>
            </a:endParaRPr>
          </a:p>
        </p:txBody>
      </p:sp>
      <p:sp>
        <p:nvSpPr>
          <p:cNvPr id="801" name="Google Shape;801;p42"/>
          <p:cNvSpPr/>
          <p:nvPr/>
        </p:nvSpPr>
        <p:spPr>
          <a:xfrm>
            <a:off x="3634740" y="1831086"/>
            <a:ext cx="1988775" cy="9258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9BC7EF"/>
              </a:buClr>
              <a:buSzPts val="2000"/>
              <a:buFont typeface="Consolas"/>
              <a:buNone/>
            </a:pPr>
            <a:r>
              <a:rPr b="1" i="0" lang="en-GB" sz="2100" u="none" cap="none" strike="noStrike">
                <a:solidFill>
                  <a:srgbClr val="9BC7EF"/>
                </a:solidFill>
                <a:latin typeface="Consolas"/>
                <a:ea typeface="Consolas"/>
                <a:cs typeface="Consolas"/>
                <a:sym typeface="Consolas"/>
              </a:rPr>
              <a:t>₹ − 1,000</a:t>
            </a:r>
            <a:endParaRPr b="0" i="0" sz="2100" u="none" cap="none" strike="noStrike">
              <a:solidFill>
                <a:schemeClr val="dk1"/>
              </a:solidFill>
              <a:latin typeface="Calibri"/>
              <a:ea typeface="Calibri"/>
              <a:cs typeface="Calibri"/>
              <a:sym typeface="Calibri"/>
            </a:endParaRPr>
          </a:p>
        </p:txBody>
      </p:sp>
      <p:sp>
        <p:nvSpPr>
          <p:cNvPr id="802" name="Google Shape;802;p42"/>
          <p:cNvSpPr/>
          <p:nvPr/>
        </p:nvSpPr>
        <p:spPr>
          <a:xfrm>
            <a:off x="5438394" y="1748790"/>
            <a:ext cx="301725" cy="301725"/>
          </a:xfrm>
          <a:prstGeom prst="ellipse">
            <a:avLst/>
          </a:prstGeom>
          <a:solidFill>
            <a:srgbClr val="9BC7EF"/>
          </a:solidFill>
          <a:ln cap="flat" cmpd="sng" w="254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icons/alert_white.png" id="803" name="Google Shape;803;p42"/>
          <p:cNvPicPr preferRelativeResize="0"/>
          <p:nvPr/>
        </p:nvPicPr>
        <p:blipFill rotWithShape="1">
          <a:blip r:embed="rId5">
            <a:alphaModFix/>
          </a:blip>
          <a:srcRect b="0" l="0" r="0" t="0"/>
          <a:stretch/>
        </p:blipFill>
        <p:spPr>
          <a:xfrm>
            <a:off x="5500116" y="1810512"/>
            <a:ext cx="178308" cy="178308"/>
          </a:xfrm>
          <a:prstGeom prst="rect">
            <a:avLst/>
          </a:prstGeom>
          <a:noFill/>
          <a:ln>
            <a:noFill/>
          </a:ln>
        </p:spPr>
      </p:pic>
      <p:sp>
        <p:nvSpPr>
          <p:cNvPr id="804" name="Google Shape;804;p42"/>
          <p:cNvSpPr/>
          <p:nvPr/>
        </p:nvSpPr>
        <p:spPr>
          <a:xfrm>
            <a:off x="3281975" y="3260025"/>
            <a:ext cx="2616000" cy="4665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9BC7EF"/>
              </a:buClr>
              <a:buSzPts val="1100"/>
              <a:buFont typeface="Calibri"/>
              <a:buNone/>
            </a:pPr>
            <a:r>
              <a:rPr b="0" i="1" lang="en-GB" sz="1500" u="none" cap="none" strike="noStrike">
                <a:solidFill>
                  <a:srgbClr val="9BC7EF"/>
                </a:solidFill>
                <a:latin typeface="Calibri"/>
                <a:ea typeface="Calibri"/>
                <a:cs typeface="Calibri"/>
                <a:sym typeface="Calibri"/>
              </a:rPr>
              <a:t>SELECT reveals: insufficient!</a:t>
            </a:r>
            <a:endParaRPr b="0" i="0" sz="1500" u="none" cap="none" strike="noStrike">
              <a:solidFill>
                <a:schemeClr val="dk1"/>
              </a:solidFill>
              <a:latin typeface="Calibri"/>
              <a:ea typeface="Calibri"/>
              <a:cs typeface="Calibri"/>
              <a:sym typeface="Calibri"/>
            </a:endParaRPr>
          </a:p>
        </p:txBody>
      </p:sp>
      <p:sp>
        <p:nvSpPr>
          <p:cNvPr id="805" name="Google Shape;805;p42"/>
          <p:cNvSpPr/>
          <p:nvPr/>
        </p:nvSpPr>
        <p:spPr>
          <a:xfrm>
            <a:off x="5897880" y="2245995"/>
            <a:ext cx="342900" cy="342900"/>
          </a:xfrm>
          <a:prstGeom prst="ellipse">
            <a:avLst/>
          </a:prstGeom>
          <a:solidFill>
            <a:srgbClr val="2784D7"/>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rgbClr val="000000"/>
              </a:solidFill>
              <a:latin typeface="Arial"/>
              <a:ea typeface="Arial"/>
              <a:cs typeface="Arial"/>
              <a:sym typeface="Arial"/>
            </a:endParaRPr>
          </a:p>
        </p:txBody>
      </p:sp>
      <p:pic>
        <p:nvPicPr>
          <p:cNvPr descr="/home/claude/icons/arrow_white.png" id="806" name="Google Shape;806;p42"/>
          <p:cNvPicPr preferRelativeResize="0"/>
          <p:nvPr/>
        </p:nvPicPr>
        <p:blipFill rotWithShape="1">
          <a:blip r:embed="rId4">
            <a:alphaModFix/>
          </a:blip>
          <a:srcRect b="0" l="0" r="0" t="0"/>
          <a:stretch/>
        </p:blipFill>
        <p:spPr>
          <a:xfrm>
            <a:off x="5973318" y="2321433"/>
            <a:ext cx="192024" cy="192024"/>
          </a:xfrm>
          <a:prstGeom prst="rect">
            <a:avLst/>
          </a:prstGeom>
          <a:noFill/>
          <a:ln>
            <a:noFill/>
          </a:ln>
        </p:spPr>
      </p:pic>
      <p:sp>
        <p:nvSpPr>
          <p:cNvPr id="807" name="Google Shape;807;p42"/>
          <p:cNvSpPr/>
          <p:nvPr/>
        </p:nvSpPr>
        <p:spPr>
          <a:xfrm>
            <a:off x="5623527" y="2598962"/>
            <a:ext cx="1023000" cy="370800"/>
          </a:xfrm>
          <a:prstGeom prst="rect">
            <a:avLst/>
          </a:prstGeom>
          <a:noFill/>
          <a:ln>
            <a:noFill/>
          </a:ln>
        </p:spPr>
        <p:txBody>
          <a:bodyPr anchorCtr="0" anchor="ctr" bIns="34275" lIns="68575" spcFirstLastPara="1" rIns="68575" wrap="square" tIns="34275">
            <a:noAutofit/>
          </a:bodyPr>
          <a:lstStyle/>
          <a:p>
            <a:pPr indent="0" lvl="0" marL="0" marR="0" rtl="0" algn="ctr">
              <a:lnSpc>
                <a:spcPct val="110000"/>
              </a:lnSpc>
              <a:spcBef>
                <a:spcPts val="0"/>
              </a:spcBef>
              <a:spcAft>
                <a:spcPts val="0"/>
              </a:spcAft>
              <a:buClr>
                <a:srgbClr val="6E9CC5"/>
              </a:buClr>
              <a:buSzPts val="1000"/>
              <a:buFont typeface="Consolas"/>
              <a:buNone/>
            </a:pPr>
            <a:r>
              <a:rPr b="1" i="0" lang="en-GB" sz="1100" u="none" cap="none" strike="noStrike">
                <a:solidFill>
                  <a:srgbClr val="6E9CC5"/>
                </a:solidFill>
                <a:latin typeface="Consolas"/>
                <a:ea typeface="Consolas"/>
                <a:cs typeface="Consolas"/>
                <a:sym typeface="Consolas"/>
              </a:rPr>
              <a:t>ROLLBACK;</a:t>
            </a:r>
            <a:endParaRPr b="0" i="0" sz="1100" u="none" cap="none" strike="noStrike">
              <a:solidFill>
                <a:schemeClr val="dk1"/>
              </a:solidFill>
              <a:latin typeface="Calibri"/>
              <a:ea typeface="Calibri"/>
              <a:cs typeface="Calibri"/>
              <a:sym typeface="Calibri"/>
            </a:endParaRPr>
          </a:p>
        </p:txBody>
      </p:sp>
      <p:sp>
        <p:nvSpPr>
          <p:cNvPr id="808" name="Google Shape;808;p42"/>
          <p:cNvSpPr/>
          <p:nvPr/>
        </p:nvSpPr>
        <p:spPr>
          <a:xfrm>
            <a:off x="6412400" y="1063000"/>
            <a:ext cx="2331600" cy="2709000"/>
          </a:xfrm>
          <a:prstGeom prst="roundRect">
            <a:avLst>
              <a:gd fmla="val 2778" name="adj"/>
            </a:avLst>
          </a:prstGeom>
          <a:solidFill>
            <a:srgbClr val="F8FAFB"/>
          </a:solidFill>
          <a:ln cap="flat" cmpd="sng" w="15875">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2300" u="none" cap="none" strike="noStrike">
              <a:solidFill>
                <a:srgbClr val="000000"/>
              </a:solidFill>
              <a:latin typeface="Arial"/>
              <a:ea typeface="Arial"/>
              <a:cs typeface="Arial"/>
              <a:sym typeface="Arial"/>
            </a:endParaRPr>
          </a:p>
        </p:txBody>
      </p:sp>
      <p:sp>
        <p:nvSpPr>
          <p:cNvPr id="809" name="Google Shape;809;p42"/>
          <p:cNvSpPr/>
          <p:nvPr/>
        </p:nvSpPr>
        <p:spPr>
          <a:xfrm>
            <a:off x="6343650" y="1213866"/>
            <a:ext cx="2331675" cy="288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784D7"/>
              </a:buClr>
              <a:buSzPts val="1200"/>
              <a:buFont typeface="Calibri"/>
              <a:buNone/>
            </a:pPr>
            <a:r>
              <a:rPr b="1" i="0" lang="en-GB" sz="1500" u="none" cap="none" strike="noStrike">
                <a:solidFill>
                  <a:srgbClr val="2784D7"/>
                </a:solidFill>
                <a:latin typeface="Calibri"/>
                <a:ea typeface="Calibri"/>
                <a:cs typeface="Calibri"/>
                <a:sym typeface="Calibri"/>
              </a:rPr>
              <a:t>AFTER ROLLBACK</a:t>
            </a:r>
            <a:endParaRPr b="0" i="0" sz="1500" u="none" cap="none" strike="noStrike">
              <a:solidFill>
                <a:schemeClr val="dk1"/>
              </a:solidFill>
              <a:latin typeface="Calibri"/>
              <a:ea typeface="Calibri"/>
              <a:cs typeface="Calibri"/>
              <a:sym typeface="Calibri"/>
            </a:endParaRPr>
          </a:p>
        </p:txBody>
      </p:sp>
      <p:sp>
        <p:nvSpPr>
          <p:cNvPr id="810" name="Google Shape;810;p42"/>
          <p:cNvSpPr/>
          <p:nvPr/>
        </p:nvSpPr>
        <p:spPr>
          <a:xfrm>
            <a:off x="6343650" y="1556766"/>
            <a:ext cx="2331675" cy="2400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6E9CC5"/>
              </a:buClr>
              <a:buSzPts val="1000"/>
              <a:buFont typeface="Calibri"/>
              <a:buNone/>
            </a:pPr>
            <a:r>
              <a:rPr b="0" i="0" lang="en-GB" sz="1400" u="none" cap="none" strike="noStrike">
                <a:solidFill>
                  <a:srgbClr val="6E9CC5"/>
                </a:solidFill>
                <a:latin typeface="Calibri"/>
                <a:ea typeface="Calibri"/>
                <a:cs typeface="Calibri"/>
                <a:sym typeface="Calibri"/>
              </a:rPr>
              <a:t>Account A</a:t>
            </a:r>
            <a:endParaRPr b="0" i="0" sz="1400" u="none" cap="none" strike="noStrike">
              <a:solidFill>
                <a:schemeClr val="dk1"/>
              </a:solidFill>
              <a:latin typeface="Calibri"/>
              <a:ea typeface="Calibri"/>
              <a:cs typeface="Calibri"/>
              <a:sym typeface="Calibri"/>
            </a:endParaRPr>
          </a:p>
        </p:txBody>
      </p:sp>
      <p:sp>
        <p:nvSpPr>
          <p:cNvPr id="811" name="Google Shape;811;p42"/>
          <p:cNvSpPr/>
          <p:nvPr/>
        </p:nvSpPr>
        <p:spPr>
          <a:xfrm>
            <a:off x="6515100" y="1831086"/>
            <a:ext cx="1988775" cy="925875"/>
          </a:xfrm>
          <a:prstGeom prst="roundRect">
            <a:avLst>
              <a:gd fmla="val 5926" name="adj"/>
            </a:avLst>
          </a:prstGeom>
          <a:solidFill>
            <a:srgbClr val="FFFFFF"/>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rgbClr val="000000"/>
              </a:solidFill>
              <a:latin typeface="Arial"/>
              <a:ea typeface="Arial"/>
              <a:cs typeface="Arial"/>
              <a:sym typeface="Arial"/>
            </a:endParaRPr>
          </a:p>
        </p:txBody>
      </p:sp>
      <p:sp>
        <p:nvSpPr>
          <p:cNvPr id="812" name="Google Shape;812;p42"/>
          <p:cNvSpPr/>
          <p:nvPr/>
        </p:nvSpPr>
        <p:spPr>
          <a:xfrm>
            <a:off x="6515100" y="1831086"/>
            <a:ext cx="1988775" cy="9258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784D7"/>
              </a:buClr>
              <a:buSzPts val="2000"/>
              <a:buFont typeface="Consolas"/>
              <a:buNone/>
            </a:pPr>
            <a:r>
              <a:rPr b="1" i="0" lang="en-GB" sz="2100" u="none" cap="none" strike="noStrike">
                <a:solidFill>
                  <a:srgbClr val="2784D7"/>
                </a:solidFill>
                <a:latin typeface="Consolas"/>
                <a:ea typeface="Consolas"/>
                <a:cs typeface="Consolas"/>
                <a:sym typeface="Consolas"/>
              </a:rPr>
              <a:t>₹ 1,000</a:t>
            </a:r>
            <a:endParaRPr b="0" i="0" sz="2100" u="none" cap="none" strike="noStrike">
              <a:solidFill>
                <a:schemeClr val="dk1"/>
              </a:solidFill>
              <a:latin typeface="Calibri"/>
              <a:ea typeface="Calibri"/>
              <a:cs typeface="Calibri"/>
              <a:sym typeface="Calibri"/>
            </a:endParaRPr>
          </a:p>
        </p:txBody>
      </p:sp>
      <p:sp>
        <p:nvSpPr>
          <p:cNvPr id="813" name="Google Shape;813;p42"/>
          <p:cNvSpPr/>
          <p:nvPr/>
        </p:nvSpPr>
        <p:spPr>
          <a:xfrm>
            <a:off x="6377940" y="3236976"/>
            <a:ext cx="2263050" cy="466425"/>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2784D7"/>
              </a:buClr>
              <a:buSzPts val="1100"/>
              <a:buFont typeface="Calibri"/>
              <a:buNone/>
            </a:pPr>
            <a:r>
              <a:rPr b="0" i="1" lang="en-GB" sz="1500" u="none" cap="none" strike="noStrike">
                <a:solidFill>
                  <a:srgbClr val="2784D7"/>
                </a:solidFill>
                <a:latin typeface="Calibri"/>
                <a:ea typeface="Calibri"/>
                <a:cs typeface="Calibri"/>
                <a:sym typeface="Calibri"/>
              </a:rPr>
              <a:t>✓ original balance restored</a:t>
            </a:r>
            <a:endParaRPr b="0" i="0" sz="1500" u="none" cap="none" strike="noStrike">
              <a:solidFill>
                <a:schemeClr val="dk1"/>
              </a:solidFill>
              <a:latin typeface="Calibri"/>
              <a:ea typeface="Calibri"/>
              <a:cs typeface="Calibri"/>
              <a:sym typeface="Calibri"/>
            </a:endParaRPr>
          </a:p>
        </p:txBody>
      </p:sp>
      <p:sp>
        <p:nvSpPr>
          <p:cNvPr id="814" name="Google Shape;814;p42"/>
          <p:cNvSpPr/>
          <p:nvPr/>
        </p:nvSpPr>
        <p:spPr>
          <a:xfrm>
            <a:off x="411488" y="3874759"/>
            <a:ext cx="8298225" cy="1186425"/>
          </a:xfrm>
          <a:prstGeom prst="roundRect">
            <a:avLst>
              <a:gd fmla="val 8696" name="adj"/>
            </a:avLst>
          </a:prstGeom>
          <a:solidFill>
            <a:srgbClr val="F8FAFB"/>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5" name="Google Shape;815;p42"/>
          <p:cNvSpPr/>
          <p:nvPr/>
        </p:nvSpPr>
        <p:spPr>
          <a:xfrm>
            <a:off x="411488" y="4066838"/>
            <a:ext cx="8298225" cy="788625"/>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1B4163"/>
              </a:buClr>
              <a:buSzPts val="1300"/>
              <a:buFont typeface="Calibri"/>
              <a:buNone/>
            </a:pPr>
            <a:r>
              <a:rPr b="1" i="0" lang="en-GB" sz="1700" u="none" cap="none" strike="noStrike">
                <a:solidFill>
                  <a:srgbClr val="1B4163"/>
                </a:solidFill>
                <a:latin typeface="Calibri"/>
                <a:ea typeface="Calibri"/>
                <a:cs typeface="Calibri"/>
                <a:sym typeface="Calibri"/>
              </a:rPr>
              <a:t>The SELECT check caught it in time: </a:t>
            </a:r>
            <a:r>
              <a:rPr b="0" i="0" lang="en-GB" sz="1700" u="none" cap="none" strike="noStrike">
                <a:solidFill>
                  <a:srgbClr val="172531"/>
                </a:solidFill>
                <a:latin typeface="Calibri"/>
                <a:ea typeface="Calibri"/>
                <a:cs typeface="Calibri"/>
                <a:sym typeface="Calibri"/>
              </a:rPr>
              <a:t>the UPDATE alone would leave Account A at ₹−1,000 — invalid. Since it's still uncommitted, ROLLBACK undoes it instantly, before that bad value could ever be saved.</a:t>
            </a:r>
            <a:endParaRPr b="0" i="0" sz="1700" u="none" cap="none" strike="noStrike">
              <a:solidFill>
                <a:schemeClr val="dk1"/>
              </a:solidFill>
              <a:latin typeface="Calibri"/>
              <a:ea typeface="Calibri"/>
              <a:cs typeface="Calibri"/>
              <a:sym typeface="Calibri"/>
            </a:endParaRPr>
          </a:p>
        </p:txBody>
      </p:sp>
      <p:sp>
        <p:nvSpPr>
          <p:cNvPr id="816" name="Google Shape;816;p42"/>
          <p:cNvSpPr/>
          <p:nvPr/>
        </p:nvSpPr>
        <p:spPr>
          <a:xfrm>
            <a:off x="8663711" y="4855464"/>
            <a:ext cx="342900"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9AB9D4"/>
              </a:buClr>
              <a:buSzPts val="900"/>
              <a:buFont typeface="Calibri"/>
              <a:buNone/>
            </a:pPr>
            <a:r>
              <a:rPr b="0" i="0" lang="en-GB" sz="1100" u="none" cap="none" strike="noStrike">
                <a:solidFill>
                  <a:srgbClr val="9AB9D4"/>
                </a:solidFill>
                <a:latin typeface="Calibri"/>
                <a:ea typeface="Calibri"/>
                <a:cs typeface="Calibri"/>
                <a:sym typeface="Calibri"/>
              </a:rPr>
              <a:t>27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1" name="Shape 821"/>
        <p:cNvGrpSpPr/>
        <p:nvPr/>
      </p:nvGrpSpPr>
      <p:grpSpPr>
        <a:xfrm>
          <a:off x="0" y="0"/>
          <a:ext cx="0" cy="0"/>
          <a:chOff x="0" y="0"/>
          <a:chExt cx="0" cy="0"/>
        </a:xfrm>
      </p:grpSpPr>
      <p:pic>
        <p:nvPicPr>
          <p:cNvPr descr="/home/claude/assets/newton_logo.png" id="822" name="Google Shape;822;p43"/>
          <p:cNvPicPr preferRelativeResize="0"/>
          <p:nvPr/>
        </p:nvPicPr>
        <p:blipFill rotWithShape="1">
          <a:blip r:embed="rId3">
            <a:alphaModFix/>
          </a:blip>
          <a:srcRect b="0" l="0" r="0" t="0"/>
          <a:stretch/>
        </p:blipFill>
        <p:spPr>
          <a:xfrm>
            <a:off x="8080781" y="164592"/>
            <a:ext cx="788671" cy="233203"/>
          </a:xfrm>
          <a:prstGeom prst="rect">
            <a:avLst/>
          </a:prstGeom>
          <a:noFill/>
          <a:ln>
            <a:noFill/>
          </a:ln>
        </p:spPr>
      </p:pic>
      <p:sp>
        <p:nvSpPr>
          <p:cNvPr id="823" name="Google Shape;823;p43"/>
          <p:cNvSpPr/>
          <p:nvPr/>
        </p:nvSpPr>
        <p:spPr>
          <a:xfrm>
            <a:off x="411480" y="192024"/>
            <a:ext cx="61722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894D7"/>
              </a:buClr>
              <a:buSzPts val="1500"/>
              <a:buFont typeface="Calibri"/>
              <a:buNone/>
            </a:pPr>
            <a:r>
              <a:rPr b="1" i="0" lang="en-GB" sz="1900" u="none" cap="none" strike="noStrike">
                <a:solidFill>
                  <a:srgbClr val="4894D7"/>
                </a:solidFill>
                <a:latin typeface="Calibri"/>
                <a:ea typeface="Calibri"/>
                <a:cs typeface="Calibri"/>
                <a:sym typeface="Calibri"/>
              </a:rPr>
              <a:t>TCL COMMAND 3</a:t>
            </a:r>
            <a:endParaRPr b="0" i="0" sz="1900" u="none" cap="none" strike="noStrike">
              <a:solidFill>
                <a:schemeClr val="dk1"/>
              </a:solidFill>
              <a:latin typeface="Calibri"/>
              <a:ea typeface="Calibri"/>
              <a:cs typeface="Calibri"/>
              <a:sym typeface="Calibri"/>
            </a:endParaRPr>
          </a:p>
        </p:txBody>
      </p:sp>
      <p:sp>
        <p:nvSpPr>
          <p:cNvPr id="824" name="Google Shape;824;p43"/>
          <p:cNvSpPr/>
          <p:nvPr/>
        </p:nvSpPr>
        <p:spPr>
          <a:xfrm>
            <a:off x="411480" y="438912"/>
            <a:ext cx="8160975" cy="466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B4163"/>
              </a:buClr>
              <a:buSzPts val="2900"/>
              <a:buFont typeface="Cambria"/>
              <a:buNone/>
            </a:pPr>
            <a:r>
              <a:rPr b="1" i="0" lang="en-GB" sz="2000" u="none" cap="none" strike="noStrike">
                <a:solidFill>
                  <a:srgbClr val="1B4163"/>
                </a:solidFill>
                <a:latin typeface="Cambria"/>
                <a:ea typeface="Cambria"/>
                <a:cs typeface="Cambria"/>
                <a:sym typeface="Cambria"/>
              </a:rPr>
              <a:t>SAVEPOINT — a checkpoint you return to</a:t>
            </a:r>
            <a:endParaRPr b="0" i="0" sz="2000" u="none" cap="none" strike="noStrike">
              <a:solidFill>
                <a:schemeClr val="dk1"/>
              </a:solidFill>
              <a:latin typeface="Calibri"/>
              <a:ea typeface="Calibri"/>
              <a:cs typeface="Calibri"/>
              <a:sym typeface="Calibri"/>
            </a:endParaRPr>
          </a:p>
        </p:txBody>
      </p:sp>
      <p:sp>
        <p:nvSpPr>
          <p:cNvPr id="825" name="Google Shape;825;p43"/>
          <p:cNvSpPr/>
          <p:nvPr/>
        </p:nvSpPr>
        <p:spPr>
          <a:xfrm>
            <a:off x="411488" y="849666"/>
            <a:ext cx="8298225" cy="844200"/>
          </a:xfrm>
          <a:prstGeom prst="roundRect">
            <a:avLst>
              <a:gd fmla="val 11429" name="adj"/>
            </a:avLst>
          </a:prstGeom>
          <a:solidFill>
            <a:srgbClr val="E5EBF1"/>
          </a:solidFill>
          <a:ln cap="flat" cmpd="sng" w="12700">
            <a:solidFill>
              <a:srgbClr val="A8CEF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43"/>
          <p:cNvSpPr/>
          <p:nvPr/>
        </p:nvSpPr>
        <p:spPr>
          <a:xfrm>
            <a:off x="540075" y="905350"/>
            <a:ext cx="7998000" cy="788400"/>
          </a:xfrm>
          <a:prstGeom prst="rect">
            <a:avLst/>
          </a:prstGeom>
          <a:noFill/>
          <a:ln>
            <a:noFill/>
          </a:ln>
        </p:spPr>
        <p:txBody>
          <a:bodyPr anchorCtr="0" anchor="ctr" bIns="34275" lIns="68575" spcFirstLastPara="1" rIns="68575" wrap="square" tIns="34275">
            <a:noAutofit/>
          </a:bodyPr>
          <a:lstStyle/>
          <a:p>
            <a:pPr indent="0" lvl="0" marL="0" marR="0" rtl="0" algn="l">
              <a:lnSpc>
                <a:spcPct val="108000"/>
              </a:lnSpc>
              <a:spcBef>
                <a:spcPts val="0"/>
              </a:spcBef>
              <a:spcAft>
                <a:spcPts val="0"/>
              </a:spcAft>
              <a:buClr>
                <a:srgbClr val="499AE1"/>
              </a:buClr>
              <a:buSzPts val="1000"/>
              <a:buFont typeface="Calibri"/>
              <a:buNone/>
            </a:pPr>
            <a:r>
              <a:rPr b="1" i="0" lang="en-GB" sz="1400" u="none" cap="none" strike="noStrike">
                <a:solidFill>
                  <a:srgbClr val="499AE1"/>
                </a:solidFill>
                <a:latin typeface="Calibri"/>
                <a:ea typeface="Calibri"/>
                <a:cs typeface="Calibri"/>
                <a:sym typeface="Calibri"/>
              </a:rPr>
              <a:t>THE PRINCIPAL WALKS IN</a:t>
            </a:r>
            <a:br>
              <a:rPr b="1" i="0" lang="en-GB" sz="1400" u="none" cap="none" strike="noStrike">
                <a:solidFill>
                  <a:srgbClr val="499AE1"/>
                </a:solidFill>
                <a:latin typeface="Calibri"/>
                <a:ea typeface="Calibri"/>
                <a:cs typeface="Calibri"/>
                <a:sym typeface="Calibri"/>
              </a:rPr>
            </a:br>
            <a:r>
              <a:rPr b="0" i="1" lang="en-GB" sz="1700" u="none" cap="none" strike="noStrike">
                <a:solidFill>
                  <a:srgbClr val="172531"/>
                </a:solidFill>
                <a:latin typeface="Calibri"/>
                <a:ea typeface="Calibri"/>
                <a:cs typeface="Calibri"/>
                <a:sym typeface="Calibri"/>
              </a:rPr>
              <a:t>“This transfer has two steps — undo only the second one, not the whole transaction.”</a:t>
            </a:r>
            <a:endParaRPr b="0" i="0" sz="1400" u="none" cap="none" strike="noStrike">
              <a:solidFill>
                <a:schemeClr val="dk1"/>
              </a:solidFill>
              <a:latin typeface="Calibri"/>
              <a:ea typeface="Calibri"/>
              <a:cs typeface="Calibri"/>
              <a:sym typeface="Calibri"/>
            </a:endParaRPr>
          </a:p>
        </p:txBody>
      </p:sp>
      <p:sp>
        <p:nvSpPr>
          <p:cNvPr id="827" name="Google Shape;827;p43"/>
          <p:cNvSpPr/>
          <p:nvPr/>
        </p:nvSpPr>
        <p:spPr>
          <a:xfrm>
            <a:off x="411486" y="1789931"/>
            <a:ext cx="4250475" cy="2571750"/>
          </a:xfrm>
          <a:prstGeom prst="roundRect">
            <a:avLst>
              <a:gd fmla="val 2667" name="adj"/>
            </a:avLst>
          </a:prstGeom>
          <a:solidFill>
            <a:srgbClr val="142E45"/>
          </a:solidFill>
          <a:ln>
            <a:noFill/>
          </a:ln>
          <a:effectLst>
            <a:outerShdw blurRad="76200" rotWithShape="0" algn="bl" dir="5400000" dist="25400">
              <a:srgbClr val="000000">
                <a:alpha val="200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8" name="Google Shape;828;p43"/>
          <p:cNvSpPr/>
          <p:nvPr/>
        </p:nvSpPr>
        <p:spPr>
          <a:xfrm>
            <a:off x="540075" y="1903106"/>
            <a:ext cx="3949200" cy="22758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FCFDD"/>
              </a:buClr>
              <a:buSzPts val="1500"/>
              <a:buFont typeface="Consolas"/>
              <a:buNone/>
            </a:pPr>
            <a:r>
              <a:rPr b="0" i="0" lang="en-GB" sz="1500" u="none" cap="none" strike="noStrike">
                <a:solidFill>
                  <a:srgbClr val="BFCFDD"/>
                </a:solidFill>
                <a:latin typeface="Consolas"/>
                <a:ea typeface="Consolas"/>
                <a:cs typeface="Consolas"/>
                <a:sym typeface="Consolas"/>
              </a:rPr>
              <a:t>BEGIN;</a:t>
            </a:r>
            <a:endParaRPr b="0"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500"/>
              <a:buFont typeface="Consolas"/>
              <a:buNone/>
            </a:pPr>
            <a:r>
              <a:rPr b="0" i="0" lang="en-GB" sz="1500" u="none" cap="none" strike="noStrike">
                <a:solidFill>
                  <a:srgbClr val="ECF0F3"/>
                </a:solidFill>
                <a:latin typeface="Consolas"/>
                <a:ea typeface="Consolas"/>
                <a:cs typeface="Consolas"/>
                <a:sym typeface="Consolas"/>
              </a:rPr>
              <a:t>UPDATE accounts SET balance</a:t>
            </a:r>
            <a:endParaRPr b="0"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500"/>
              <a:buFont typeface="Consolas"/>
              <a:buNone/>
            </a:pPr>
            <a:r>
              <a:rPr b="0" i="0" lang="en-GB" sz="1500" u="none" cap="none" strike="noStrike">
                <a:solidFill>
                  <a:srgbClr val="ECF0F3"/>
                </a:solidFill>
                <a:latin typeface="Consolas"/>
                <a:ea typeface="Consolas"/>
                <a:cs typeface="Consolas"/>
                <a:sym typeface="Consolas"/>
              </a:rPr>
              <a:t>  = balance - 5000 WHERE id='A';</a:t>
            </a:r>
            <a:endParaRPr b="0"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8FBBE3"/>
              </a:buClr>
              <a:buSzPts val="1500"/>
              <a:buFont typeface="Consolas"/>
              <a:buNone/>
            </a:pPr>
            <a:r>
              <a:rPr b="1" i="0" lang="en-GB" sz="1500" u="none" cap="none" strike="noStrike">
                <a:solidFill>
                  <a:srgbClr val="8FBBE3"/>
                </a:solidFill>
                <a:latin typeface="Consolas"/>
                <a:ea typeface="Consolas"/>
                <a:cs typeface="Consolas"/>
                <a:sym typeface="Consolas"/>
              </a:rPr>
              <a:t>SAVEPOINT sp1;</a:t>
            </a:r>
            <a:endParaRPr b="0"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500"/>
              <a:buFont typeface="Consolas"/>
              <a:buNone/>
            </a:pPr>
            <a:r>
              <a:rPr b="0" i="0" lang="en-GB" sz="1500" u="none" cap="none" strike="noStrike">
                <a:solidFill>
                  <a:srgbClr val="ECF0F3"/>
                </a:solidFill>
                <a:latin typeface="Consolas"/>
                <a:ea typeface="Consolas"/>
                <a:cs typeface="Consolas"/>
                <a:sym typeface="Consolas"/>
              </a:rPr>
              <a:t>UPDATE accounts SET balance</a:t>
            </a:r>
            <a:endParaRPr b="0"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CF0F3"/>
              </a:buClr>
              <a:buSzPts val="1500"/>
              <a:buFont typeface="Consolas"/>
              <a:buNone/>
            </a:pPr>
            <a:r>
              <a:rPr b="0" i="0" lang="en-GB" sz="1500" u="none" cap="none" strike="noStrike">
                <a:solidFill>
                  <a:srgbClr val="ECF0F3"/>
                </a:solidFill>
                <a:latin typeface="Consolas"/>
                <a:ea typeface="Consolas"/>
                <a:cs typeface="Consolas"/>
                <a:sym typeface="Consolas"/>
              </a:rPr>
              <a:t>  = balance + 5000 WHERE id='B';</a:t>
            </a:r>
            <a:endParaRPr b="0"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8FBBE3"/>
              </a:buClr>
              <a:buSzPts val="1500"/>
              <a:buFont typeface="Consolas"/>
              <a:buNone/>
            </a:pPr>
            <a:r>
              <a:rPr b="1" i="0" lang="en-GB" sz="1500" u="none" cap="none" strike="noStrike">
                <a:solidFill>
                  <a:srgbClr val="8FBBE3"/>
                </a:solidFill>
                <a:latin typeface="Consolas"/>
                <a:ea typeface="Consolas"/>
                <a:cs typeface="Consolas"/>
                <a:sym typeface="Consolas"/>
              </a:rPr>
              <a:t>SAVEPOINT sp2;</a:t>
            </a:r>
            <a:endParaRPr b="0"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4C1DB"/>
              </a:buClr>
              <a:buSzPts val="1500"/>
              <a:buFont typeface="Consolas"/>
              <a:buNone/>
            </a:pPr>
            <a:r>
              <a:rPr b="0" i="1" lang="en-GB" sz="1500" u="none" cap="none" strike="noStrike">
                <a:solidFill>
                  <a:srgbClr val="A4C1DB"/>
                </a:solidFill>
                <a:latin typeface="Consolas"/>
                <a:ea typeface="Consolas"/>
                <a:cs typeface="Consolas"/>
                <a:sym typeface="Consolas"/>
              </a:rPr>
              <a:t>-- step 2 was wrong, keep step 1</a:t>
            </a:r>
            <a:endParaRPr b="0"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BECEDC"/>
              </a:buClr>
              <a:buSzPts val="1500"/>
              <a:buFont typeface="Consolas"/>
              <a:buNone/>
            </a:pPr>
            <a:r>
              <a:rPr b="1" i="0" lang="en-GB" sz="1500" u="none" cap="none" strike="noStrike">
                <a:solidFill>
                  <a:srgbClr val="BECEDC"/>
                </a:solidFill>
                <a:latin typeface="Consolas"/>
                <a:ea typeface="Consolas"/>
                <a:cs typeface="Consolas"/>
                <a:sym typeface="Consolas"/>
              </a:rPr>
              <a:t>ROLLBACK TO sp1;</a:t>
            </a:r>
            <a:endParaRPr b="0" i="0" sz="1500" u="none" cap="none" strike="noStrike">
              <a:solidFill>
                <a:schemeClr val="dk1"/>
              </a:solidFill>
              <a:latin typeface="Calibri"/>
              <a:ea typeface="Calibri"/>
              <a:cs typeface="Calibri"/>
              <a:sym typeface="Calibri"/>
            </a:endParaRPr>
          </a:p>
        </p:txBody>
      </p:sp>
      <p:sp>
        <p:nvSpPr>
          <p:cNvPr id="829" name="Google Shape;829;p43"/>
          <p:cNvSpPr/>
          <p:nvPr/>
        </p:nvSpPr>
        <p:spPr>
          <a:xfrm>
            <a:off x="4834517" y="1789931"/>
            <a:ext cx="3874950" cy="2571750"/>
          </a:xfrm>
          <a:prstGeom prst="roundRect">
            <a:avLst>
              <a:gd fmla="val 2667" name="adj"/>
            </a:avLst>
          </a:prstGeom>
          <a:solidFill>
            <a:srgbClr val="F8FAFB"/>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0" name="Google Shape;830;p43"/>
          <p:cNvSpPr/>
          <p:nvPr/>
        </p:nvSpPr>
        <p:spPr>
          <a:xfrm>
            <a:off x="5086185" y="2101914"/>
            <a:ext cx="27090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163"/>
              </a:buClr>
              <a:buSzPts val="1700"/>
              <a:buFont typeface="Cambria"/>
              <a:buNone/>
            </a:pPr>
            <a:r>
              <a:rPr b="1" i="0" lang="en-GB" sz="1700" u="none" cap="none" strike="noStrike">
                <a:solidFill>
                  <a:srgbClr val="1B4163"/>
                </a:solidFill>
                <a:latin typeface="Cambria"/>
                <a:ea typeface="Cambria"/>
                <a:cs typeface="Cambria"/>
                <a:sym typeface="Cambria"/>
              </a:rPr>
              <a:t>What SAVEPOINT does</a:t>
            </a:r>
            <a:endParaRPr b="0" i="0" sz="1700" u="none" cap="none" strike="noStrike">
              <a:solidFill>
                <a:schemeClr val="dk1"/>
              </a:solidFill>
              <a:latin typeface="Calibri"/>
              <a:ea typeface="Calibri"/>
              <a:cs typeface="Calibri"/>
              <a:sym typeface="Calibri"/>
            </a:endParaRPr>
          </a:p>
        </p:txBody>
      </p:sp>
      <p:sp>
        <p:nvSpPr>
          <p:cNvPr id="831" name="Google Shape;831;p43"/>
          <p:cNvSpPr/>
          <p:nvPr/>
        </p:nvSpPr>
        <p:spPr>
          <a:xfrm>
            <a:off x="5080669" y="2671144"/>
            <a:ext cx="3382650" cy="1851750"/>
          </a:xfrm>
          <a:prstGeom prst="rect">
            <a:avLst/>
          </a:prstGeom>
          <a:noFill/>
          <a:ln>
            <a:noFill/>
          </a:ln>
        </p:spPr>
        <p:txBody>
          <a:bodyPr anchorCtr="0" anchor="t" bIns="34275" lIns="68575" spcFirstLastPara="1" rIns="68575" wrap="square" tIns="34275">
            <a:noAutofit/>
          </a:bodyPr>
          <a:lstStyle/>
          <a:p>
            <a:pPr indent="0" lvl="0" marL="0" marR="0" rtl="0" algn="l">
              <a:lnSpc>
                <a:spcPct val="118000"/>
              </a:lnSpc>
              <a:spcBef>
                <a:spcPts val="0"/>
              </a:spcBef>
              <a:spcAft>
                <a:spcPts val="0"/>
              </a:spcAft>
              <a:buClr>
                <a:srgbClr val="172531"/>
              </a:buClr>
              <a:buSzPts val="1400"/>
              <a:buFont typeface="Calibri"/>
              <a:buNone/>
            </a:pPr>
            <a:r>
              <a:rPr b="0" i="0" lang="en-GB" sz="1500" u="none" cap="none" strike="noStrike">
                <a:solidFill>
                  <a:srgbClr val="172531"/>
                </a:solidFill>
                <a:latin typeface="Calibri"/>
                <a:ea typeface="Calibri"/>
                <a:cs typeface="Calibri"/>
                <a:sym typeface="Calibri"/>
              </a:rPr>
              <a:t>•  Marks a checkpoint inside a transaction</a:t>
            </a:r>
            <a:endParaRPr b="0" i="0" sz="15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500" u="none" cap="none" strike="noStrike">
                <a:solidFill>
                  <a:srgbClr val="172531"/>
                </a:solidFill>
                <a:latin typeface="Calibri"/>
                <a:ea typeface="Calibri"/>
                <a:cs typeface="Calibri"/>
                <a:sym typeface="Calibri"/>
              </a:rPr>
              <a:t>•  ROLLBACK TO undoes only steps after it</a:t>
            </a:r>
            <a:endParaRPr b="0" i="0" sz="15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500" u="none" cap="none" strike="noStrike">
                <a:solidFill>
                  <a:srgbClr val="172531"/>
                </a:solidFill>
                <a:latin typeface="Calibri"/>
                <a:ea typeface="Calibri"/>
                <a:cs typeface="Calibri"/>
                <a:sym typeface="Calibri"/>
              </a:rPr>
              <a:t>•  Steps before that checkpoint stay intact</a:t>
            </a:r>
            <a:endParaRPr b="0" i="0" sz="1500" u="none" cap="none" strike="noStrike">
              <a:solidFill>
                <a:schemeClr val="dk1"/>
              </a:solidFill>
              <a:latin typeface="Calibri"/>
              <a:ea typeface="Calibri"/>
              <a:cs typeface="Calibri"/>
              <a:sym typeface="Calibri"/>
            </a:endParaRPr>
          </a:p>
          <a:p>
            <a:pPr indent="0" lvl="0" marL="0" marR="0" rtl="0" algn="l">
              <a:lnSpc>
                <a:spcPct val="118000"/>
              </a:lnSpc>
              <a:spcBef>
                <a:spcPts val="400"/>
              </a:spcBef>
              <a:spcAft>
                <a:spcPts val="0"/>
              </a:spcAft>
              <a:buClr>
                <a:srgbClr val="172531"/>
              </a:buClr>
              <a:buSzPts val="1400"/>
              <a:buFont typeface="Calibri"/>
              <a:buNone/>
            </a:pPr>
            <a:r>
              <a:rPr b="0" i="0" lang="en-GB" sz="1500" u="none" cap="none" strike="noStrike">
                <a:solidFill>
                  <a:srgbClr val="172531"/>
                </a:solidFill>
                <a:latin typeface="Calibri"/>
                <a:ea typeface="Calibri"/>
                <a:cs typeface="Calibri"/>
                <a:sym typeface="Calibri"/>
              </a:rPr>
              <a:t>•  Undo part of a transaction, not all of it</a:t>
            </a:r>
            <a:endParaRPr b="0" i="0" sz="1500" u="none" cap="none" strike="noStrike">
              <a:solidFill>
                <a:schemeClr val="dk1"/>
              </a:solidFill>
              <a:latin typeface="Calibri"/>
              <a:ea typeface="Calibri"/>
              <a:cs typeface="Calibri"/>
              <a:sym typeface="Calibri"/>
            </a:endParaRPr>
          </a:p>
        </p:txBody>
      </p:sp>
      <p:sp>
        <p:nvSpPr>
          <p:cNvPr id="832" name="Google Shape;832;p43"/>
          <p:cNvSpPr/>
          <p:nvPr/>
        </p:nvSpPr>
        <p:spPr>
          <a:xfrm>
            <a:off x="411480" y="4457700"/>
            <a:ext cx="8298225" cy="480150"/>
          </a:xfrm>
          <a:prstGeom prst="roundRect">
            <a:avLst>
              <a:gd fmla="val 14286" name="adj"/>
            </a:avLst>
          </a:prstGeom>
          <a:solidFill>
            <a:srgbClr val="142E4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home/claude/icons/arrow_white.png" id="833" name="Google Shape;833;p43"/>
          <p:cNvPicPr preferRelativeResize="0"/>
          <p:nvPr/>
        </p:nvPicPr>
        <p:blipFill rotWithShape="1">
          <a:blip r:embed="rId4">
            <a:alphaModFix/>
          </a:blip>
          <a:srcRect b="0" l="0" r="0" t="0"/>
          <a:stretch/>
        </p:blipFill>
        <p:spPr>
          <a:xfrm>
            <a:off x="582930" y="4581144"/>
            <a:ext cx="233172" cy="233172"/>
          </a:xfrm>
          <a:prstGeom prst="rect">
            <a:avLst/>
          </a:prstGeom>
          <a:noFill/>
          <a:ln>
            <a:noFill/>
          </a:ln>
        </p:spPr>
      </p:pic>
      <p:sp>
        <p:nvSpPr>
          <p:cNvPr id="834" name="Google Shape;834;p43"/>
          <p:cNvSpPr/>
          <p:nvPr/>
        </p:nvSpPr>
        <p:spPr>
          <a:xfrm>
            <a:off x="925830" y="4457700"/>
            <a:ext cx="7612425" cy="4801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4E9"/>
              </a:buClr>
              <a:buSzPts val="1400"/>
              <a:buFont typeface="Calibri"/>
              <a:buNone/>
            </a:pPr>
            <a:r>
              <a:rPr b="0" i="1" lang="en-GB" sz="1400" u="none" cap="none" strike="noStrike">
                <a:solidFill>
                  <a:srgbClr val="DEE4E9"/>
                </a:solidFill>
                <a:latin typeface="Calibri"/>
                <a:ea typeface="Calibri"/>
                <a:cs typeface="Calibri"/>
                <a:sym typeface="Calibri"/>
              </a:rPr>
              <a:t>See the balances move through each checkpoint on the next slide →</a:t>
            </a:r>
            <a:endParaRPr b="0" i="0" sz="1400" u="none" cap="none" strike="noStrike">
              <a:solidFill>
                <a:schemeClr val="dk1"/>
              </a:solidFill>
              <a:latin typeface="Calibri"/>
              <a:ea typeface="Calibri"/>
              <a:cs typeface="Calibri"/>
              <a:sym typeface="Calibri"/>
            </a:endParaRPr>
          </a:p>
        </p:txBody>
      </p:sp>
      <p:sp>
        <p:nvSpPr>
          <p:cNvPr id="835" name="Google Shape;835;p43"/>
          <p:cNvSpPr/>
          <p:nvPr/>
        </p:nvSpPr>
        <p:spPr>
          <a:xfrm>
            <a:off x="8663711" y="4855464"/>
            <a:ext cx="342900"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9AB9D4"/>
              </a:buClr>
              <a:buSzPts val="900"/>
              <a:buFont typeface="Calibri"/>
              <a:buNone/>
            </a:pPr>
            <a:r>
              <a:rPr b="0" i="0" lang="en-GB" sz="1100" u="none" cap="none" strike="noStrike">
                <a:solidFill>
                  <a:srgbClr val="9AB9D4"/>
                </a:solidFill>
                <a:latin typeface="Calibri"/>
                <a:ea typeface="Calibri"/>
                <a:cs typeface="Calibri"/>
                <a:sym typeface="Calibri"/>
              </a:rPr>
              <a:t>28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0" name="Shape 840"/>
        <p:cNvGrpSpPr/>
        <p:nvPr/>
      </p:nvGrpSpPr>
      <p:grpSpPr>
        <a:xfrm>
          <a:off x="0" y="0"/>
          <a:ext cx="0" cy="0"/>
          <a:chOff x="0" y="0"/>
          <a:chExt cx="0" cy="0"/>
        </a:xfrm>
      </p:grpSpPr>
      <p:pic>
        <p:nvPicPr>
          <p:cNvPr descr="/home/claude/assets/newton_logo.png" id="841" name="Google Shape;841;p44"/>
          <p:cNvPicPr preferRelativeResize="0"/>
          <p:nvPr/>
        </p:nvPicPr>
        <p:blipFill rotWithShape="1">
          <a:blip r:embed="rId3">
            <a:alphaModFix/>
          </a:blip>
          <a:srcRect b="0" l="0" r="0" t="0"/>
          <a:stretch/>
        </p:blipFill>
        <p:spPr>
          <a:xfrm>
            <a:off x="8080781" y="164592"/>
            <a:ext cx="788671" cy="233203"/>
          </a:xfrm>
          <a:prstGeom prst="rect">
            <a:avLst/>
          </a:prstGeom>
          <a:noFill/>
          <a:ln>
            <a:noFill/>
          </a:ln>
        </p:spPr>
      </p:pic>
      <p:sp>
        <p:nvSpPr>
          <p:cNvPr id="842" name="Google Shape;842;p44"/>
          <p:cNvSpPr/>
          <p:nvPr/>
        </p:nvSpPr>
        <p:spPr>
          <a:xfrm>
            <a:off x="411480" y="192024"/>
            <a:ext cx="61722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894D7"/>
              </a:buClr>
              <a:buSzPts val="1500"/>
              <a:buFont typeface="Calibri"/>
              <a:buNone/>
            </a:pPr>
            <a:r>
              <a:rPr b="1" i="0" lang="en-GB" sz="1700" u="none" cap="none" strike="noStrike">
                <a:solidFill>
                  <a:srgbClr val="4894D7"/>
                </a:solidFill>
                <a:latin typeface="Calibri"/>
                <a:ea typeface="Calibri"/>
                <a:cs typeface="Calibri"/>
                <a:sym typeface="Calibri"/>
              </a:rPr>
              <a:t>TCL COMMAND 3 · RESULT</a:t>
            </a:r>
            <a:endParaRPr b="0" i="0" sz="1700" u="none" cap="none" strike="noStrike">
              <a:solidFill>
                <a:schemeClr val="dk1"/>
              </a:solidFill>
              <a:latin typeface="Calibri"/>
              <a:ea typeface="Calibri"/>
              <a:cs typeface="Calibri"/>
              <a:sym typeface="Calibri"/>
            </a:endParaRPr>
          </a:p>
        </p:txBody>
      </p:sp>
      <p:sp>
        <p:nvSpPr>
          <p:cNvPr id="843" name="Google Shape;843;p44"/>
          <p:cNvSpPr/>
          <p:nvPr/>
        </p:nvSpPr>
        <p:spPr>
          <a:xfrm>
            <a:off x="411480" y="438912"/>
            <a:ext cx="8160975" cy="466425"/>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B4163"/>
              </a:buClr>
              <a:buSzPts val="2900"/>
              <a:buFont typeface="Cambria"/>
              <a:buNone/>
            </a:pPr>
            <a:r>
              <a:rPr b="1" i="0" lang="en-GB" sz="1800" u="none" cap="none" strike="noStrike">
                <a:solidFill>
                  <a:srgbClr val="1B4163"/>
                </a:solidFill>
                <a:latin typeface="Cambria"/>
                <a:ea typeface="Cambria"/>
                <a:cs typeface="Cambria"/>
                <a:sym typeface="Cambria"/>
              </a:rPr>
              <a:t>SAVEPOINT: tracing each checkpoint</a:t>
            </a:r>
            <a:endParaRPr b="0" i="0" sz="1800" u="none" cap="none" strike="noStrike">
              <a:solidFill>
                <a:schemeClr val="dk1"/>
              </a:solidFill>
              <a:latin typeface="Calibri"/>
              <a:ea typeface="Calibri"/>
              <a:cs typeface="Calibri"/>
              <a:sym typeface="Calibri"/>
            </a:endParaRPr>
          </a:p>
        </p:txBody>
      </p:sp>
      <p:sp>
        <p:nvSpPr>
          <p:cNvPr id="844" name="Google Shape;844;p44"/>
          <p:cNvSpPr/>
          <p:nvPr/>
        </p:nvSpPr>
        <p:spPr>
          <a:xfrm>
            <a:off x="480060" y="1062990"/>
            <a:ext cx="8195400" cy="699525"/>
          </a:xfrm>
          <a:prstGeom prst="roundRect">
            <a:avLst>
              <a:gd fmla="val 8824" name="adj"/>
            </a:avLst>
          </a:prstGeom>
          <a:solidFill>
            <a:srgbClr val="F8FAFB"/>
          </a:solidFill>
          <a:ln cap="flat" cmpd="sng" w="15875">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845" name="Google Shape;845;p44"/>
          <p:cNvSpPr/>
          <p:nvPr/>
        </p:nvSpPr>
        <p:spPr>
          <a:xfrm>
            <a:off x="685800" y="1131570"/>
            <a:ext cx="4320450" cy="288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6E9CC5"/>
              </a:buClr>
              <a:buSzPts val="1400"/>
              <a:buFont typeface="Calibri"/>
              <a:buNone/>
            </a:pPr>
            <a:r>
              <a:rPr b="1" i="0" lang="en-GB" sz="1600" u="none" cap="none" strike="noStrike">
                <a:solidFill>
                  <a:srgbClr val="6E9CC5"/>
                </a:solidFill>
                <a:latin typeface="Calibri"/>
                <a:ea typeface="Calibri"/>
                <a:cs typeface="Calibri"/>
                <a:sym typeface="Calibri"/>
              </a:rPr>
              <a:t>START</a:t>
            </a:r>
            <a:endParaRPr b="0" i="0" sz="1600" u="none" cap="none" strike="noStrike">
              <a:solidFill>
                <a:schemeClr val="dk1"/>
              </a:solidFill>
              <a:latin typeface="Calibri"/>
              <a:ea typeface="Calibri"/>
              <a:cs typeface="Calibri"/>
              <a:sym typeface="Calibri"/>
            </a:endParaRPr>
          </a:p>
        </p:txBody>
      </p:sp>
      <p:sp>
        <p:nvSpPr>
          <p:cNvPr id="846" name="Google Shape;846;p44"/>
          <p:cNvSpPr/>
          <p:nvPr/>
        </p:nvSpPr>
        <p:spPr>
          <a:xfrm>
            <a:off x="685800" y="1447038"/>
            <a:ext cx="4320450" cy="2605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6E9CC5"/>
              </a:buClr>
              <a:buSzPts val="1200"/>
              <a:buFont typeface="Calibri"/>
              <a:buNone/>
            </a:pPr>
            <a:r>
              <a:rPr b="0" i="1" lang="en-GB" sz="1300" u="none" cap="none" strike="noStrike">
                <a:solidFill>
                  <a:srgbClr val="6E9CC5"/>
                </a:solidFill>
                <a:latin typeface="Calibri"/>
                <a:ea typeface="Calibri"/>
                <a:cs typeface="Calibri"/>
                <a:sym typeface="Calibri"/>
              </a:rPr>
              <a:t>transaction begins</a:t>
            </a:r>
            <a:endParaRPr b="0" i="0" sz="1300" u="none" cap="none" strike="noStrike">
              <a:solidFill>
                <a:schemeClr val="dk1"/>
              </a:solidFill>
              <a:latin typeface="Calibri"/>
              <a:ea typeface="Calibri"/>
              <a:cs typeface="Calibri"/>
              <a:sym typeface="Calibri"/>
            </a:endParaRPr>
          </a:p>
        </p:txBody>
      </p:sp>
      <p:sp>
        <p:nvSpPr>
          <p:cNvPr id="847" name="Google Shape;847;p44"/>
          <p:cNvSpPr/>
          <p:nvPr/>
        </p:nvSpPr>
        <p:spPr>
          <a:xfrm>
            <a:off x="4972050" y="1062990"/>
            <a:ext cx="3566250" cy="699525"/>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6E9CC5"/>
              </a:buClr>
              <a:buSzPts val="1300"/>
              <a:buFont typeface="Calibri"/>
              <a:buNone/>
            </a:pPr>
            <a:r>
              <a:rPr b="0" i="0" lang="en-GB" sz="1300" u="none" cap="none" strike="noStrike">
                <a:solidFill>
                  <a:srgbClr val="6E9CC5"/>
                </a:solidFill>
                <a:latin typeface="Calibri"/>
                <a:ea typeface="Calibri"/>
                <a:cs typeface="Calibri"/>
                <a:sym typeface="Calibri"/>
              </a:rPr>
              <a:t>A:  </a:t>
            </a:r>
            <a:r>
              <a:rPr b="1" i="0" lang="en-GB" sz="1500" u="none" cap="none" strike="noStrike">
                <a:solidFill>
                  <a:srgbClr val="172531"/>
                </a:solidFill>
                <a:latin typeface="Consolas"/>
                <a:ea typeface="Consolas"/>
                <a:cs typeface="Consolas"/>
                <a:sym typeface="Consolas"/>
              </a:rPr>
              <a:t>10,000</a:t>
            </a:r>
            <a:r>
              <a:rPr b="0" i="0" lang="en-GB" sz="1300" u="none" cap="none" strike="noStrike">
                <a:solidFill>
                  <a:srgbClr val="6E9CC5"/>
                </a:solidFill>
                <a:latin typeface="Calibri"/>
                <a:ea typeface="Calibri"/>
                <a:cs typeface="Calibri"/>
                <a:sym typeface="Calibri"/>
              </a:rPr>
              <a:t>      B:  </a:t>
            </a:r>
            <a:r>
              <a:rPr b="1" i="0" lang="en-GB" sz="1500" u="none" cap="none" strike="noStrike">
                <a:solidFill>
                  <a:srgbClr val="172531"/>
                </a:solidFill>
                <a:latin typeface="Consolas"/>
                <a:ea typeface="Consolas"/>
                <a:cs typeface="Consolas"/>
                <a:sym typeface="Consolas"/>
              </a:rPr>
              <a:t>8,000</a:t>
            </a:r>
            <a:endParaRPr b="0" i="0" sz="1300" u="none" cap="none" strike="noStrike">
              <a:solidFill>
                <a:schemeClr val="dk1"/>
              </a:solidFill>
              <a:latin typeface="Calibri"/>
              <a:ea typeface="Calibri"/>
              <a:cs typeface="Calibri"/>
              <a:sym typeface="Calibri"/>
            </a:endParaRPr>
          </a:p>
        </p:txBody>
      </p:sp>
      <p:pic>
        <p:nvPicPr>
          <p:cNvPr descr="/home/claude/icons/arrow_white.png" id="848" name="Google Shape;848;p44"/>
          <p:cNvPicPr preferRelativeResize="0"/>
          <p:nvPr/>
        </p:nvPicPr>
        <p:blipFill rotWithShape="1">
          <a:blip r:embed="rId4">
            <a:alphaModFix/>
          </a:blip>
          <a:srcRect b="0" l="0" r="0" t="0"/>
          <a:stretch/>
        </p:blipFill>
        <p:spPr>
          <a:xfrm rot="5400000">
            <a:off x="4488561" y="1769364"/>
            <a:ext cx="178308" cy="178308"/>
          </a:xfrm>
          <a:prstGeom prst="rect">
            <a:avLst/>
          </a:prstGeom>
          <a:noFill/>
          <a:ln>
            <a:noFill/>
          </a:ln>
        </p:spPr>
      </p:pic>
      <p:sp>
        <p:nvSpPr>
          <p:cNvPr id="849" name="Google Shape;849;p44"/>
          <p:cNvSpPr/>
          <p:nvPr/>
        </p:nvSpPr>
        <p:spPr>
          <a:xfrm>
            <a:off x="480060" y="1858518"/>
            <a:ext cx="8195400" cy="699525"/>
          </a:xfrm>
          <a:prstGeom prst="roundRect">
            <a:avLst>
              <a:gd fmla="val 8824" name="adj"/>
            </a:avLst>
          </a:prstGeom>
          <a:solidFill>
            <a:srgbClr val="F8FAFB"/>
          </a:solidFill>
          <a:ln cap="flat" cmpd="sng" w="15875">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850" name="Google Shape;850;p44"/>
          <p:cNvSpPr/>
          <p:nvPr/>
        </p:nvSpPr>
        <p:spPr>
          <a:xfrm>
            <a:off x="685800" y="1927098"/>
            <a:ext cx="4320450" cy="288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894D7"/>
              </a:buClr>
              <a:buSzPts val="1400"/>
              <a:buFont typeface="Calibri"/>
              <a:buNone/>
            </a:pPr>
            <a:r>
              <a:rPr b="1" i="0" lang="en-GB" sz="1600" u="none" cap="none" strike="noStrike">
                <a:solidFill>
                  <a:srgbClr val="4894D7"/>
                </a:solidFill>
                <a:latin typeface="Calibri"/>
                <a:ea typeface="Calibri"/>
                <a:cs typeface="Calibri"/>
                <a:sym typeface="Calibri"/>
              </a:rPr>
              <a:t>AFTER STEP 1 → SAVEPOINT sp1</a:t>
            </a:r>
            <a:endParaRPr b="0" i="0" sz="1600" u="none" cap="none" strike="noStrike">
              <a:solidFill>
                <a:schemeClr val="dk1"/>
              </a:solidFill>
              <a:latin typeface="Calibri"/>
              <a:ea typeface="Calibri"/>
              <a:cs typeface="Calibri"/>
              <a:sym typeface="Calibri"/>
            </a:endParaRPr>
          </a:p>
        </p:txBody>
      </p:sp>
      <p:sp>
        <p:nvSpPr>
          <p:cNvPr id="851" name="Google Shape;851;p44"/>
          <p:cNvSpPr/>
          <p:nvPr/>
        </p:nvSpPr>
        <p:spPr>
          <a:xfrm>
            <a:off x="685800" y="2242566"/>
            <a:ext cx="4320450" cy="2605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6E9CC5"/>
              </a:buClr>
              <a:buSzPts val="1200"/>
              <a:buFont typeface="Calibri"/>
              <a:buNone/>
            </a:pPr>
            <a:r>
              <a:rPr b="0" i="1" lang="en-GB" sz="1300" u="none" cap="none" strike="noStrike">
                <a:solidFill>
                  <a:srgbClr val="6E9CC5"/>
                </a:solidFill>
                <a:latin typeface="Calibri"/>
                <a:ea typeface="Calibri"/>
                <a:cs typeface="Calibri"/>
                <a:sym typeface="Calibri"/>
              </a:rPr>
              <a:t>checkpoint sp1 marks this state</a:t>
            </a:r>
            <a:endParaRPr b="0" i="0" sz="1300" u="none" cap="none" strike="noStrike">
              <a:solidFill>
                <a:schemeClr val="dk1"/>
              </a:solidFill>
              <a:latin typeface="Calibri"/>
              <a:ea typeface="Calibri"/>
              <a:cs typeface="Calibri"/>
              <a:sym typeface="Calibri"/>
            </a:endParaRPr>
          </a:p>
        </p:txBody>
      </p:sp>
      <p:sp>
        <p:nvSpPr>
          <p:cNvPr id="852" name="Google Shape;852;p44"/>
          <p:cNvSpPr/>
          <p:nvPr/>
        </p:nvSpPr>
        <p:spPr>
          <a:xfrm>
            <a:off x="4972050" y="1858518"/>
            <a:ext cx="3566250" cy="699525"/>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6E9CC5"/>
              </a:buClr>
              <a:buSzPts val="1300"/>
              <a:buFont typeface="Calibri"/>
              <a:buNone/>
            </a:pPr>
            <a:r>
              <a:rPr b="0" i="0" lang="en-GB" sz="1300" u="none" cap="none" strike="noStrike">
                <a:solidFill>
                  <a:srgbClr val="6E9CC5"/>
                </a:solidFill>
                <a:latin typeface="Calibri"/>
                <a:ea typeface="Calibri"/>
                <a:cs typeface="Calibri"/>
                <a:sym typeface="Calibri"/>
              </a:rPr>
              <a:t>A:  </a:t>
            </a:r>
            <a:r>
              <a:rPr b="1" i="0" lang="en-GB" sz="1500" u="none" cap="none" strike="noStrike">
                <a:solidFill>
                  <a:srgbClr val="172531"/>
                </a:solidFill>
                <a:latin typeface="Consolas"/>
                <a:ea typeface="Consolas"/>
                <a:cs typeface="Consolas"/>
                <a:sym typeface="Consolas"/>
              </a:rPr>
              <a:t>5,000</a:t>
            </a:r>
            <a:r>
              <a:rPr b="0" i="0" lang="en-GB" sz="1300" u="none" cap="none" strike="noStrike">
                <a:solidFill>
                  <a:srgbClr val="6E9CC5"/>
                </a:solidFill>
                <a:latin typeface="Calibri"/>
                <a:ea typeface="Calibri"/>
                <a:cs typeface="Calibri"/>
                <a:sym typeface="Calibri"/>
              </a:rPr>
              <a:t>      B:  </a:t>
            </a:r>
            <a:r>
              <a:rPr b="1" i="0" lang="en-GB" sz="1500" u="none" cap="none" strike="noStrike">
                <a:solidFill>
                  <a:srgbClr val="172531"/>
                </a:solidFill>
                <a:latin typeface="Consolas"/>
                <a:ea typeface="Consolas"/>
                <a:cs typeface="Consolas"/>
                <a:sym typeface="Consolas"/>
              </a:rPr>
              <a:t>8,000</a:t>
            </a:r>
            <a:endParaRPr b="0" i="0" sz="1300" u="none" cap="none" strike="noStrike">
              <a:solidFill>
                <a:schemeClr val="dk1"/>
              </a:solidFill>
              <a:latin typeface="Calibri"/>
              <a:ea typeface="Calibri"/>
              <a:cs typeface="Calibri"/>
              <a:sym typeface="Calibri"/>
            </a:endParaRPr>
          </a:p>
        </p:txBody>
      </p:sp>
      <p:pic>
        <p:nvPicPr>
          <p:cNvPr descr="/home/claude/icons/arrow_white.png" id="853" name="Google Shape;853;p44"/>
          <p:cNvPicPr preferRelativeResize="0"/>
          <p:nvPr/>
        </p:nvPicPr>
        <p:blipFill rotWithShape="1">
          <a:blip r:embed="rId4">
            <a:alphaModFix/>
          </a:blip>
          <a:srcRect b="0" l="0" r="0" t="0"/>
          <a:stretch/>
        </p:blipFill>
        <p:spPr>
          <a:xfrm rot="5400000">
            <a:off x="4488561" y="2564892"/>
            <a:ext cx="178308" cy="178308"/>
          </a:xfrm>
          <a:prstGeom prst="rect">
            <a:avLst/>
          </a:prstGeom>
          <a:noFill/>
          <a:ln>
            <a:noFill/>
          </a:ln>
        </p:spPr>
      </p:pic>
      <p:sp>
        <p:nvSpPr>
          <p:cNvPr id="854" name="Google Shape;854;p44"/>
          <p:cNvSpPr/>
          <p:nvPr/>
        </p:nvSpPr>
        <p:spPr>
          <a:xfrm>
            <a:off x="480060" y="2654046"/>
            <a:ext cx="8195400" cy="699525"/>
          </a:xfrm>
          <a:prstGeom prst="roundRect">
            <a:avLst>
              <a:gd fmla="val 8824" name="adj"/>
            </a:avLst>
          </a:prstGeom>
          <a:solidFill>
            <a:srgbClr val="F8FAFB"/>
          </a:solidFill>
          <a:ln cap="flat" cmpd="sng" w="15875">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855" name="Google Shape;855;p44"/>
          <p:cNvSpPr/>
          <p:nvPr/>
        </p:nvSpPr>
        <p:spPr>
          <a:xfrm>
            <a:off x="685800" y="2722626"/>
            <a:ext cx="4320450" cy="288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99AE1"/>
              </a:buClr>
              <a:buSzPts val="1400"/>
              <a:buFont typeface="Calibri"/>
              <a:buNone/>
            </a:pPr>
            <a:r>
              <a:rPr b="1" i="0" lang="en-GB" sz="1600" u="none" cap="none" strike="noStrike">
                <a:solidFill>
                  <a:srgbClr val="499AE1"/>
                </a:solidFill>
                <a:latin typeface="Calibri"/>
                <a:ea typeface="Calibri"/>
                <a:cs typeface="Calibri"/>
                <a:sym typeface="Calibri"/>
              </a:rPr>
              <a:t>AFTER STEP 2 → SAVEPOINT sp2</a:t>
            </a:r>
            <a:endParaRPr b="0" i="0" sz="1600" u="none" cap="none" strike="noStrike">
              <a:solidFill>
                <a:schemeClr val="dk1"/>
              </a:solidFill>
              <a:latin typeface="Calibri"/>
              <a:ea typeface="Calibri"/>
              <a:cs typeface="Calibri"/>
              <a:sym typeface="Calibri"/>
            </a:endParaRPr>
          </a:p>
        </p:txBody>
      </p:sp>
      <p:sp>
        <p:nvSpPr>
          <p:cNvPr id="856" name="Google Shape;856;p44"/>
          <p:cNvSpPr/>
          <p:nvPr/>
        </p:nvSpPr>
        <p:spPr>
          <a:xfrm>
            <a:off x="685800" y="3038094"/>
            <a:ext cx="4320450" cy="2605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6E9CC5"/>
              </a:buClr>
              <a:buSzPts val="1200"/>
              <a:buFont typeface="Calibri"/>
              <a:buNone/>
            </a:pPr>
            <a:r>
              <a:rPr b="0" i="1" lang="en-GB" sz="1300" u="none" cap="none" strike="noStrike">
                <a:solidFill>
                  <a:srgbClr val="6E9CC5"/>
                </a:solidFill>
                <a:latin typeface="Calibri"/>
                <a:ea typeface="Calibri"/>
                <a:cs typeface="Calibri"/>
                <a:sym typeface="Calibri"/>
              </a:rPr>
              <a:t>checkpoint sp2 marks this state</a:t>
            </a:r>
            <a:endParaRPr b="0" i="0" sz="1300" u="none" cap="none" strike="noStrike">
              <a:solidFill>
                <a:schemeClr val="dk1"/>
              </a:solidFill>
              <a:latin typeface="Calibri"/>
              <a:ea typeface="Calibri"/>
              <a:cs typeface="Calibri"/>
              <a:sym typeface="Calibri"/>
            </a:endParaRPr>
          </a:p>
        </p:txBody>
      </p:sp>
      <p:sp>
        <p:nvSpPr>
          <p:cNvPr id="857" name="Google Shape;857;p44"/>
          <p:cNvSpPr/>
          <p:nvPr/>
        </p:nvSpPr>
        <p:spPr>
          <a:xfrm>
            <a:off x="4972050" y="2654046"/>
            <a:ext cx="3566250" cy="699525"/>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6E9CC5"/>
              </a:buClr>
              <a:buSzPts val="1300"/>
              <a:buFont typeface="Calibri"/>
              <a:buNone/>
            </a:pPr>
            <a:r>
              <a:rPr b="0" i="0" lang="en-GB" sz="1300" u="none" cap="none" strike="noStrike">
                <a:solidFill>
                  <a:srgbClr val="6E9CC5"/>
                </a:solidFill>
                <a:latin typeface="Calibri"/>
                <a:ea typeface="Calibri"/>
                <a:cs typeface="Calibri"/>
                <a:sym typeface="Calibri"/>
              </a:rPr>
              <a:t>A:  </a:t>
            </a:r>
            <a:r>
              <a:rPr b="1" i="0" lang="en-GB" sz="1500" u="none" cap="none" strike="noStrike">
                <a:solidFill>
                  <a:srgbClr val="172531"/>
                </a:solidFill>
                <a:latin typeface="Consolas"/>
                <a:ea typeface="Consolas"/>
                <a:cs typeface="Consolas"/>
                <a:sym typeface="Consolas"/>
              </a:rPr>
              <a:t>5,000</a:t>
            </a:r>
            <a:r>
              <a:rPr b="0" i="0" lang="en-GB" sz="1300" u="none" cap="none" strike="noStrike">
                <a:solidFill>
                  <a:srgbClr val="6E9CC5"/>
                </a:solidFill>
                <a:latin typeface="Calibri"/>
                <a:ea typeface="Calibri"/>
                <a:cs typeface="Calibri"/>
                <a:sym typeface="Calibri"/>
              </a:rPr>
              <a:t>      B:  </a:t>
            </a:r>
            <a:r>
              <a:rPr b="1" i="0" lang="en-GB" sz="1500" u="none" cap="none" strike="noStrike">
                <a:solidFill>
                  <a:srgbClr val="172531"/>
                </a:solidFill>
                <a:latin typeface="Consolas"/>
                <a:ea typeface="Consolas"/>
                <a:cs typeface="Consolas"/>
                <a:sym typeface="Consolas"/>
              </a:rPr>
              <a:t>13,000</a:t>
            </a:r>
            <a:endParaRPr b="0" i="0" sz="1300" u="none" cap="none" strike="noStrike">
              <a:solidFill>
                <a:schemeClr val="dk1"/>
              </a:solidFill>
              <a:latin typeface="Calibri"/>
              <a:ea typeface="Calibri"/>
              <a:cs typeface="Calibri"/>
              <a:sym typeface="Calibri"/>
            </a:endParaRPr>
          </a:p>
        </p:txBody>
      </p:sp>
      <p:pic>
        <p:nvPicPr>
          <p:cNvPr descr="/home/claude/icons/arrow_white.png" id="858" name="Google Shape;858;p44"/>
          <p:cNvPicPr preferRelativeResize="0"/>
          <p:nvPr/>
        </p:nvPicPr>
        <p:blipFill rotWithShape="1">
          <a:blip r:embed="rId4">
            <a:alphaModFix/>
          </a:blip>
          <a:srcRect b="0" l="0" r="0" t="0"/>
          <a:stretch/>
        </p:blipFill>
        <p:spPr>
          <a:xfrm rot="5400000">
            <a:off x="4488561" y="3360420"/>
            <a:ext cx="178308" cy="178308"/>
          </a:xfrm>
          <a:prstGeom prst="rect">
            <a:avLst/>
          </a:prstGeom>
          <a:noFill/>
          <a:ln>
            <a:noFill/>
          </a:ln>
        </p:spPr>
      </p:pic>
      <p:sp>
        <p:nvSpPr>
          <p:cNvPr id="859" name="Google Shape;859;p44"/>
          <p:cNvSpPr/>
          <p:nvPr/>
        </p:nvSpPr>
        <p:spPr>
          <a:xfrm>
            <a:off x="480060" y="3449574"/>
            <a:ext cx="8195400" cy="699525"/>
          </a:xfrm>
          <a:prstGeom prst="roundRect">
            <a:avLst>
              <a:gd fmla="val 8824" name="adj"/>
            </a:avLst>
          </a:prstGeom>
          <a:solidFill>
            <a:srgbClr val="EDF1F4"/>
          </a:solidFill>
          <a:ln cap="flat" cmpd="sng" w="15875">
            <a:solidFill>
              <a:srgbClr val="2784D7"/>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860" name="Google Shape;860;p44"/>
          <p:cNvSpPr/>
          <p:nvPr/>
        </p:nvSpPr>
        <p:spPr>
          <a:xfrm>
            <a:off x="685800" y="3518154"/>
            <a:ext cx="4320450" cy="288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784D7"/>
              </a:buClr>
              <a:buSzPts val="1400"/>
              <a:buFont typeface="Calibri"/>
              <a:buNone/>
            </a:pPr>
            <a:r>
              <a:rPr b="1" i="0" lang="en-GB" sz="1600" u="none" cap="none" strike="noStrike">
                <a:solidFill>
                  <a:srgbClr val="2784D7"/>
                </a:solidFill>
                <a:latin typeface="Calibri"/>
                <a:ea typeface="Calibri"/>
                <a:cs typeface="Calibri"/>
                <a:sym typeface="Calibri"/>
              </a:rPr>
              <a:t>ROLLBACK TO sp1</a:t>
            </a:r>
            <a:endParaRPr b="0" i="0" sz="1600" u="none" cap="none" strike="noStrike">
              <a:solidFill>
                <a:schemeClr val="dk1"/>
              </a:solidFill>
              <a:latin typeface="Calibri"/>
              <a:ea typeface="Calibri"/>
              <a:cs typeface="Calibri"/>
              <a:sym typeface="Calibri"/>
            </a:endParaRPr>
          </a:p>
        </p:txBody>
      </p:sp>
      <p:sp>
        <p:nvSpPr>
          <p:cNvPr id="861" name="Google Shape;861;p44"/>
          <p:cNvSpPr/>
          <p:nvPr/>
        </p:nvSpPr>
        <p:spPr>
          <a:xfrm>
            <a:off x="685800" y="3833622"/>
            <a:ext cx="4320450" cy="2605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6E9CC5"/>
              </a:buClr>
              <a:buSzPts val="1200"/>
              <a:buFont typeface="Calibri"/>
              <a:buNone/>
            </a:pPr>
            <a:r>
              <a:rPr b="0" i="1" lang="en-GB" sz="1300" u="none" cap="none" strike="noStrike">
                <a:solidFill>
                  <a:srgbClr val="6E9CC5"/>
                </a:solidFill>
                <a:latin typeface="Calibri"/>
                <a:ea typeface="Calibri"/>
                <a:cs typeface="Calibri"/>
                <a:sym typeface="Calibri"/>
              </a:rPr>
              <a:t>✓ only step 2 undone — step 1 kept</a:t>
            </a:r>
            <a:endParaRPr b="0" i="0" sz="1300" u="none" cap="none" strike="noStrike">
              <a:solidFill>
                <a:schemeClr val="dk1"/>
              </a:solidFill>
              <a:latin typeface="Calibri"/>
              <a:ea typeface="Calibri"/>
              <a:cs typeface="Calibri"/>
              <a:sym typeface="Calibri"/>
            </a:endParaRPr>
          </a:p>
        </p:txBody>
      </p:sp>
      <p:sp>
        <p:nvSpPr>
          <p:cNvPr id="862" name="Google Shape;862;p44"/>
          <p:cNvSpPr/>
          <p:nvPr/>
        </p:nvSpPr>
        <p:spPr>
          <a:xfrm>
            <a:off x="4972050" y="3449574"/>
            <a:ext cx="3566250" cy="699525"/>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6E9CC5"/>
              </a:buClr>
              <a:buSzPts val="1300"/>
              <a:buFont typeface="Calibri"/>
              <a:buNone/>
            </a:pPr>
            <a:r>
              <a:rPr b="0" i="0" lang="en-GB" sz="1300" u="none" cap="none" strike="noStrike">
                <a:solidFill>
                  <a:srgbClr val="6E9CC5"/>
                </a:solidFill>
                <a:latin typeface="Calibri"/>
                <a:ea typeface="Calibri"/>
                <a:cs typeface="Calibri"/>
                <a:sym typeface="Calibri"/>
              </a:rPr>
              <a:t>A:  </a:t>
            </a:r>
            <a:r>
              <a:rPr b="1" i="0" lang="en-GB" sz="1500" u="none" cap="none" strike="noStrike">
                <a:solidFill>
                  <a:srgbClr val="172531"/>
                </a:solidFill>
                <a:latin typeface="Consolas"/>
                <a:ea typeface="Consolas"/>
                <a:cs typeface="Consolas"/>
                <a:sym typeface="Consolas"/>
              </a:rPr>
              <a:t>5,000</a:t>
            </a:r>
            <a:r>
              <a:rPr b="0" i="0" lang="en-GB" sz="1300" u="none" cap="none" strike="noStrike">
                <a:solidFill>
                  <a:srgbClr val="6E9CC5"/>
                </a:solidFill>
                <a:latin typeface="Calibri"/>
                <a:ea typeface="Calibri"/>
                <a:cs typeface="Calibri"/>
                <a:sym typeface="Calibri"/>
              </a:rPr>
              <a:t>      B:  </a:t>
            </a:r>
            <a:r>
              <a:rPr b="1" i="0" lang="en-GB" sz="1500" u="none" cap="none" strike="noStrike">
                <a:solidFill>
                  <a:srgbClr val="172531"/>
                </a:solidFill>
                <a:latin typeface="Consolas"/>
                <a:ea typeface="Consolas"/>
                <a:cs typeface="Consolas"/>
                <a:sym typeface="Consolas"/>
              </a:rPr>
              <a:t>8,000</a:t>
            </a:r>
            <a:endParaRPr b="0" i="0" sz="1300" u="none" cap="none" strike="noStrike">
              <a:solidFill>
                <a:schemeClr val="dk1"/>
              </a:solidFill>
              <a:latin typeface="Calibri"/>
              <a:ea typeface="Calibri"/>
              <a:cs typeface="Calibri"/>
              <a:sym typeface="Calibri"/>
            </a:endParaRPr>
          </a:p>
        </p:txBody>
      </p:sp>
      <p:sp>
        <p:nvSpPr>
          <p:cNvPr id="863" name="Google Shape;863;p44"/>
          <p:cNvSpPr/>
          <p:nvPr/>
        </p:nvSpPr>
        <p:spPr>
          <a:xfrm>
            <a:off x="411480" y="4327398"/>
            <a:ext cx="8298225" cy="617175"/>
          </a:xfrm>
          <a:prstGeom prst="roundRect">
            <a:avLst>
              <a:gd fmla="val 11111" name="adj"/>
            </a:avLst>
          </a:prstGeom>
          <a:solidFill>
            <a:srgbClr val="F8FAFB"/>
          </a:solidFill>
          <a:ln cap="flat" cmpd="sng" w="12700">
            <a:solidFill>
              <a:srgbClr val="E2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864" name="Google Shape;864;p44"/>
          <p:cNvSpPr/>
          <p:nvPr/>
        </p:nvSpPr>
        <p:spPr>
          <a:xfrm>
            <a:off x="617220" y="4327398"/>
            <a:ext cx="7886700" cy="617175"/>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1B4163"/>
              </a:buClr>
              <a:buSzPts val="1200"/>
              <a:buFont typeface="Calibri"/>
              <a:buNone/>
            </a:pPr>
            <a:r>
              <a:rPr b="1" i="0" lang="en-GB" sz="1400" u="none" cap="none" strike="noStrike">
                <a:solidFill>
                  <a:srgbClr val="1B4163"/>
                </a:solidFill>
                <a:latin typeface="Calibri"/>
                <a:ea typeface="Calibri"/>
                <a:cs typeface="Calibri"/>
                <a:sym typeface="Calibri"/>
              </a:rPr>
              <a:t>The point of SAVEPOINT: </a:t>
            </a:r>
            <a:r>
              <a:rPr b="0" i="0" lang="en-GB" sz="1400" u="none" cap="none" strike="noStrike">
                <a:solidFill>
                  <a:srgbClr val="172531"/>
                </a:solidFill>
                <a:latin typeface="Calibri"/>
                <a:ea typeface="Calibri"/>
                <a:cs typeface="Calibri"/>
                <a:sym typeface="Calibri"/>
              </a:rPr>
              <a:t>ROLLBACK TO sp1 undoes only the credit to B — the debit from A (before sp1) stays exactly as it was.</a:t>
            </a:r>
            <a:endParaRPr b="0" i="0" sz="1400" u="none" cap="none" strike="noStrike">
              <a:solidFill>
                <a:schemeClr val="dk1"/>
              </a:solidFill>
              <a:latin typeface="Calibri"/>
              <a:ea typeface="Calibri"/>
              <a:cs typeface="Calibri"/>
              <a:sym typeface="Calibri"/>
            </a:endParaRPr>
          </a:p>
        </p:txBody>
      </p:sp>
      <p:sp>
        <p:nvSpPr>
          <p:cNvPr id="865" name="Google Shape;865;p44"/>
          <p:cNvSpPr/>
          <p:nvPr/>
        </p:nvSpPr>
        <p:spPr>
          <a:xfrm>
            <a:off x="8663711" y="4855464"/>
            <a:ext cx="342900"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9AB9D4"/>
              </a:buClr>
              <a:buSzPts val="900"/>
              <a:buFont typeface="Calibri"/>
              <a:buNone/>
            </a:pPr>
            <a:r>
              <a:rPr b="0" i="0" lang="en-GB" sz="1100" u="none" cap="none" strike="noStrike">
                <a:solidFill>
                  <a:srgbClr val="9AB9D4"/>
                </a:solidFill>
                <a:latin typeface="Calibri"/>
                <a:ea typeface="Calibri"/>
                <a:cs typeface="Calibri"/>
                <a:sym typeface="Calibri"/>
              </a:rPr>
              <a:t>29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870" name="Shape 870"/>
        <p:cNvGrpSpPr/>
        <p:nvPr/>
      </p:nvGrpSpPr>
      <p:grpSpPr>
        <a:xfrm>
          <a:off x="0" y="0"/>
          <a:ext cx="0" cy="0"/>
          <a:chOff x="0" y="0"/>
          <a:chExt cx="0" cy="0"/>
        </a:xfrm>
      </p:grpSpPr>
      <p:sp>
        <p:nvSpPr>
          <p:cNvPr id="871" name="Google Shape;871;p45"/>
          <p:cNvSpPr/>
          <p:nvPr/>
        </p:nvSpPr>
        <p:spPr>
          <a:xfrm>
            <a:off x="411480" y="673667"/>
            <a:ext cx="82296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2000" u="none" cap="none" strike="noStrike">
                <a:solidFill>
                  <a:srgbClr val="FFFFFF"/>
                </a:solidFill>
                <a:latin typeface="Cambria"/>
                <a:ea typeface="Cambria"/>
                <a:cs typeface="Cambria"/>
                <a:sym typeface="Cambria"/>
              </a:rPr>
              <a:t>Checkpoint — TCL</a:t>
            </a:r>
            <a:endParaRPr b="0" i="0" sz="2000" u="none" cap="none" strike="noStrike">
              <a:solidFill>
                <a:schemeClr val="dk1"/>
              </a:solidFill>
              <a:latin typeface="Calibri"/>
              <a:ea typeface="Calibri"/>
              <a:cs typeface="Calibri"/>
              <a:sym typeface="Calibri"/>
            </a:endParaRPr>
          </a:p>
        </p:txBody>
      </p:sp>
      <p:sp>
        <p:nvSpPr>
          <p:cNvPr id="872" name="Google Shape;872;p45"/>
          <p:cNvSpPr/>
          <p:nvPr/>
        </p:nvSpPr>
        <p:spPr>
          <a:xfrm>
            <a:off x="411475" y="1303175"/>
            <a:ext cx="7998900" cy="3019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1.  Why are transactions critical in financial systems?</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2.  What happens to the changes if COMMIT is never executed?</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3.  Why might SAVEPOINT be useful in a long, multi-step workflow?</a:t>
            </a:r>
            <a:endParaRPr b="0" i="0" sz="2100" u="none" cap="none" strike="noStrike">
              <a:solidFill>
                <a:srgbClr val="DBE3EB"/>
              </a:solidFill>
              <a:latin typeface="Calibri"/>
              <a:ea typeface="Calibri"/>
              <a:cs typeface="Calibri"/>
              <a:sym typeface="Calibri"/>
            </a:endParaRPr>
          </a:p>
        </p:txBody>
      </p:sp>
      <p:pic>
        <p:nvPicPr>
          <p:cNvPr descr="/home/claude/dbms_lecture2/logo/newton_logo_white.png" id="873" name="Google Shape;873;p45"/>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874" name="Google Shape;874;p45"/>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879" name="Shape 879"/>
        <p:cNvGrpSpPr/>
        <p:nvPr/>
      </p:nvGrpSpPr>
      <p:grpSpPr>
        <a:xfrm>
          <a:off x="0" y="0"/>
          <a:ext cx="0" cy="0"/>
          <a:chOff x="0" y="0"/>
          <a:chExt cx="0" cy="0"/>
        </a:xfrm>
      </p:grpSpPr>
      <p:sp>
        <p:nvSpPr>
          <p:cNvPr id="880" name="Google Shape;880;p46"/>
          <p:cNvSpPr/>
          <p:nvPr/>
        </p:nvSpPr>
        <p:spPr>
          <a:xfrm>
            <a:off x="411505" y="544368"/>
            <a:ext cx="82296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1800" u="none" cap="none" strike="noStrike">
                <a:solidFill>
                  <a:srgbClr val="FFFFFF"/>
                </a:solidFill>
                <a:latin typeface="Cambria"/>
                <a:ea typeface="Cambria"/>
                <a:cs typeface="Cambria"/>
                <a:sym typeface="Cambria"/>
              </a:rPr>
              <a:t>Checkpoint — TCL</a:t>
            </a:r>
            <a:endParaRPr b="0" i="0" sz="1800" u="none" cap="none" strike="noStrike">
              <a:solidFill>
                <a:schemeClr val="dk1"/>
              </a:solidFill>
              <a:latin typeface="Calibri"/>
              <a:ea typeface="Calibri"/>
              <a:cs typeface="Calibri"/>
              <a:sym typeface="Calibri"/>
            </a:endParaRPr>
          </a:p>
        </p:txBody>
      </p:sp>
      <p:sp>
        <p:nvSpPr>
          <p:cNvPr id="881" name="Google Shape;881;p46"/>
          <p:cNvSpPr/>
          <p:nvPr/>
        </p:nvSpPr>
        <p:spPr>
          <a:xfrm>
            <a:off x="411500" y="1111825"/>
            <a:ext cx="7998900" cy="3485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300"/>
              <a:buFont typeface="Calibri"/>
              <a:buNone/>
            </a:pPr>
            <a:r>
              <a:rPr b="1" i="0" lang="en-GB" sz="1800" u="none" cap="none" strike="noStrike">
                <a:solidFill>
                  <a:schemeClr val="lt1"/>
                </a:solidFill>
                <a:latin typeface="Calibri"/>
                <a:ea typeface="Calibri"/>
                <a:cs typeface="Calibri"/>
                <a:sym typeface="Calibri"/>
              </a:rPr>
              <a:t>1.  Why are transactions critical in financial systems?</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65A9E6"/>
              </a:buClr>
              <a:buSzPts val="1100"/>
              <a:buFont typeface="Calibri"/>
              <a:buNone/>
            </a:pPr>
            <a:r>
              <a:rPr b="1" i="0" lang="en-GB" sz="1800" u="none" cap="none" strike="noStrike">
                <a:solidFill>
                  <a:srgbClr val="65A9E6"/>
                </a:solidFill>
                <a:latin typeface="Calibri"/>
                <a:ea typeface="Calibri"/>
                <a:cs typeface="Calibri"/>
                <a:sym typeface="Calibri"/>
              </a:rPr>
              <a:t>A: </a:t>
            </a:r>
            <a:r>
              <a:rPr b="0" i="0" lang="en-GB" sz="1800" u="none" cap="none" strike="noStrike">
                <a:solidFill>
                  <a:srgbClr val="EAEDF0"/>
                </a:solidFill>
                <a:latin typeface="Calibri"/>
                <a:ea typeface="Calibri"/>
                <a:cs typeface="Calibri"/>
                <a:sym typeface="Calibri"/>
              </a:rPr>
              <a:t>They guarantee a multi-step operation, like a funds transfer, either completes fully or not at all — preventing money from vanishing if the system crashes mid-way.</a:t>
            </a:r>
            <a:endParaRPr b="0" i="0" sz="1800" u="none" cap="none" strike="noStrike">
              <a:solidFill>
                <a:srgbClr val="EAEDF0"/>
              </a:solidFill>
              <a:latin typeface="Calibri"/>
              <a:ea typeface="Calibri"/>
              <a:cs typeface="Calibri"/>
              <a:sym typeface="Calibri"/>
            </a:endParaRPr>
          </a:p>
          <a:p>
            <a:pPr indent="0" lvl="0" marL="177800" marR="0" rtl="0" algn="l">
              <a:lnSpc>
                <a:spcPct val="100000"/>
              </a:lnSpc>
              <a:spcBef>
                <a:spcPts val="300"/>
              </a:spcBef>
              <a:spcAft>
                <a:spcPts val="0"/>
              </a:spcAft>
              <a:buClr>
                <a:srgbClr val="65A9E6"/>
              </a:buClr>
              <a:buSzPts val="1100"/>
              <a:buFont typeface="Calibri"/>
              <a:buNone/>
            </a:pPr>
            <a:r>
              <a:t/>
            </a:r>
            <a:endParaRPr sz="1800">
              <a:solidFill>
                <a:srgbClr val="EAEDF0"/>
              </a:solidFill>
              <a:latin typeface="Calibri"/>
              <a:ea typeface="Calibri"/>
              <a:cs typeface="Calibri"/>
              <a:sym typeface="Calibri"/>
            </a:endParaRPr>
          </a:p>
          <a:p>
            <a:pPr indent="0" lvl="0" marL="0" marR="0" rtl="0" algn="l">
              <a:lnSpc>
                <a:spcPct val="100000"/>
              </a:lnSpc>
              <a:spcBef>
                <a:spcPts val="1100"/>
              </a:spcBef>
              <a:spcAft>
                <a:spcPts val="0"/>
              </a:spcAft>
              <a:buClr>
                <a:schemeClr val="lt1"/>
              </a:buClr>
              <a:buSzPts val="1300"/>
              <a:buFont typeface="Calibri"/>
              <a:buNone/>
            </a:pPr>
            <a:r>
              <a:rPr b="1" i="0" lang="en-GB" sz="1800" u="none" cap="none" strike="noStrike">
                <a:solidFill>
                  <a:schemeClr val="lt1"/>
                </a:solidFill>
                <a:latin typeface="Calibri"/>
                <a:ea typeface="Calibri"/>
                <a:cs typeface="Calibri"/>
                <a:sym typeface="Calibri"/>
              </a:rPr>
              <a:t>2.  What happens to the changes if COMMIT is never executed?</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65A9E6"/>
              </a:buClr>
              <a:buSzPts val="1100"/>
              <a:buFont typeface="Calibri"/>
              <a:buNone/>
            </a:pPr>
            <a:r>
              <a:rPr b="1" i="0" lang="en-GB" sz="1800" u="none" cap="none" strike="noStrike">
                <a:solidFill>
                  <a:srgbClr val="65A9E6"/>
                </a:solidFill>
                <a:latin typeface="Calibri"/>
                <a:ea typeface="Calibri"/>
                <a:cs typeface="Calibri"/>
                <a:sym typeface="Calibri"/>
              </a:rPr>
              <a:t>A: </a:t>
            </a:r>
            <a:r>
              <a:rPr b="0" i="0" lang="en-GB" sz="1800" u="none" cap="none" strike="noStrike">
                <a:solidFill>
                  <a:srgbClr val="EAEDF0"/>
                </a:solidFill>
                <a:latin typeface="Calibri"/>
                <a:ea typeface="Calibri"/>
                <a:cs typeface="Calibri"/>
                <a:sym typeface="Calibri"/>
              </a:rPr>
              <a:t>The changes stay pending and uncommitted — they aren't permanently saved, and can still be rolled back or lost if the session ends.</a:t>
            </a:r>
            <a:endParaRPr b="0" i="0" sz="1800" u="none" cap="none" strike="noStrike">
              <a:solidFill>
                <a:srgbClr val="EAEDF0"/>
              </a:solidFill>
              <a:latin typeface="Calibri"/>
              <a:ea typeface="Calibri"/>
              <a:cs typeface="Calibri"/>
              <a:sym typeface="Calibri"/>
            </a:endParaRPr>
          </a:p>
          <a:p>
            <a:pPr indent="0" lvl="0" marL="177800" marR="0" rtl="0" algn="l">
              <a:lnSpc>
                <a:spcPct val="100000"/>
              </a:lnSpc>
              <a:spcBef>
                <a:spcPts val="300"/>
              </a:spcBef>
              <a:spcAft>
                <a:spcPts val="0"/>
              </a:spcAft>
              <a:buClr>
                <a:srgbClr val="65A9E6"/>
              </a:buClr>
              <a:buSzPts val="1100"/>
              <a:buFont typeface="Calibri"/>
              <a:buNone/>
            </a:pPr>
            <a:r>
              <a:t/>
            </a:r>
            <a:endParaRPr sz="1800">
              <a:solidFill>
                <a:srgbClr val="EAEDF0"/>
              </a:solidFill>
              <a:latin typeface="Calibri"/>
              <a:ea typeface="Calibri"/>
              <a:cs typeface="Calibri"/>
              <a:sym typeface="Calibri"/>
            </a:endParaRPr>
          </a:p>
          <a:p>
            <a:pPr indent="0" lvl="0" marL="0" marR="0" rtl="0" algn="l">
              <a:lnSpc>
                <a:spcPct val="100000"/>
              </a:lnSpc>
              <a:spcBef>
                <a:spcPts val="1100"/>
              </a:spcBef>
              <a:spcAft>
                <a:spcPts val="0"/>
              </a:spcAft>
              <a:buClr>
                <a:schemeClr val="lt1"/>
              </a:buClr>
              <a:buSzPts val="1300"/>
              <a:buFont typeface="Calibri"/>
              <a:buNone/>
            </a:pPr>
            <a:r>
              <a:rPr b="1" i="0" lang="en-GB" sz="1800" u="none" cap="none" strike="noStrike">
                <a:solidFill>
                  <a:schemeClr val="lt1"/>
                </a:solidFill>
                <a:latin typeface="Calibri"/>
                <a:ea typeface="Calibri"/>
                <a:cs typeface="Calibri"/>
                <a:sym typeface="Calibri"/>
              </a:rPr>
              <a:t>3.  Why might SAVEPOINT be useful in a long, multi-step workflow?</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65A9E6"/>
              </a:buClr>
              <a:buSzPts val="1100"/>
              <a:buFont typeface="Calibri"/>
              <a:buNone/>
            </a:pPr>
            <a:r>
              <a:rPr b="1" i="0" lang="en-GB" sz="1800" u="none" cap="none" strike="noStrike">
                <a:solidFill>
                  <a:srgbClr val="65A9E6"/>
                </a:solidFill>
                <a:latin typeface="Calibri"/>
                <a:ea typeface="Calibri"/>
                <a:cs typeface="Calibri"/>
                <a:sym typeface="Calibri"/>
              </a:rPr>
              <a:t>A: </a:t>
            </a:r>
            <a:r>
              <a:rPr b="0" i="0" lang="en-GB" sz="1800" u="none" cap="none" strike="noStrike">
                <a:solidFill>
                  <a:srgbClr val="EAEDF0"/>
                </a:solidFill>
                <a:latin typeface="Calibri"/>
                <a:ea typeface="Calibri"/>
                <a:cs typeface="Calibri"/>
                <a:sym typeface="Calibri"/>
              </a:rPr>
              <a:t>It lets you roll back to a specific checkpoint instead of undoing the entire transaction — like a save point in a video game.</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DBE3EB"/>
              </a:buClr>
              <a:buSzPts val="1400"/>
              <a:buFont typeface="Calibri"/>
              <a:buNone/>
            </a:pPr>
            <a:r>
              <a:t/>
            </a:r>
            <a:endParaRPr b="0" i="0" sz="1800" u="none" cap="none" strike="noStrike">
              <a:solidFill>
                <a:srgbClr val="DBE3EB"/>
              </a:solidFill>
              <a:latin typeface="Calibri"/>
              <a:ea typeface="Calibri"/>
              <a:cs typeface="Calibri"/>
              <a:sym typeface="Calibri"/>
            </a:endParaRPr>
          </a:p>
        </p:txBody>
      </p:sp>
      <p:pic>
        <p:nvPicPr>
          <p:cNvPr descr="/home/claude/dbms_lecture2/logo/newton_logo_white.png" id="882" name="Google Shape;882;p46"/>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883" name="Google Shape;883;p46"/>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47"/>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DCL: Data Control Language</a:t>
            </a:r>
            <a:endParaRPr b="0" i="0" sz="2000" u="none" cap="none" strike="noStrike">
              <a:solidFill>
                <a:schemeClr val="dk1"/>
              </a:solidFill>
              <a:latin typeface="Calibri"/>
              <a:ea typeface="Calibri"/>
              <a:cs typeface="Calibri"/>
              <a:sym typeface="Calibri"/>
            </a:endParaRPr>
          </a:p>
        </p:txBody>
      </p:sp>
      <p:sp>
        <p:nvSpPr>
          <p:cNvPr id="890" name="Google Shape;890;p47"/>
          <p:cNvSpPr/>
          <p:nvPr/>
        </p:nvSpPr>
        <p:spPr>
          <a:xfrm>
            <a:off x="411488" y="1268738"/>
            <a:ext cx="7588575" cy="3154725"/>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891" name="Google Shape;891;p47"/>
          <p:cNvSpPr/>
          <p:nvPr/>
        </p:nvSpPr>
        <p:spPr>
          <a:xfrm>
            <a:off x="651506" y="1474463"/>
            <a:ext cx="6621750" cy="6171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400"/>
              <a:buFont typeface="Cambria"/>
              <a:buNone/>
            </a:pPr>
            <a:r>
              <a:rPr b="1" i="0" lang="en-GB" sz="1800" u="none" cap="none" strike="noStrike">
                <a:solidFill>
                  <a:srgbClr val="16334D"/>
                </a:solidFill>
                <a:latin typeface="Cambria"/>
                <a:ea typeface="Cambria"/>
                <a:cs typeface="Cambria"/>
                <a:sym typeface="Cambria"/>
              </a:rPr>
              <a:t>DCL commands control permissions and access within a database — deciding exactly who is allowed to do what.</a:t>
            </a:r>
            <a:endParaRPr b="0" i="0" sz="1800" u="none" cap="none" strike="noStrike">
              <a:solidFill>
                <a:schemeClr val="dk1"/>
              </a:solidFill>
              <a:latin typeface="Calibri"/>
              <a:ea typeface="Calibri"/>
              <a:cs typeface="Calibri"/>
              <a:sym typeface="Calibri"/>
            </a:endParaRPr>
          </a:p>
        </p:txBody>
      </p:sp>
      <p:sp>
        <p:nvSpPr>
          <p:cNvPr id="892" name="Google Shape;892;p47"/>
          <p:cNvSpPr/>
          <p:nvPr/>
        </p:nvSpPr>
        <p:spPr>
          <a:xfrm>
            <a:off x="651506" y="2160263"/>
            <a:ext cx="4565925"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98DBD"/>
              </a:buClr>
              <a:buSzPts val="1100"/>
              <a:buFont typeface="Calibri"/>
              <a:buNone/>
            </a:pPr>
            <a:r>
              <a:rPr b="1" i="0" lang="en-GB" sz="1600" u="none" cap="none" strike="noStrike">
                <a:solidFill>
                  <a:srgbClr val="598DBD"/>
                </a:solidFill>
                <a:latin typeface="Calibri"/>
                <a:ea typeface="Calibri"/>
                <a:cs typeface="Calibri"/>
                <a:sym typeface="Calibri"/>
              </a:rPr>
              <a:t>Real-world significance:</a:t>
            </a:r>
            <a:endParaRPr b="0" i="0" sz="1600" u="none" cap="none" strike="noStrike">
              <a:solidFill>
                <a:schemeClr val="dk1"/>
              </a:solidFill>
              <a:latin typeface="Calibri"/>
              <a:ea typeface="Calibri"/>
              <a:cs typeface="Calibri"/>
              <a:sym typeface="Calibri"/>
            </a:endParaRPr>
          </a:p>
        </p:txBody>
      </p:sp>
      <p:sp>
        <p:nvSpPr>
          <p:cNvPr id="893" name="Google Shape;893;p47"/>
          <p:cNvSpPr/>
          <p:nvPr/>
        </p:nvSpPr>
        <p:spPr>
          <a:xfrm>
            <a:off x="685800" y="2434594"/>
            <a:ext cx="5516550" cy="1165950"/>
          </a:xfrm>
          <a:prstGeom prst="rect">
            <a:avLst/>
          </a:prstGeom>
          <a:noFill/>
          <a:ln>
            <a:noFill/>
          </a:ln>
        </p:spPr>
        <p:txBody>
          <a:bodyPr anchorCtr="0" anchor="ctr" bIns="34275" lIns="68575" spcFirstLastPara="1" rIns="68575" wrap="square" tIns="34275">
            <a:noAutofit/>
          </a:bodyPr>
          <a:lstStyle/>
          <a:p>
            <a:pPr indent="-254000" lvl="0" marL="254000" marR="0" rtl="0" algn="l">
              <a:lnSpc>
                <a:spcPct val="100000"/>
              </a:lnSpc>
              <a:spcBef>
                <a:spcPts val="0"/>
              </a:spcBef>
              <a:spcAft>
                <a:spcPts val="0"/>
              </a:spcAft>
              <a:buClr>
                <a:srgbClr val="6CA5D7"/>
              </a:buClr>
              <a:buSzPts val="1600"/>
              <a:buFont typeface="Calibri"/>
              <a:buChar char="■"/>
            </a:pPr>
            <a:r>
              <a:rPr b="0" i="0" lang="en-GB" sz="1600" u="none" cap="none" strike="noStrike">
                <a:solidFill>
                  <a:srgbClr val="6CA5D7"/>
                </a:solidFill>
                <a:latin typeface="Calibri"/>
                <a:ea typeface="Calibri"/>
                <a:cs typeface="Calibri"/>
                <a:sym typeface="Calibri"/>
              </a:rPr>
              <a:t>Faculty should access student records</a:t>
            </a:r>
            <a:endParaRPr b="0" i="0" sz="1600" u="none" cap="none" strike="noStrike">
              <a:solidFill>
                <a:schemeClr val="dk1"/>
              </a:solidFill>
              <a:latin typeface="Calibri"/>
              <a:ea typeface="Calibri"/>
              <a:cs typeface="Calibri"/>
              <a:sym typeface="Calibri"/>
            </a:endParaRPr>
          </a:p>
          <a:p>
            <a:pPr indent="-254000" lvl="0" marL="254000" marR="0" rtl="0" algn="l">
              <a:lnSpc>
                <a:spcPct val="100000"/>
              </a:lnSpc>
              <a:spcBef>
                <a:spcPts val="800"/>
              </a:spcBef>
              <a:spcAft>
                <a:spcPts val="0"/>
              </a:spcAft>
              <a:buClr>
                <a:srgbClr val="6CA5D7"/>
              </a:buClr>
              <a:buSzPts val="1600"/>
              <a:buFont typeface="Calibri"/>
              <a:buChar char="■"/>
            </a:pPr>
            <a:r>
              <a:rPr b="0" i="0" lang="en-GB" sz="1600" u="none" cap="none" strike="noStrike">
                <a:solidFill>
                  <a:srgbClr val="6CA5D7"/>
                </a:solidFill>
                <a:latin typeface="Calibri"/>
                <a:ea typeface="Calibri"/>
                <a:cs typeface="Calibri"/>
                <a:sym typeface="Calibri"/>
              </a:rPr>
              <a:t>Interns should not delete student records</a:t>
            </a:r>
            <a:endParaRPr b="0" i="0" sz="1600" u="none" cap="none" strike="noStrike">
              <a:solidFill>
                <a:schemeClr val="dk1"/>
              </a:solidFill>
              <a:latin typeface="Calibri"/>
              <a:ea typeface="Calibri"/>
              <a:cs typeface="Calibri"/>
              <a:sym typeface="Calibri"/>
            </a:endParaRPr>
          </a:p>
          <a:p>
            <a:pPr indent="-254000" lvl="0" marL="254000" marR="0" rtl="0" algn="l">
              <a:lnSpc>
                <a:spcPct val="100000"/>
              </a:lnSpc>
              <a:spcBef>
                <a:spcPts val="800"/>
              </a:spcBef>
              <a:spcAft>
                <a:spcPts val="0"/>
              </a:spcAft>
              <a:buClr>
                <a:srgbClr val="6CA5D7"/>
              </a:buClr>
              <a:buSzPts val="1600"/>
              <a:buFont typeface="Calibri"/>
              <a:buChar char="■"/>
            </a:pPr>
            <a:r>
              <a:rPr b="0" i="0" lang="en-GB" sz="1600" u="none" cap="none" strike="noStrike">
                <a:solidFill>
                  <a:srgbClr val="6CA5D7"/>
                </a:solidFill>
                <a:latin typeface="Calibri"/>
                <a:ea typeface="Calibri"/>
                <a:cs typeface="Calibri"/>
                <a:sym typeface="Calibri"/>
              </a:rPr>
              <a:t>Admins get full privileges</a:t>
            </a:r>
            <a:endParaRPr b="0" i="0" sz="1600" u="none" cap="none" strike="noStrike">
              <a:solidFill>
                <a:schemeClr val="dk1"/>
              </a:solidFill>
              <a:latin typeface="Calibri"/>
              <a:ea typeface="Calibri"/>
              <a:cs typeface="Calibri"/>
              <a:sym typeface="Calibri"/>
            </a:endParaRPr>
          </a:p>
        </p:txBody>
      </p:sp>
      <p:pic>
        <p:nvPicPr>
          <p:cNvPr descr="/home/claude/dbms_lecture2/logo/newton_logo_transparent.png" id="894" name="Google Shape;894;p47"/>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895" name="Google Shape;895;p47"/>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28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48"/>
          <p:cNvSpPr/>
          <p:nvPr/>
        </p:nvSpPr>
        <p:spPr>
          <a:xfrm>
            <a:off x="368693" y="406350"/>
            <a:ext cx="8092350" cy="5829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GRANT — handing out the keys</a:t>
            </a:r>
            <a:endParaRPr b="0" i="0" sz="2000" u="none" cap="none" strike="noStrike">
              <a:solidFill>
                <a:schemeClr val="dk1"/>
              </a:solidFill>
              <a:latin typeface="Calibri"/>
              <a:ea typeface="Calibri"/>
              <a:cs typeface="Calibri"/>
              <a:sym typeface="Calibri"/>
            </a:endParaRPr>
          </a:p>
        </p:txBody>
      </p:sp>
      <p:sp>
        <p:nvSpPr>
          <p:cNvPr id="902" name="Google Shape;902;p48"/>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48"/>
          <p:cNvSpPr/>
          <p:nvPr/>
        </p:nvSpPr>
        <p:spPr>
          <a:xfrm>
            <a:off x="411480" y="1097280"/>
            <a:ext cx="8298180" cy="72009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48"/>
          <p:cNvSpPr/>
          <p:nvPr/>
        </p:nvSpPr>
        <p:spPr>
          <a:xfrm>
            <a:off x="498400" y="1165850"/>
            <a:ext cx="79713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400" u="none" cap="none" strike="noStrike">
                <a:solidFill>
                  <a:srgbClr val="368EDE"/>
                </a:solidFill>
                <a:latin typeface="Calibri"/>
                <a:ea typeface="Calibri"/>
                <a:cs typeface="Calibri"/>
                <a:sym typeface="Calibri"/>
              </a:rPr>
              <a:t>THE PRINCIPAL WALKS IN</a:t>
            </a:r>
            <a:endParaRPr b="0" i="0" sz="1400" u="none" cap="none" strike="noStrike">
              <a:solidFill>
                <a:schemeClr val="dk1"/>
              </a:solidFill>
              <a:latin typeface="Calibri"/>
              <a:ea typeface="Calibri"/>
              <a:cs typeface="Calibri"/>
              <a:sym typeface="Calibri"/>
            </a:endParaRPr>
          </a:p>
        </p:txBody>
      </p:sp>
      <p:sp>
        <p:nvSpPr>
          <p:cNvPr id="905" name="Google Shape;905;p48"/>
          <p:cNvSpPr/>
          <p:nvPr/>
        </p:nvSpPr>
        <p:spPr>
          <a:xfrm>
            <a:off x="498450" y="1357875"/>
            <a:ext cx="79713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600" u="none" cap="none" strike="noStrike">
                <a:solidFill>
                  <a:srgbClr val="16334D"/>
                </a:solidFill>
                <a:latin typeface="Cambria"/>
                <a:ea typeface="Cambria"/>
                <a:cs typeface="Cambria"/>
                <a:sym typeface="Cambria"/>
              </a:rPr>
              <a:t>"Give the faculty team read access to the students table — nothing more."</a:t>
            </a:r>
            <a:endParaRPr b="0" i="0" sz="1600" u="none" cap="none" strike="noStrike">
              <a:solidFill>
                <a:schemeClr val="dk1"/>
              </a:solidFill>
              <a:latin typeface="Calibri"/>
              <a:ea typeface="Calibri"/>
              <a:cs typeface="Calibri"/>
              <a:sym typeface="Calibri"/>
            </a:endParaRPr>
          </a:p>
        </p:txBody>
      </p:sp>
      <p:sp>
        <p:nvSpPr>
          <p:cNvPr id="906" name="Google Shape;906;p48"/>
          <p:cNvSpPr/>
          <p:nvPr/>
        </p:nvSpPr>
        <p:spPr>
          <a:xfrm>
            <a:off x="411486" y="2544320"/>
            <a:ext cx="2381625" cy="141210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07" name="Google Shape;907;p48"/>
          <p:cNvSpPr/>
          <p:nvPr/>
        </p:nvSpPr>
        <p:spPr>
          <a:xfrm>
            <a:off x="576074" y="2817058"/>
            <a:ext cx="2298600" cy="1045575"/>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700" u="none" cap="none" strike="noStrike">
                <a:solidFill>
                  <a:srgbClr val="81B8E9"/>
                </a:solidFill>
                <a:latin typeface="Consolas"/>
                <a:ea typeface="Consolas"/>
                <a:cs typeface="Consolas"/>
                <a:sym typeface="Consolas"/>
              </a:rPr>
              <a:t>GRANT SELECT ON students</a:t>
            </a:r>
            <a:endParaRPr b="0" i="0" sz="17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BEEF1"/>
              </a:buClr>
              <a:buSzPts val="1100"/>
              <a:buFont typeface="Consolas"/>
              <a:buNone/>
            </a:pPr>
            <a:r>
              <a:rPr b="0" i="0" lang="en-GB" sz="1700" u="none" cap="none" strike="noStrike">
                <a:solidFill>
                  <a:srgbClr val="EBEEF1"/>
                </a:solidFill>
                <a:latin typeface="Consolas"/>
                <a:ea typeface="Consolas"/>
                <a:cs typeface="Consolas"/>
                <a:sym typeface="Consolas"/>
              </a:rPr>
              <a:t>TO faculty_team;</a:t>
            </a:r>
            <a:endParaRPr b="0" i="0" sz="1700" u="none" cap="none" strike="noStrike">
              <a:solidFill>
                <a:schemeClr val="dk1"/>
              </a:solidFill>
              <a:latin typeface="Calibri"/>
              <a:ea typeface="Calibri"/>
              <a:cs typeface="Calibri"/>
              <a:sym typeface="Calibri"/>
            </a:endParaRPr>
          </a:p>
        </p:txBody>
      </p:sp>
      <p:sp>
        <p:nvSpPr>
          <p:cNvPr id="908" name="Google Shape;908;p48"/>
          <p:cNvSpPr/>
          <p:nvPr/>
        </p:nvSpPr>
        <p:spPr>
          <a:xfrm>
            <a:off x="3087806" y="1925325"/>
            <a:ext cx="5621850" cy="3005325"/>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48"/>
          <p:cNvSpPr/>
          <p:nvPr/>
        </p:nvSpPr>
        <p:spPr>
          <a:xfrm>
            <a:off x="3450300" y="2002523"/>
            <a:ext cx="1929150" cy="288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700" u="none" cap="none" strike="noStrike">
                <a:solidFill>
                  <a:srgbClr val="598DBD"/>
                </a:solidFill>
                <a:latin typeface="Calibri"/>
                <a:ea typeface="Calibri"/>
                <a:cs typeface="Calibri"/>
                <a:sym typeface="Calibri"/>
              </a:rPr>
              <a:t>BEFORE</a:t>
            </a:r>
            <a:endParaRPr b="0" i="0" sz="1700" u="none" cap="none" strike="noStrike">
              <a:solidFill>
                <a:schemeClr val="dk1"/>
              </a:solidFill>
              <a:latin typeface="Calibri"/>
              <a:ea typeface="Calibri"/>
              <a:cs typeface="Calibri"/>
              <a:sym typeface="Calibri"/>
            </a:endParaRPr>
          </a:p>
        </p:txBody>
      </p:sp>
      <p:sp>
        <p:nvSpPr>
          <p:cNvPr id="910" name="Google Shape;910;p48"/>
          <p:cNvSpPr/>
          <p:nvPr/>
        </p:nvSpPr>
        <p:spPr>
          <a:xfrm>
            <a:off x="6531900" y="1991561"/>
            <a:ext cx="1929150" cy="3048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700" u="none" cap="none" strike="noStrike">
                <a:solidFill>
                  <a:srgbClr val="598DBD"/>
                </a:solidFill>
                <a:latin typeface="Calibri"/>
                <a:ea typeface="Calibri"/>
                <a:cs typeface="Calibri"/>
                <a:sym typeface="Calibri"/>
              </a:rPr>
              <a:t>AFTER</a:t>
            </a:r>
            <a:endParaRPr b="0" i="0" sz="1700" u="none" cap="none" strike="noStrike">
              <a:solidFill>
                <a:schemeClr val="dk1"/>
              </a:solidFill>
              <a:latin typeface="Calibri"/>
              <a:ea typeface="Calibri"/>
              <a:cs typeface="Calibri"/>
              <a:sym typeface="Calibri"/>
            </a:endParaRPr>
          </a:p>
        </p:txBody>
      </p:sp>
      <p:sp>
        <p:nvSpPr>
          <p:cNvPr id="911" name="Google Shape;911;p48"/>
          <p:cNvSpPr/>
          <p:nvPr/>
        </p:nvSpPr>
        <p:spPr>
          <a:xfrm>
            <a:off x="4900857" y="2890425"/>
            <a:ext cx="1995750" cy="2742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9BC7EF"/>
              </a:buClr>
              <a:buSzPts val="600"/>
              <a:buFont typeface="Calibri"/>
              <a:buNone/>
            </a:pPr>
            <a:r>
              <a:rPr b="1" i="0" lang="en-GB" sz="1400" u="none" cap="none" strike="noStrike">
                <a:solidFill>
                  <a:srgbClr val="9BC7EF"/>
                </a:solidFill>
                <a:latin typeface="Calibri"/>
                <a:ea typeface="Calibri"/>
                <a:cs typeface="Calibri"/>
                <a:sym typeface="Calibri"/>
              </a:rPr>
              <a:t>GRANT SELECT</a:t>
            </a:r>
            <a:endParaRPr b="0" i="0" sz="1400" u="none" cap="none" strike="noStrike">
              <a:solidFill>
                <a:schemeClr val="dk1"/>
              </a:solidFill>
              <a:latin typeface="Calibri"/>
              <a:ea typeface="Calibri"/>
              <a:cs typeface="Calibri"/>
              <a:sym typeface="Calibri"/>
            </a:endParaRPr>
          </a:p>
        </p:txBody>
      </p:sp>
      <p:sp>
        <p:nvSpPr>
          <p:cNvPr id="912" name="Google Shape;912;p48"/>
          <p:cNvSpPr/>
          <p:nvPr/>
        </p:nvSpPr>
        <p:spPr>
          <a:xfrm>
            <a:off x="3197681" y="2331197"/>
            <a:ext cx="5263425" cy="425250"/>
          </a:xfrm>
          <a:prstGeom prst="roundRect">
            <a:avLst>
              <a:gd fmla="val 50000" name="adj"/>
            </a:avLst>
          </a:prstGeom>
          <a:solidFill>
            <a:srgbClr val="EFF3F7"/>
          </a:solidFill>
          <a:ln cap="flat" cmpd="sng" w="15875">
            <a:solidFill>
              <a:srgbClr val="9BC7E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913" name="Google Shape;913;p48"/>
          <p:cNvSpPr/>
          <p:nvPr/>
        </p:nvSpPr>
        <p:spPr>
          <a:xfrm>
            <a:off x="3330094" y="2393474"/>
            <a:ext cx="3480525" cy="3908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1" i="0" lang="en-GB" sz="1600" u="none" cap="none" strike="noStrike">
                <a:solidFill>
                  <a:srgbClr val="16334D"/>
                </a:solidFill>
                <a:latin typeface="Calibri"/>
                <a:ea typeface="Calibri"/>
                <a:cs typeface="Calibri"/>
                <a:sym typeface="Calibri"/>
              </a:rPr>
              <a:t>faculty_team → students (SELECT)</a:t>
            </a:r>
            <a:endParaRPr b="0" i="0" sz="1600" u="none" cap="none" strike="noStrike">
              <a:solidFill>
                <a:schemeClr val="dk1"/>
              </a:solidFill>
              <a:latin typeface="Calibri"/>
              <a:ea typeface="Calibri"/>
              <a:cs typeface="Calibri"/>
              <a:sym typeface="Calibri"/>
            </a:endParaRPr>
          </a:p>
        </p:txBody>
      </p:sp>
      <p:sp>
        <p:nvSpPr>
          <p:cNvPr id="914" name="Google Shape;914;p48"/>
          <p:cNvSpPr/>
          <p:nvPr/>
        </p:nvSpPr>
        <p:spPr>
          <a:xfrm>
            <a:off x="7194019" y="2354117"/>
            <a:ext cx="944775" cy="411525"/>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6CA5D7"/>
              </a:buClr>
              <a:buSzPts val="800"/>
              <a:buFont typeface="Calibri"/>
              <a:buNone/>
            </a:pPr>
            <a:r>
              <a:rPr b="1" i="0" lang="en-GB" sz="1300" u="none" cap="none" strike="noStrike">
                <a:solidFill>
                  <a:srgbClr val="6CA5D7"/>
                </a:solidFill>
                <a:latin typeface="Calibri"/>
                <a:ea typeface="Calibri"/>
                <a:cs typeface="Calibri"/>
                <a:sym typeface="Calibri"/>
              </a:rPr>
              <a:t>✕ BLOCKED</a:t>
            </a:r>
            <a:endParaRPr b="0" i="0" sz="1300" u="none" cap="none" strike="noStrike">
              <a:solidFill>
                <a:schemeClr val="dk1"/>
              </a:solidFill>
              <a:latin typeface="Calibri"/>
              <a:ea typeface="Calibri"/>
              <a:cs typeface="Calibri"/>
              <a:sym typeface="Calibri"/>
            </a:endParaRPr>
          </a:p>
        </p:txBody>
      </p:sp>
      <p:sp>
        <p:nvSpPr>
          <p:cNvPr id="915" name="Google Shape;915;p48"/>
          <p:cNvSpPr/>
          <p:nvPr/>
        </p:nvSpPr>
        <p:spPr>
          <a:xfrm>
            <a:off x="3197681" y="3298669"/>
            <a:ext cx="5263425" cy="411525"/>
          </a:xfrm>
          <a:prstGeom prst="roundRect">
            <a:avLst>
              <a:gd fmla="val 50000" name="adj"/>
            </a:avLst>
          </a:prstGeom>
          <a:solidFill>
            <a:srgbClr val="EAEFF3"/>
          </a:solidFill>
          <a:ln cap="flat" cmpd="sng" w="15875">
            <a:solidFill>
              <a:srgbClr val="4192D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Arial"/>
              <a:ea typeface="Arial"/>
              <a:cs typeface="Arial"/>
              <a:sym typeface="Arial"/>
            </a:endParaRPr>
          </a:p>
        </p:txBody>
      </p:sp>
      <p:sp>
        <p:nvSpPr>
          <p:cNvPr id="916" name="Google Shape;916;p48"/>
          <p:cNvSpPr/>
          <p:nvPr/>
        </p:nvSpPr>
        <p:spPr>
          <a:xfrm>
            <a:off x="3330085" y="3298670"/>
            <a:ext cx="3480525" cy="3908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1" i="0" lang="en-GB" sz="1600" u="none" cap="none" strike="noStrike">
                <a:solidFill>
                  <a:srgbClr val="16334D"/>
                </a:solidFill>
                <a:latin typeface="Calibri"/>
                <a:ea typeface="Calibri"/>
                <a:cs typeface="Calibri"/>
                <a:sym typeface="Calibri"/>
              </a:rPr>
              <a:t>faculty_team → students (SELECT)</a:t>
            </a:r>
            <a:endParaRPr b="0" i="0" sz="1600" u="none" cap="none" strike="noStrike">
              <a:solidFill>
                <a:schemeClr val="dk1"/>
              </a:solidFill>
              <a:latin typeface="Calibri"/>
              <a:ea typeface="Calibri"/>
              <a:cs typeface="Calibri"/>
              <a:sym typeface="Calibri"/>
            </a:endParaRPr>
          </a:p>
        </p:txBody>
      </p:sp>
      <p:sp>
        <p:nvSpPr>
          <p:cNvPr id="917" name="Google Shape;917;p48"/>
          <p:cNvSpPr/>
          <p:nvPr/>
        </p:nvSpPr>
        <p:spPr>
          <a:xfrm>
            <a:off x="7266038" y="3302400"/>
            <a:ext cx="1063800" cy="4115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79C4"/>
              </a:buClr>
              <a:buSzPts val="800"/>
              <a:buFont typeface="Calibri"/>
              <a:buNone/>
            </a:pPr>
            <a:r>
              <a:rPr b="1" i="0" lang="en-GB" sz="1400" u="none" cap="none" strike="noStrike">
                <a:solidFill>
                  <a:srgbClr val="2579C4"/>
                </a:solidFill>
                <a:latin typeface="Calibri"/>
                <a:ea typeface="Calibri"/>
                <a:cs typeface="Calibri"/>
                <a:sym typeface="Calibri"/>
              </a:rPr>
              <a:t>✓ALLOWED</a:t>
            </a:r>
            <a:endParaRPr b="0" i="0" sz="1400" u="none" cap="none" strike="noStrike">
              <a:solidFill>
                <a:schemeClr val="dk1"/>
              </a:solidFill>
              <a:latin typeface="Calibri"/>
              <a:ea typeface="Calibri"/>
              <a:cs typeface="Calibri"/>
              <a:sym typeface="Calibri"/>
            </a:endParaRPr>
          </a:p>
        </p:txBody>
      </p:sp>
      <p:sp>
        <p:nvSpPr>
          <p:cNvPr id="918" name="Google Shape;918;p48"/>
          <p:cNvSpPr/>
          <p:nvPr/>
        </p:nvSpPr>
        <p:spPr>
          <a:xfrm>
            <a:off x="3223106" y="3806180"/>
            <a:ext cx="4474800"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600" u="none" cap="none" strike="noStrike">
                <a:solidFill>
                  <a:srgbClr val="16334D"/>
                </a:solidFill>
                <a:latin typeface="Cambria"/>
                <a:ea typeface="Cambria"/>
                <a:cs typeface="Cambria"/>
                <a:sym typeface="Cambria"/>
              </a:rPr>
              <a:t>Provides permissions</a:t>
            </a:r>
            <a:endParaRPr b="0" i="0" sz="1600" u="none" cap="none" strike="noStrike">
              <a:solidFill>
                <a:schemeClr val="dk1"/>
              </a:solidFill>
              <a:latin typeface="Calibri"/>
              <a:ea typeface="Calibri"/>
              <a:cs typeface="Calibri"/>
              <a:sym typeface="Calibri"/>
            </a:endParaRPr>
          </a:p>
        </p:txBody>
      </p:sp>
      <p:sp>
        <p:nvSpPr>
          <p:cNvPr id="919" name="Google Shape;919;p48"/>
          <p:cNvSpPr/>
          <p:nvPr/>
        </p:nvSpPr>
        <p:spPr>
          <a:xfrm>
            <a:off x="3223106" y="4135256"/>
            <a:ext cx="5212575"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u="none" cap="none" strike="noStrike">
                <a:solidFill>
                  <a:srgbClr val="16334D"/>
                </a:solidFill>
                <a:latin typeface="Calibri"/>
                <a:ea typeface="Calibri"/>
                <a:cs typeface="Calibri"/>
                <a:sym typeface="Calibri"/>
              </a:rPr>
              <a:t>GRANT gives a user or role specific privileges — SELECT, INSERT, UPDATE, DELETE, or even administrative rights — on a database object.</a:t>
            </a:r>
            <a:endParaRPr b="0" i="0" u="none" cap="none" strike="noStrike">
              <a:solidFill>
                <a:schemeClr val="dk1"/>
              </a:solidFill>
              <a:latin typeface="Calibri"/>
              <a:ea typeface="Calibri"/>
              <a:cs typeface="Calibri"/>
              <a:sym typeface="Calibri"/>
            </a:endParaRPr>
          </a:p>
        </p:txBody>
      </p:sp>
      <p:pic>
        <p:nvPicPr>
          <p:cNvPr descr="/home/claude/dbms_lecture2/logo/newton_logo_transparent.png" id="920" name="Google Shape;920;p48"/>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921" name="Google Shape;921;p48"/>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29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49"/>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6CA5D7"/>
              </a:buClr>
              <a:buSzPts val="1000"/>
              <a:buFont typeface="Calibri"/>
              <a:buNone/>
            </a:pPr>
            <a:r>
              <a:rPr b="1" i="0" lang="en-GB" sz="1400" u="none" cap="none" strike="noStrike">
                <a:solidFill>
                  <a:srgbClr val="6CA5D7"/>
                </a:solidFill>
                <a:latin typeface="Calibri"/>
                <a:ea typeface="Calibri"/>
                <a:cs typeface="Calibri"/>
                <a:sym typeface="Calibri"/>
              </a:rPr>
              <a:t>DCL COMMAND 2</a:t>
            </a:r>
            <a:endParaRPr b="0" i="0" sz="1400" u="none" cap="none" strike="noStrike">
              <a:solidFill>
                <a:schemeClr val="dk1"/>
              </a:solidFill>
              <a:latin typeface="Calibri"/>
              <a:ea typeface="Calibri"/>
              <a:cs typeface="Calibri"/>
              <a:sym typeface="Calibri"/>
            </a:endParaRPr>
          </a:p>
        </p:txBody>
      </p:sp>
      <p:sp>
        <p:nvSpPr>
          <p:cNvPr id="928" name="Google Shape;928;p49"/>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2000" u="none" cap="none" strike="noStrike">
                <a:solidFill>
                  <a:srgbClr val="1E4161"/>
                </a:solidFill>
                <a:latin typeface="Cambria"/>
                <a:ea typeface="Cambria"/>
                <a:cs typeface="Cambria"/>
                <a:sym typeface="Cambria"/>
              </a:rPr>
              <a:t>REVOKE — taking back access</a:t>
            </a:r>
            <a:endParaRPr b="0" i="0" sz="2000" u="none" cap="none" strike="noStrike">
              <a:solidFill>
                <a:schemeClr val="dk1"/>
              </a:solidFill>
              <a:latin typeface="Calibri"/>
              <a:ea typeface="Calibri"/>
              <a:cs typeface="Calibri"/>
              <a:sym typeface="Calibri"/>
            </a:endParaRPr>
          </a:p>
        </p:txBody>
      </p:sp>
      <p:sp>
        <p:nvSpPr>
          <p:cNvPr id="929" name="Google Shape;929;p49"/>
          <p:cNvSpPr/>
          <p:nvPr/>
        </p:nvSpPr>
        <p:spPr>
          <a:xfrm>
            <a:off x="411480" y="1097280"/>
            <a:ext cx="8298180" cy="720090"/>
          </a:xfrm>
          <a:prstGeom prst="roundRect">
            <a:avLst>
              <a:gd fmla="val 11429" name="adj"/>
            </a:avLst>
          </a:prstGeom>
          <a:solidFill>
            <a:srgbClr val="EBF0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49"/>
          <p:cNvSpPr/>
          <p:nvPr/>
        </p:nvSpPr>
        <p:spPr>
          <a:xfrm>
            <a:off x="411480" y="1097280"/>
            <a:ext cx="8298180" cy="720090"/>
          </a:xfrm>
          <a:prstGeom prst="roundRect">
            <a:avLst>
              <a:gd fmla="val 11429" name="adj"/>
            </a:avLst>
          </a:prstGeom>
          <a:solidFill>
            <a:srgbClr val="E6ECF1"/>
          </a:solidFill>
          <a:ln cap="flat" cmpd="sng" w="12700">
            <a:solidFill>
              <a:srgbClr val="8FC0E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49"/>
          <p:cNvSpPr/>
          <p:nvPr/>
        </p:nvSpPr>
        <p:spPr>
          <a:xfrm>
            <a:off x="614345" y="1189898"/>
            <a:ext cx="73380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400" u="none" cap="none" strike="noStrike">
                <a:solidFill>
                  <a:srgbClr val="368EDE"/>
                </a:solidFill>
                <a:latin typeface="Calibri"/>
                <a:ea typeface="Calibri"/>
                <a:cs typeface="Calibri"/>
                <a:sym typeface="Calibri"/>
              </a:rPr>
              <a:t>THE PRINCIPAL WALKS IN</a:t>
            </a:r>
            <a:endParaRPr b="0" i="0" sz="1400" u="none" cap="none" strike="noStrike">
              <a:solidFill>
                <a:schemeClr val="dk1"/>
              </a:solidFill>
              <a:latin typeface="Calibri"/>
              <a:ea typeface="Calibri"/>
              <a:cs typeface="Calibri"/>
              <a:sym typeface="Calibri"/>
            </a:endParaRPr>
          </a:p>
        </p:txBody>
      </p:sp>
      <p:sp>
        <p:nvSpPr>
          <p:cNvPr id="932" name="Google Shape;932;p49"/>
          <p:cNvSpPr/>
          <p:nvPr/>
        </p:nvSpPr>
        <p:spPr>
          <a:xfrm>
            <a:off x="614320" y="1371622"/>
            <a:ext cx="73380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1200"/>
              <a:buFont typeface="Cambria"/>
              <a:buNone/>
            </a:pPr>
            <a:r>
              <a:rPr b="0" i="1" lang="en-GB" sz="1600" u="none" cap="none" strike="noStrike">
                <a:solidFill>
                  <a:srgbClr val="16334D"/>
                </a:solidFill>
                <a:latin typeface="Cambria"/>
                <a:ea typeface="Cambria"/>
                <a:cs typeface="Cambria"/>
                <a:sym typeface="Cambria"/>
              </a:rPr>
              <a:t>"The intern’s project is over — remove their permission to delete records."</a:t>
            </a:r>
            <a:endParaRPr b="0" i="0" sz="1600" u="none" cap="none" strike="noStrike">
              <a:solidFill>
                <a:schemeClr val="dk1"/>
              </a:solidFill>
              <a:latin typeface="Calibri"/>
              <a:ea typeface="Calibri"/>
              <a:cs typeface="Calibri"/>
              <a:sym typeface="Calibri"/>
            </a:endParaRPr>
          </a:p>
        </p:txBody>
      </p:sp>
      <p:sp>
        <p:nvSpPr>
          <p:cNvPr id="933" name="Google Shape;933;p49"/>
          <p:cNvSpPr/>
          <p:nvPr/>
        </p:nvSpPr>
        <p:spPr>
          <a:xfrm>
            <a:off x="820406" y="2328713"/>
            <a:ext cx="2342025" cy="1625850"/>
          </a:xfrm>
          <a:prstGeom prst="roundRect">
            <a:avLst>
              <a:gd fmla="val 2078" name="adj"/>
            </a:avLst>
          </a:prstGeom>
          <a:solidFill>
            <a:srgbClr val="10263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4" name="Google Shape;934;p49"/>
          <p:cNvSpPr/>
          <p:nvPr/>
        </p:nvSpPr>
        <p:spPr>
          <a:xfrm>
            <a:off x="955519" y="2599160"/>
            <a:ext cx="1867050" cy="81045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81B8E9"/>
              </a:buClr>
              <a:buSzPts val="1100"/>
              <a:buFont typeface="Consolas"/>
              <a:buNone/>
            </a:pPr>
            <a:r>
              <a:rPr b="0" i="0" lang="en-GB" sz="1500" u="none" cap="none" strike="noStrike">
                <a:solidFill>
                  <a:srgbClr val="81B8E9"/>
                </a:solidFill>
                <a:latin typeface="Consolas"/>
                <a:ea typeface="Consolas"/>
                <a:cs typeface="Consolas"/>
                <a:sym typeface="Consolas"/>
              </a:rPr>
              <a:t>REVOKE DELETE ON students</a:t>
            </a:r>
            <a:endParaRPr b="0" i="0" sz="15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BEEF1"/>
              </a:buClr>
              <a:buSzPts val="1100"/>
              <a:buFont typeface="Consolas"/>
              <a:buNone/>
            </a:pPr>
            <a:r>
              <a:rPr b="0" i="0" lang="en-GB" sz="1500" u="none" cap="none" strike="noStrike">
                <a:solidFill>
                  <a:srgbClr val="EBEEF1"/>
                </a:solidFill>
                <a:latin typeface="Consolas"/>
                <a:ea typeface="Consolas"/>
                <a:cs typeface="Consolas"/>
                <a:sym typeface="Consolas"/>
              </a:rPr>
              <a:t>FROM intern_role;</a:t>
            </a:r>
            <a:endParaRPr b="0" i="0" sz="1500" u="none" cap="none" strike="noStrike">
              <a:solidFill>
                <a:schemeClr val="dk1"/>
              </a:solidFill>
              <a:latin typeface="Calibri"/>
              <a:ea typeface="Calibri"/>
              <a:cs typeface="Calibri"/>
              <a:sym typeface="Calibri"/>
            </a:endParaRPr>
          </a:p>
        </p:txBody>
      </p:sp>
      <p:sp>
        <p:nvSpPr>
          <p:cNvPr id="935" name="Google Shape;935;p49"/>
          <p:cNvSpPr/>
          <p:nvPr/>
        </p:nvSpPr>
        <p:spPr>
          <a:xfrm>
            <a:off x="3362363" y="1964813"/>
            <a:ext cx="5347350" cy="2715525"/>
          </a:xfrm>
          <a:prstGeom prst="roundRect">
            <a:avLst>
              <a:gd fmla="val 3117"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6" name="Google Shape;936;p49"/>
          <p:cNvSpPr/>
          <p:nvPr/>
        </p:nvSpPr>
        <p:spPr>
          <a:xfrm>
            <a:off x="3986213" y="2057440"/>
            <a:ext cx="1929150" cy="19192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400" u="none" cap="none" strike="noStrike">
                <a:solidFill>
                  <a:srgbClr val="598DBD"/>
                </a:solidFill>
                <a:latin typeface="Calibri"/>
                <a:ea typeface="Calibri"/>
                <a:cs typeface="Calibri"/>
                <a:sym typeface="Calibri"/>
              </a:rPr>
              <a:t>BEFORE</a:t>
            </a:r>
            <a:endParaRPr b="0" i="0" sz="1400" u="none" cap="none" strike="noStrike">
              <a:solidFill>
                <a:schemeClr val="dk1"/>
              </a:solidFill>
              <a:latin typeface="Calibri"/>
              <a:ea typeface="Calibri"/>
              <a:cs typeface="Calibri"/>
              <a:sym typeface="Calibri"/>
            </a:endParaRPr>
          </a:p>
        </p:txBody>
      </p:sp>
      <p:sp>
        <p:nvSpPr>
          <p:cNvPr id="937" name="Google Shape;937;p49"/>
          <p:cNvSpPr/>
          <p:nvPr/>
        </p:nvSpPr>
        <p:spPr>
          <a:xfrm>
            <a:off x="6531864" y="2079593"/>
            <a:ext cx="1929150" cy="19192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98DBD"/>
              </a:buClr>
              <a:buSzPts val="800"/>
              <a:buFont typeface="Calibri"/>
              <a:buNone/>
            </a:pPr>
            <a:r>
              <a:rPr b="1" i="0" lang="en-GB" sz="1300" u="none" cap="none" strike="noStrike">
                <a:solidFill>
                  <a:srgbClr val="598DBD"/>
                </a:solidFill>
                <a:latin typeface="Calibri"/>
                <a:ea typeface="Calibri"/>
                <a:cs typeface="Calibri"/>
                <a:sym typeface="Calibri"/>
              </a:rPr>
              <a:t>AFTER</a:t>
            </a:r>
            <a:endParaRPr b="0" i="0" sz="1300" u="none" cap="none" strike="noStrike">
              <a:solidFill>
                <a:schemeClr val="dk1"/>
              </a:solidFill>
              <a:latin typeface="Calibri"/>
              <a:ea typeface="Calibri"/>
              <a:cs typeface="Calibri"/>
              <a:sym typeface="Calibri"/>
            </a:endParaRPr>
          </a:p>
        </p:txBody>
      </p:sp>
      <p:sp>
        <p:nvSpPr>
          <p:cNvPr id="938" name="Google Shape;938;p49"/>
          <p:cNvSpPr/>
          <p:nvPr/>
        </p:nvSpPr>
        <p:spPr>
          <a:xfrm>
            <a:off x="5784375" y="2852053"/>
            <a:ext cx="1267425" cy="27427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9BC7EF"/>
              </a:buClr>
              <a:buSzPts val="600"/>
              <a:buFont typeface="Calibri"/>
              <a:buNone/>
            </a:pPr>
            <a:r>
              <a:rPr b="1" i="0" lang="en-GB" sz="1100" u="none" cap="none" strike="noStrike">
                <a:solidFill>
                  <a:srgbClr val="9BC7EF"/>
                </a:solidFill>
                <a:latin typeface="Calibri"/>
                <a:ea typeface="Calibri"/>
                <a:cs typeface="Calibri"/>
                <a:sym typeface="Calibri"/>
              </a:rPr>
              <a:t>REVOKE DELETE</a:t>
            </a:r>
            <a:endParaRPr b="0" i="0" sz="1100" u="none" cap="none" strike="noStrike">
              <a:solidFill>
                <a:schemeClr val="dk1"/>
              </a:solidFill>
              <a:latin typeface="Calibri"/>
              <a:ea typeface="Calibri"/>
              <a:cs typeface="Calibri"/>
              <a:sym typeface="Calibri"/>
            </a:endParaRPr>
          </a:p>
        </p:txBody>
      </p:sp>
      <p:sp>
        <p:nvSpPr>
          <p:cNvPr id="939" name="Google Shape;939;p49"/>
          <p:cNvSpPr/>
          <p:nvPr/>
        </p:nvSpPr>
        <p:spPr>
          <a:xfrm>
            <a:off x="3623269" y="2371031"/>
            <a:ext cx="4837725" cy="411525"/>
          </a:xfrm>
          <a:prstGeom prst="roundRect">
            <a:avLst>
              <a:gd fmla="val 50000" name="adj"/>
            </a:avLst>
          </a:prstGeom>
          <a:solidFill>
            <a:srgbClr val="EAEFF3"/>
          </a:solidFill>
          <a:ln cap="flat" cmpd="sng" w="15875">
            <a:solidFill>
              <a:srgbClr val="4192D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40" name="Google Shape;940;p49"/>
          <p:cNvSpPr/>
          <p:nvPr/>
        </p:nvSpPr>
        <p:spPr>
          <a:xfrm>
            <a:off x="3835439" y="2417801"/>
            <a:ext cx="3480525" cy="288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1" i="0" lang="en-GB" sz="1500" u="none" cap="none" strike="noStrike">
                <a:solidFill>
                  <a:srgbClr val="16334D"/>
                </a:solidFill>
                <a:latin typeface="Calibri"/>
                <a:ea typeface="Calibri"/>
                <a:cs typeface="Calibri"/>
                <a:sym typeface="Calibri"/>
              </a:rPr>
              <a:t>intern_role → students (DELETE)</a:t>
            </a:r>
            <a:endParaRPr b="0" i="0" sz="1500" u="none" cap="none" strike="noStrike">
              <a:solidFill>
                <a:schemeClr val="dk1"/>
              </a:solidFill>
              <a:latin typeface="Calibri"/>
              <a:ea typeface="Calibri"/>
              <a:cs typeface="Calibri"/>
              <a:sym typeface="Calibri"/>
            </a:endParaRPr>
          </a:p>
        </p:txBody>
      </p:sp>
      <p:sp>
        <p:nvSpPr>
          <p:cNvPr id="941" name="Google Shape;941;p49"/>
          <p:cNvSpPr/>
          <p:nvPr/>
        </p:nvSpPr>
        <p:spPr>
          <a:xfrm>
            <a:off x="7088193" y="2427750"/>
            <a:ext cx="1195875" cy="2880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2579C4"/>
              </a:buClr>
              <a:buSzPts val="800"/>
              <a:buFont typeface="Calibri"/>
              <a:buNone/>
            </a:pPr>
            <a:r>
              <a:rPr b="1" i="0" lang="en-GB" sz="1600" u="none" cap="none" strike="noStrike">
                <a:solidFill>
                  <a:srgbClr val="2579C4"/>
                </a:solidFill>
                <a:latin typeface="Calibri"/>
                <a:ea typeface="Calibri"/>
                <a:cs typeface="Calibri"/>
                <a:sym typeface="Calibri"/>
              </a:rPr>
              <a:t>✓ ALLOWED</a:t>
            </a:r>
            <a:endParaRPr b="0" i="0" sz="1600" u="none" cap="none" strike="noStrike">
              <a:solidFill>
                <a:schemeClr val="dk1"/>
              </a:solidFill>
              <a:latin typeface="Calibri"/>
              <a:ea typeface="Calibri"/>
              <a:cs typeface="Calibri"/>
              <a:sym typeface="Calibri"/>
            </a:endParaRPr>
          </a:p>
        </p:txBody>
      </p:sp>
      <p:sp>
        <p:nvSpPr>
          <p:cNvPr id="942" name="Google Shape;942;p49"/>
          <p:cNvSpPr/>
          <p:nvPr/>
        </p:nvSpPr>
        <p:spPr>
          <a:xfrm>
            <a:off x="3623324" y="3195825"/>
            <a:ext cx="4837725" cy="288000"/>
          </a:xfrm>
          <a:prstGeom prst="roundRect">
            <a:avLst>
              <a:gd fmla="val 50000" name="adj"/>
            </a:avLst>
          </a:prstGeom>
          <a:solidFill>
            <a:srgbClr val="EFF3F7"/>
          </a:solidFill>
          <a:ln cap="flat" cmpd="sng" w="15875">
            <a:solidFill>
              <a:srgbClr val="9BC7E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43" name="Google Shape;943;p49"/>
          <p:cNvSpPr/>
          <p:nvPr/>
        </p:nvSpPr>
        <p:spPr>
          <a:xfrm>
            <a:off x="3934875" y="3195825"/>
            <a:ext cx="3681000" cy="288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1" i="0" lang="en-GB" sz="1500" u="none" cap="none" strike="noStrike">
                <a:solidFill>
                  <a:srgbClr val="16334D"/>
                </a:solidFill>
                <a:latin typeface="Calibri"/>
                <a:ea typeface="Calibri"/>
                <a:cs typeface="Calibri"/>
                <a:sym typeface="Calibri"/>
              </a:rPr>
              <a:t>intern_role → students (DELETE)</a:t>
            </a:r>
            <a:endParaRPr b="0" i="0" sz="1500" u="none" cap="none" strike="noStrike">
              <a:solidFill>
                <a:schemeClr val="dk1"/>
              </a:solidFill>
              <a:latin typeface="Calibri"/>
              <a:ea typeface="Calibri"/>
              <a:cs typeface="Calibri"/>
              <a:sym typeface="Calibri"/>
            </a:endParaRPr>
          </a:p>
        </p:txBody>
      </p:sp>
      <p:sp>
        <p:nvSpPr>
          <p:cNvPr id="944" name="Google Shape;944;p49"/>
          <p:cNvSpPr/>
          <p:nvPr/>
        </p:nvSpPr>
        <p:spPr>
          <a:xfrm>
            <a:off x="7151775" y="3194953"/>
            <a:ext cx="1195875" cy="2880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6CA5D7"/>
              </a:buClr>
              <a:buSzPts val="800"/>
              <a:buFont typeface="Calibri"/>
              <a:buNone/>
            </a:pPr>
            <a:r>
              <a:rPr b="1" i="0" lang="en-GB" sz="1500" u="none" cap="none" strike="noStrike">
                <a:solidFill>
                  <a:srgbClr val="6CA5D7"/>
                </a:solidFill>
                <a:latin typeface="Calibri"/>
                <a:ea typeface="Calibri"/>
                <a:cs typeface="Calibri"/>
                <a:sym typeface="Calibri"/>
              </a:rPr>
              <a:t>✕ BLOCKED</a:t>
            </a:r>
            <a:endParaRPr b="0" i="0" sz="1500" u="none" cap="none" strike="noStrike">
              <a:solidFill>
                <a:schemeClr val="dk1"/>
              </a:solidFill>
              <a:latin typeface="Calibri"/>
              <a:ea typeface="Calibri"/>
              <a:cs typeface="Calibri"/>
              <a:sym typeface="Calibri"/>
            </a:endParaRPr>
          </a:p>
        </p:txBody>
      </p:sp>
      <p:sp>
        <p:nvSpPr>
          <p:cNvPr id="945" name="Google Shape;945;p49"/>
          <p:cNvSpPr/>
          <p:nvPr/>
        </p:nvSpPr>
        <p:spPr>
          <a:xfrm>
            <a:off x="3695419" y="3649693"/>
            <a:ext cx="4474800" cy="23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mbria"/>
              <a:buNone/>
            </a:pPr>
            <a:r>
              <a:rPr b="1" i="0" lang="en-GB" sz="1500" u="none" cap="none" strike="noStrike">
                <a:solidFill>
                  <a:srgbClr val="16334D"/>
                </a:solidFill>
                <a:latin typeface="Cambria"/>
                <a:ea typeface="Cambria"/>
                <a:cs typeface="Cambria"/>
                <a:sym typeface="Cambria"/>
              </a:rPr>
              <a:t>Removes permissions</a:t>
            </a:r>
            <a:endParaRPr b="0" i="0" sz="1500" u="none" cap="none" strike="noStrike">
              <a:solidFill>
                <a:schemeClr val="dk1"/>
              </a:solidFill>
              <a:latin typeface="Calibri"/>
              <a:ea typeface="Calibri"/>
              <a:cs typeface="Calibri"/>
              <a:sym typeface="Calibri"/>
            </a:endParaRPr>
          </a:p>
        </p:txBody>
      </p:sp>
      <p:sp>
        <p:nvSpPr>
          <p:cNvPr id="946" name="Google Shape;946;p49"/>
          <p:cNvSpPr/>
          <p:nvPr/>
        </p:nvSpPr>
        <p:spPr>
          <a:xfrm>
            <a:off x="3695419" y="3897094"/>
            <a:ext cx="4837725" cy="72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6334D"/>
              </a:buClr>
              <a:buSzPts val="900"/>
              <a:buFont typeface="Calibri"/>
              <a:buNone/>
            </a:pPr>
            <a:r>
              <a:rPr b="0" i="0" lang="en-GB" sz="1400" u="none" cap="none" strike="noStrike">
                <a:solidFill>
                  <a:srgbClr val="16334D"/>
                </a:solidFill>
                <a:latin typeface="Calibri"/>
                <a:ea typeface="Calibri"/>
                <a:cs typeface="Calibri"/>
                <a:sym typeface="Calibri"/>
              </a:rPr>
              <a:t>REVOKE withdraws privileges previously granted. Together, GRANT and REVOKE let administrators keep access tightly matched to what each role actually needs.</a:t>
            </a:r>
            <a:endParaRPr b="0" i="0" sz="1400" u="none" cap="none" strike="noStrike">
              <a:solidFill>
                <a:schemeClr val="dk1"/>
              </a:solidFill>
              <a:latin typeface="Calibri"/>
              <a:ea typeface="Calibri"/>
              <a:cs typeface="Calibri"/>
              <a:sym typeface="Calibri"/>
            </a:endParaRPr>
          </a:p>
        </p:txBody>
      </p:sp>
      <p:pic>
        <p:nvPicPr>
          <p:cNvPr descr="/home/claude/dbms_lecture2/logo/newton_logo_transparent.png" id="947" name="Google Shape;947;p49"/>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948" name="Google Shape;948;p49"/>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30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953" name="Shape 953"/>
        <p:cNvGrpSpPr/>
        <p:nvPr/>
      </p:nvGrpSpPr>
      <p:grpSpPr>
        <a:xfrm>
          <a:off x="0" y="0"/>
          <a:ext cx="0" cy="0"/>
          <a:chOff x="0" y="0"/>
          <a:chExt cx="0" cy="0"/>
        </a:xfrm>
      </p:grpSpPr>
      <p:sp>
        <p:nvSpPr>
          <p:cNvPr id="954" name="Google Shape;954;p50"/>
          <p:cNvSpPr/>
          <p:nvPr/>
        </p:nvSpPr>
        <p:spPr>
          <a:xfrm>
            <a:off x="411480" y="537168"/>
            <a:ext cx="82296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2000" u="none" cap="none" strike="noStrike">
                <a:solidFill>
                  <a:srgbClr val="FFFFFF"/>
                </a:solidFill>
                <a:latin typeface="Cambria"/>
                <a:ea typeface="Cambria"/>
                <a:cs typeface="Cambria"/>
                <a:sym typeface="Cambria"/>
              </a:rPr>
              <a:t>Checkpoint — DCL</a:t>
            </a:r>
            <a:endParaRPr b="0" i="0" sz="2000" u="none" cap="none" strike="noStrike">
              <a:solidFill>
                <a:schemeClr val="dk1"/>
              </a:solidFill>
              <a:latin typeface="Calibri"/>
              <a:ea typeface="Calibri"/>
              <a:cs typeface="Calibri"/>
              <a:sym typeface="Calibri"/>
            </a:endParaRPr>
          </a:p>
        </p:txBody>
      </p:sp>
      <p:sp>
        <p:nvSpPr>
          <p:cNvPr id="955" name="Google Shape;955;p50"/>
          <p:cNvSpPr/>
          <p:nvPr/>
        </p:nvSpPr>
        <p:spPr>
          <a:xfrm>
            <a:off x="375550" y="1283598"/>
            <a:ext cx="7998900" cy="2852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1.  Should every employee get DELETE permission by default?</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2.  Why are access restrictions important in enterprise systems?</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DBE3EB"/>
              </a:buClr>
              <a:buSzPts val="1400"/>
              <a:buFont typeface="Calibri"/>
              <a:buNone/>
            </a:pPr>
            <a:r>
              <a:rPr b="0" i="0" lang="en-GB" sz="2100" u="none" cap="none" strike="noStrike">
                <a:solidFill>
                  <a:srgbClr val="DBE3EB"/>
                </a:solidFill>
                <a:latin typeface="Calibri"/>
                <a:ea typeface="Calibri"/>
                <a:cs typeface="Calibri"/>
                <a:sym typeface="Calibri"/>
              </a:rPr>
              <a:t>3.  What risks can occur without permission control?</a:t>
            </a:r>
            <a:endParaRPr b="0" i="0" sz="2100" u="none" cap="none" strike="noStrike">
              <a:solidFill>
                <a:srgbClr val="DBE3EB"/>
              </a:solidFill>
              <a:latin typeface="Calibri"/>
              <a:ea typeface="Calibri"/>
              <a:cs typeface="Calibri"/>
              <a:sym typeface="Calibri"/>
            </a:endParaRPr>
          </a:p>
        </p:txBody>
      </p:sp>
      <p:pic>
        <p:nvPicPr>
          <p:cNvPr descr="/home/claude/dbms_lecture2/logo/newton_logo_white.png" id="956" name="Google Shape;956;p50"/>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957" name="Google Shape;957;p50"/>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962" name="Shape 962"/>
        <p:cNvGrpSpPr/>
        <p:nvPr/>
      </p:nvGrpSpPr>
      <p:grpSpPr>
        <a:xfrm>
          <a:off x="0" y="0"/>
          <a:ext cx="0" cy="0"/>
          <a:chOff x="0" y="0"/>
          <a:chExt cx="0" cy="0"/>
        </a:xfrm>
      </p:grpSpPr>
      <p:sp>
        <p:nvSpPr>
          <p:cNvPr id="963" name="Google Shape;963;p51"/>
          <p:cNvSpPr/>
          <p:nvPr/>
        </p:nvSpPr>
        <p:spPr>
          <a:xfrm>
            <a:off x="411505" y="336018"/>
            <a:ext cx="82296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000"/>
              <a:buFont typeface="Cambria"/>
              <a:buNone/>
            </a:pPr>
            <a:r>
              <a:rPr b="1" i="0" lang="en-GB" sz="1800" u="none" cap="none" strike="noStrike">
                <a:solidFill>
                  <a:srgbClr val="FFFFFF"/>
                </a:solidFill>
                <a:latin typeface="Cambria"/>
                <a:ea typeface="Cambria"/>
                <a:cs typeface="Cambria"/>
                <a:sym typeface="Cambria"/>
              </a:rPr>
              <a:t>Checkpoint — DCL</a:t>
            </a:r>
            <a:endParaRPr b="0" i="0" sz="1800" u="none" cap="none" strike="noStrike">
              <a:solidFill>
                <a:schemeClr val="dk1"/>
              </a:solidFill>
              <a:latin typeface="Calibri"/>
              <a:ea typeface="Calibri"/>
              <a:cs typeface="Calibri"/>
              <a:sym typeface="Calibri"/>
            </a:endParaRPr>
          </a:p>
        </p:txBody>
      </p:sp>
      <p:sp>
        <p:nvSpPr>
          <p:cNvPr id="964" name="Google Shape;964;p51"/>
          <p:cNvSpPr/>
          <p:nvPr/>
        </p:nvSpPr>
        <p:spPr>
          <a:xfrm>
            <a:off x="411500" y="1011248"/>
            <a:ext cx="8355300" cy="3887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300"/>
              <a:buFont typeface="Calibri"/>
              <a:buNone/>
            </a:pPr>
            <a:r>
              <a:rPr b="1" i="0" lang="en-GB" sz="1800" u="none" cap="none" strike="noStrike">
                <a:solidFill>
                  <a:schemeClr val="lt1"/>
                </a:solidFill>
                <a:latin typeface="Calibri"/>
                <a:ea typeface="Calibri"/>
                <a:cs typeface="Calibri"/>
                <a:sym typeface="Calibri"/>
              </a:rPr>
              <a:t>1.  Should every employee get DELETE permission by default?</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9BC7EF"/>
              </a:buClr>
              <a:buSzPts val="1100"/>
              <a:buFont typeface="Calibri"/>
              <a:buNone/>
            </a:pPr>
            <a:r>
              <a:rPr b="1" i="0" lang="en-GB" sz="1800" u="none" cap="none" strike="noStrike">
                <a:solidFill>
                  <a:srgbClr val="9BC7EF"/>
                </a:solidFill>
                <a:latin typeface="Calibri"/>
                <a:ea typeface="Calibri"/>
                <a:cs typeface="Calibri"/>
                <a:sym typeface="Calibri"/>
              </a:rPr>
              <a:t>A: </a:t>
            </a:r>
            <a:r>
              <a:rPr b="0" i="0" lang="en-GB" sz="1800" u="none" cap="none" strike="noStrike">
                <a:solidFill>
                  <a:srgbClr val="EAEDF0"/>
                </a:solidFill>
                <a:latin typeface="Calibri"/>
                <a:ea typeface="Calibri"/>
                <a:cs typeface="Calibri"/>
                <a:sym typeface="Calibri"/>
              </a:rPr>
              <a:t>No — follow the principle of least privilege; grant DELETE only to roles that genuinely need it.</a:t>
            </a:r>
            <a:endParaRPr b="0" i="0" sz="1800" u="none" cap="none" strike="noStrike">
              <a:solidFill>
                <a:srgbClr val="EAEDF0"/>
              </a:solidFill>
              <a:latin typeface="Calibri"/>
              <a:ea typeface="Calibri"/>
              <a:cs typeface="Calibri"/>
              <a:sym typeface="Calibri"/>
            </a:endParaRPr>
          </a:p>
          <a:p>
            <a:pPr indent="0" lvl="0" marL="177800" marR="0" rtl="0" algn="l">
              <a:lnSpc>
                <a:spcPct val="100000"/>
              </a:lnSpc>
              <a:spcBef>
                <a:spcPts val="300"/>
              </a:spcBef>
              <a:spcAft>
                <a:spcPts val="0"/>
              </a:spcAft>
              <a:buClr>
                <a:srgbClr val="9BC7EF"/>
              </a:buClr>
              <a:buSzPts val="1100"/>
              <a:buFont typeface="Calibri"/>
              <a:buNone/>
            </a:pPr>
            <a:r>
              <a:t/>
            </a:r>
            <a:endParaRPr sz="1800">
              <a:solidFill>
                <a:srgbClr val="EAEDF0"/>
              </a:solidFill>
              <a:latin typeface="Calibri"/>
              <a:ea typeface="Calibri"/>
              <a:cs typeface="Calibri"/>
              <a:sym typeface="Calibri"/>
            </a:endParaRPr>
          </a:p>
          <a:p>
            <a:pPr indent="0" lvl="0" marL="0" marR="0" rtl="0" algn="l">
              <a:lnSpc>
                <a:spcPct val="100000"/>
              </a:lnSpc>
              <a:spcBef>
                <a:spcPts val="1100"/>
              </a:spcBef>
              <a:spcAft>
                <a:spcPts val="0"/>
              </a:spcAft>
              <a:buClr>
                <a:schemeClr val="lt1"/>
              </a:buClr>
              <a:buSzPts val="1300"/>
              <a:buFont typeface="Calibri"/>
              <a:buNone/>
            </a:pPr>
            <a:r>
              <a:rPr b="1" i="0" lang="en-GB" sz="1800" u="none" cap="none" strike="noStrike">
                <a:solidFill>
                  <a:schemeClr val="lt1"/>
                </a:solidFill>
                <a:latin typeface="Calibri"/>
                <a:ea typeface="Calibri"/>
                <a:cs typeface="Calibri"/>
                <a:sym typeface="Calibri"/>
              </a:rPr>
              <a:t>2.  Why are access restrictions important in enterprise systems?</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9BC7EF"/>
              </a:buClr>
              <a:buSzPts val="1100"/>
              <a:buFont typeface="Calibri"/>
              <a:buNone/>
            </a:pPr>
            <a:r>
              <a:rPr b="1" i="0" lang="en-GB" sz="1800" u="none" cap="none" strike="noStrike">
                <a:solidFill>
                  <a:srgbClr val="9BC7EF"/>
                </a:solidFill>
                <a:latin typeface="Calibri"/>
                <a:ea typeface="Calibri"/>
                <a:cs typeface="Calibri"/>
                <a:sym typeface="Calibri"/>
              </a:rPr>
              <a:t>A: </a:t>
            </a:r>
            <a:r>
              <a:rPr b="0" i="0" lang="en-GB" sz="1800" u="none" cap="none" strike="noStrike">
                <a:solidFill>
                  <a:srgbClr val="EAEDF0"/>
                </a:solidFill>
                <a:latin typeface="Calibri"/>
                <a:ea typeface="Calibri"/>
                <a:cs typeface="Calibri"/>
                <a:sym typeface="Calibri"/>
              </a:rPr>
              <a:t>They protect sensitive data from unauthorized access or accidental/malicious changes, and keep accountability clear across roles.</a:t>
            </a:r>
            <a:endParaRPr b="0" i="0" sz="1800" u="none" cap="none" strike="noStrike">
              <a:solidFill>
                <a:srgbClr val="EAEDF0"/>
              </a:solidFill>
              <a:latin typeface="Calibri"/>
              <a:ea typeface="Calibri"/>
              <a:cs typeface="Calibri"/>
              <a:sym typeface="Calibri"/>
            </a:endParaRPr>
          </a:p>
          <a:p>
            <a:pPr indent="0" lvl="0" marL="177800" marR="0" rtl="0" algn="l">
              <a:lnSpc>
                <a:spcPct val="100000"/>
              </a:lnSpc>
              <a:spcBef>
                <a:spcPts val="300"/>
              </a:spcBef>
              <a:spcAft>
                <a:spcPts val="0"/>
              </a:spcAft>
              <a:buClr>
                <a:srgbClr val="9BC7EF"/>
              </a:buClr>
              <a:buSzPts val="1100"/>
              <a:buFont typeface="Calibri"/>
              <a:buNone/>
            </a:pPr>
            <a:r>
              <a:t/>
            </a:r>
            <a:endParaRPr sz="1800">
              <a:solidFill>
                <a:srgbClr val="EAEDF0"/>
              </a:solidFill>
              <a:latin typeface="Calibri"/>
              <a:ea typeface="Calibri"/>
              <a:cs typeface="Calibri"/>
              <a:sym typeface="Calibri"/>
            </a:endParaRPr>
          </a:p>
          <a:p>
            <a:pPr indent="0" lvl="0" marL="0" marR="0" rtl="0" algn="l">
              <a:lnSpc>
                <a:spcPct val="100000"/>
              </a:lnSpc>
              <a:spcBef>
                <a:spcPts val="1100"/>
              </a:spcBef>
              <a:spcAft>
                <a:spcPts val="0"/>
              </a:spcAft>
              <a:buClr>
                <a:schemeClr val="lt1"/>
              </a:buClr>
              <a:buSzPts val="1300"/>
              <a:buFont typeface="Calibri"/>
              <a:buNone/>
            </a:pPr>
            <a:r>
              <a:rPr b="1" i="0" lang="en-GB" sz="1800" u="none" cap="none" strike="noStrike">
                <a:solidFill>
                  <a:schemeClr val="lt1"/>
                </a:solidFill>
                <a:latin typeface="Calibri"/>
                <a:ea typeface="Calibri"/>
                <a:cs typeface="Calibri"/>
                <a:sym typeface="Calibri"/>
              </a:rPr>
              <a:t>3.  What risks can occur without permission control?</a:t>
            </a:r>
            <a:endParaRPr b="0" i="0" sz="1800" u="none" cap="none" strike="noStrike">
              <a:solidFill>
                <a:schemeClr val="dk1"/>
              </a:solidFill>
              <a:latin typeface="Arial"/>
              <a:ea typeface="Arial"/>
              <a:cs typeface="Arial"/>
              <a:sym typeface="Arial"/>
            </a:endParaRPr>
          </a:p>
          <a:p>
            <a:pPr indent="0" lvl="0" marL="177800" marR="0" rtl="0" algn="l">
              <a:lnSpc>
                <a:spcPct val="100000"/>
              </a:lnSpc>
              <a:spcBef>
                <a:spcPts val="300"/>
              </a:spcBef>
              <a:spcAft>
                <a:spcPts val="0"/>
              </a:spcAft>
              <a:buClr>
                <a:srgbClr val="9BC7EF"/>
              </a:buClr>
              <a:buSzPts val="1100"/>
              <a:buFont typeface="Calibri"/>
              <a:buNone/>
            </a:pPr>
            <a:r>
              <a:rPr b="1" i="0" lang="en-GB" sz="1800" u="none" cap="none" strike="noStrike">
                <a:solidFill>
                  <a:srgbClr val="9BC7EF"/>
                </a:solidFill>
                <a:latin typeface="Calibri"/>
                <a:ea typeface="Calibri"/>
                <a:cs typeface="Calibri"/>
                <a:sym typeface="Calibri"/>
              </a:rPr>
              <a:t>A: </a:t>
            </a:r>
            <a:r>
              <a:rPr b="0" i="0" lang="en-GB" sz="1800" u="none" cap="none" strike="noStrike">
                <a:solidFill>
                  <a:srgbClr val="EAEDF0"/>
                </a:solidFill>
                <a:latin typeface="Calibri"/>
                <a:ea typeface="Calibri"/>
                <a:cs typeface="Calibri"/>
                <a:sym typeface="Calibri"/>
              </a:rPr>
              <a:t>Unauthorized data access, accidental or malicious deletion/modification, compliance violations, and no clear accountability for who changed what.</a:t>
            </a:r>
            <a:endParaRPr b="0" i="0" sz="1800" u="none" cap="none" strike="noStrike">
              <a:solidFill>
                <a:srgbClr val="DBE3EB"/>
              </a:solidFill>
              <a:latin typeface="Calibri"/>
              <a:ea typeface="Calibri"/>
              <a:cs typeface="Calibri"/>
              <a:sym typeface="Calibri"/>
            </a:endParaRPr>
          </a:p>
        </p:txBody>
      </p:sp>
      <p:pic>
        <p:nvPicPr>
          <p:cNvPr descr="/home/claude/dbms_lecture2/logo/newton_logo_white.png" id="965" name="Google Shape;965;p51"/>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966" name="Google Shape;966;p51"/>
          <p:cNvSpPr/>
          <p:nvPr/>
        </p:nvSpPr>
        <p:spPr>
          <a:xfrm>
            <a:off x="8526551" y="4800600"/>
            <a:ext cx="411525" cy="2056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52"/>
          <p:cNvSpPr/>
          <p:nvPr/>
        </p:nvSpPr>
        <p:spPr>
          <a:xfrm>
            <a:off x="411480" y="288036"/>
            <a:ext cx="5486400" cy="2400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4597E1"/>
              </a:buClr>
              <a:buSzPts val="1000"/>
              <a:buFont typeface="Calibri"/>
              <a:buNone/>
            </a:pPr>
            <a:r>
              <a:rPr b="1" i="0" lang="en-GB" sz="1300" u="none" cap="none" strike="noStrike">
                <a:solidFill>
                  <a:srgbClr val="4597E1"/>
                </a:solidFill>
                <a:latin typeface="Calibri"/>
                <a:ea typeface="Calibri"/>
                <a:cs typeface="Calibri"/>
                <a:sym typeface="Calibri"/>
              </a:rPr>
              <a:t>RECAP</a:t>
            </a:r>
            <a:endParaRPr b="0" i="0" sz="1300" u="none" cap="none" strike="noStrike">
              <a:solidFill>
                <a:schemeClr val="dk1"/>
              </a:solidFill>
              <a:latin typeface="Calibri"/>
              <a:ea typeface="Calibri"/>
              <a:cs typeface="Calibri"/>
              <a:sym typeface="Calibri"/>
            </a:endParaRPr>
          </a:p>
        </p:txBody>
      </p:sp>
      <p:sp>
        <p:nvSpPr>
          <p:cNvPr id="973" name="Google Shape;973;p52"/>
          <p:cNvSpPr/>
          <p:nvPr/>
        </p:nvSpPr>
        <p:spPr>
          <a:xfrm>
            <a:off x="411480" y="514350"/>
            <a:ext cx="80924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E4161"/>
              </a:buClr>
              <a:buSzPts val="2400"/>
              <a:buFont typeface="Cambria"/>
              <a:buNone/>
            </a:pPr>
            <a:r>
              <a:rPr b="1" i="0" lang="en-GB" sz="1900" u="none" cap="none" strike="noStrike">
                <a:solidFill>
                  <a:srgbClr val="1E4161"/>
                </a:solidFill>
                <a:latin typeface="Cambria"/>
                <a:ea typeface="Cambria"/>
                <a:cs typeface="Cambria"/>
                <a:sym typeface="Cambria"/>
              </a:rPr>
              <a:t>Your SQL command toolkit</a:t>
            </a:r>
            <a:endParaRPr b="0" i="0" sz="1900" u="none" cap="none" strike="noStrike">
              <a:solidFill>
                <a:schemeClr val="dk1"/>
              </a:solidFill>
              <a:latin typeface="Calibri"/>
              <a:ea typeface="Calibri"/>
              <a:cs typeface="Calibri"/>
              <a:sym typeface="Calibri"/>
            </a:endParaRPr>
          </a:p>
        </p:txBody>
      </p:sp>
      <p:sp>
        <p:nvSpPr>
          <p:cNvPr id="974" name="Google Shape;974;p52"/>
          <p:cNvSpPr/>
          <p:nvPr/>
        </p:nvSpPr>
        <p:spPr>
          <a:xfrm>
            <a:off x="411480" y="1268730"/>
            <a:ext cx="8298180" cy="493776"/>
          </a:xfrm>
          <a:prstGeom prst="roundRect">
            <a:avLst>
              <a:gd fmla="val 13889" name="adj"/>
            </a:avLst>
          </a:prstGeom>
          <a:solidFill>
            <a:srgbClr val="F8FA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75" name="Google Shape;975;p52"/>
          <p:cNvSpPr/>
          <p:nvPr/>
        </p:nvSpPr>
        <p:spPr>
          <a:xfrm>
            <a:off x="411480" y="1268730"/>
            <a:ext cx="1097280" cy="493776"/>
          </a:xfrm>
          <a:prstGeom prst="roundRect">
            <a:avLst>
              <a:gd fmla="val 13889" name="adj"/>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76" name="Google Shape;976;p52"/>
          <p:cNvSpPr/>
          <p:nvPr/>
        </p:nvSpPr>
        <p:spPr>
          <a:xfrm>
            <a:off x="411480" y="1268730"/>
            <a:ext cx="1097280" cy="49377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GB" sz="1600" u="none" cap="none" strike="noStrike">
                <a:solidFill>
                  <a:srgbClr val="FFFFFF"/>
                </a:solidFill>
                <a:latin typeface="Cambria"/>
                <a:ea typeface="Cambria"/>
                <a:cs typeface="Cambria"/>
                <a:sym typeface="Cambria"/>
              </a:rPr>
              <a:t>DDL</a:t>
            </a:r>
            <a:endParaRPr b="0" i="0" sz="1600" u="none" cap="none" strike="noStrike">
              <a:solidFill>
                <a:schemeClr val="dk1"/>
              </a:solidFill>
              <a:latin typeface="Calibri"/>
              <a:ea typeface="Calibri"/>
              <a:cs typeface="Calibri"/>
              <a:sym typeface="Calibri"/>
            </a:endParaRPr>
          </a:p>
        </p:txBody>
      </p:sp>
      <p:sp>
        <p:nvSpPr>
          <p:cNvPr id="977" name="Google Shape;977;p52"/>
          <p:cNvSpPr/>
          <p:nvPr/>
        </p:nvSpPr>
        <p:spPr>
          <a:xfrm>
            <a:off x="1645920" y="1268730"/>
            <a:ext cx="6858000" cy="49377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onsolas"/>
              <a:buNone/>
            </a:pPr>
            <a:r>
              <a:rPr b="0" i="0" lang="en-GB" sz="1400" u="none" cap="none" strike="noStrike">
                <a:solidFill>
                  <a:srgbClr val="16334D"/>
                </a:solidFill>
                <a:latin typeface="Consolas"/>
                <a:ea typeface="Consolas"/>
                <a:cs typeface="Consolas"/>
                <a:sym typeface="Consolas"/>
              </a:rPr>
              <a:t>CREATE · ALTER · TRUNCATE · DROP</a:t>
            </a:r>
            <a:endParaRPr b="0" i="0" sz="1400" u="none" cap="none" strike="noStrike">
              <a:solidFill>
                <a:schemeClr val="dk1"/>
              </a:solidFill>
              <a:latin typeface="Calibri"/>
              <a:ea typeface="Calibri"/>
              <a:cs typeface="Calibri"/>
              <a:sym typeface="Calibri"/>
            </a:endParaRPr>
          </a:p>
        </p:txBody>
      </p:sp>
      <p:sp>
        <p:nvSpPr>
          <p:cNvPr id="978" name="Google Shape;978;p52"/>
          <p:cNvSpPr/>
          <p:nvPr/>
        </p:nvSpPr>
        <p:spPr>
          <a:xfrm>
            <a:off x="411480" y="1865376"/>
            <a:ext cx="8298180" cy="493776"/>
          </a:xfrm>
          <a:prstGeom prst="roundRect">
            <a:avLst>
              <a:gd fmla="val 13889" name="adj"/>
            </a:avLst>
          </a:prstGeom>
          <a:solidFill>
            <a:srgbClr val="F8FA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79" name="Google Shape;979;p52"/>
          <p:cNvSpPr/>
          <p:nvPr/>
        </p:nvSpPr>
        <p:spPr>
          <a:xfrm>
            <a:off x="411480" y="1865376"/>
            <a:ext cx="1097280" cy="493776"/>
          </a:xfrm>
          <a:prstGeom prst="roundRect">
            <a:avLst>
              <a:gd fmla="val 13889" name="adj"/>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80" name="Google Shape;980;p52"/>
          <p:cNvSpPr/>
          <p:nvPr/>
        </p:nvSpPr>
        <p:spPr>
          <a:xfrm>
            <a:off x="411480" y="1865376"/>
            <a:ext cx="1097280" cy="49377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GB" sz="1600" u="none" cap="none" strike="noStrike">
                <a:solidFill>
                  <a:srgbClr val="FFFFFF"/>
                </a:solidFill>
                <a:latin typeface="Cambria"/>
                <a:ea typeface="Cambria"/>
                <a:cs typeface="Cambria"/>
                <a:sym typeface="Cambria"/>
              </a:rPr>
              <a:t>DML</a:t>
            </a:r>
            <a:endParaRPr b="0" i="0" sz="1600" u="none" cap="none" strike="noStrike">
              <a:solidFill>
                <a:schemeClr val="dk1"/>
              </a:solidFill>
              <a:latin typeface="Calibri"/>
              <a:ea typeface="Calibri"/>
              <a:cs typeface="Calibri"/>
              <a:sym typeface="Calibri"/>
            </a:endParaRPr>
          </a:p>
        </p:txBody>
      </p:sp>
      <p:sp>
        <p:nvSpPr>
          <p:cNvPr id="981" name="Google Shape;981;p52"/>
          <p:cNvSpPr/>
          <p:nvPr/>
        </p:nvSpPr>
        <p:spPr>
          <a:xfrm>
            <a:off x="1645920" y="1865376"/>
            <a:ext cx="6858000" cy="49377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onsolas"/>
              <a:buNone/>
            </a:pPr>
            <a:r>
              <a:rPr b="0" i="0" lang="en-GB" sz="1400" u="none" cap="none" strike="noStrike">
                <a:solidFill>
                  <a:srgbClr val="16334D"/>
                </a:solidFill>
                <a:latin typeface="Consolas"/>
                <a:ea typeface="Consolas"/>
                <a:cs typeface="Consolas"/>
                <a:sym typeface="Consolas"/>
              </a:rPr>
              <a:t>INSERT · SELECT · UPDATE · DELETE</a:t>
            </a:r>
            <a:endParaRPr b="0" i="0" sz="1400" u="none" cap="none" strike="noStrike">
              <a:solidFill>
                <a:schemeClr val="dk1"/>
              </a:solidFill>
              <a:latin typeface="Calibri"/>
              <a:ea typeface="Calibri"/>
              <a:cs typeface="Calibri"/>
              <a:sym typeface="Calibri"/>
            </a:endParaRPr>
          </a:p>
        </p:txBody>
      </p:sp>
      <p:sp>
        <p:nvSpPr>
          <p:cNvPr id="982" name="Google Shape;982;p52"/>
          <p:cNvSpPr/>
          <p:nvPr/>
        </p:nvSpPr>
        <p:spPr>
          <a:xfrm>
            <a:off x="411480" y="2462022"/>
            <a:ext cx="8298180" cy="493776"/>
          </a:xfrm>
          <a:prstGeom prst="roundRect">
            <a:avLst>
              <a:gd fmla="val 13889" name="adj"/>
            </a:avLst>
          </a:prstGeom>
          <a:solidFill>
            <a:srgbClr val="F8FA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83" name="Google Shape;983;p52"/>
          <p:cNvSpPr/>
          <p:nvPr/>
        </p:nvSpPr>
        <p:spPr>
          <a:xfrm>
            <a:off x="411480" y="2462022"/>
            <a:ext cx="1097280" cy="493776"/>
          </a:xfrm>
          <a:prstGeom prst="roundRect">
            <a:avLst>
              <a:gd fmla="val 13889" name="adj"/>
            </a:avLst>
          </a:prstGeom>
          <a:solidFill>
            <a:srgbClr val="65A9E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84" name="Google Shape;984;p52"/>
          <p:cNvSpPr/>
          <p:nvPr/>
        </p:nvSpPr>
        <p:spPr>
          <a:xfrm>
            <a:off x="411480" y="2462022"/>
            <a:ext cx="1097280" cy="49377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GB" sz="1600" u="none" cap="none" strike="noStrike">
                <a:solidFill>
                  <a:srgbClr val="FFFFFF"/>
                </a:solidFill>
                <a:latin typeface="Cambria"/>
                <a:ea typeface="Cambria"/>
                <a:cs typeface="Cambria"/>
                <a:sym typeface="Cambria"/>
              </a:rPr>
              <a:t>TCL</a:t>
            </a:r>
            <a:endParaRPr b="0" i="0" sz="1600" u="none" cap="none" strike="noStrike">
              <a:solidFill>
                <a:schemeClr val="dk1"/>
              </a:solidFill>
              <a:latin typeface="Calibri"/>
              <a:ea typeface="Calibri"/>
              <a:cs typeface="Calibri"/>
              <a:sym typeface="Calibri"/>
            </a:endParaRPr>
          </a:p>
        </p:txBody>
      </p:sp>
      <p:sp>
        <p:nvSpPr>
          <p:cNvPr id="985" name="Google Shape;985;p52"/>
          <p:cNvSpPr/>
          <p:nvPr/>
        </p:nvSpPr>
        <p:spPr>
          <a:xfrm>
            <a:off x="1645920" y="2462022"/>
            <a:ext cx="6858000" cy="49377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onsolas"/>
              <a:buNone/>
            </a:pPr>
            <a:r>
              <a:rPr b="0" i="0" lang="en-GB" sz="1400" u="none" cap="none" strike="noStrike">
                <a:solidFill>
                  <a:srgbClr val="16334D"/>
                </a:solidFill>
                <a:latin typeface="Consolas"/>
                <a:ea typeface="Consolas"/>
                <a:cs typeface="Consolas"/>
                <a:sym typeface="Consolas"/>
              </a:rPr>
              <a:t>COMMIT · ROLLBACK · SAVEPOINT</a:t>
            </a:r>
            <a:endParaRPr b="0" i="0" sz="1400" u="none" cap="none" strike="noStrike">
              <a:solidFill>
                <a:schemeClr val="dk1"/>
              </a:solidFill>
              <a:latin typeface="Calibri"/>
              <a:ea typeface="Calibri"/>
              <a:cs typeface="Calibri"/>
              <a:sym typeface="Calibri"/>
            </a:endParaRPr>
          </a:p>
        </p:txBody>
      </p:sp>
      <p:sp>
        <p:nvSpPr>
          <p:cNvPr id="986" name="Google Shape;986;p52"/>
          <p:cNvSpPr/>
          <p:nvPr/>
        </p:nvSpPr>
        <p:spPr>
          <a:xfrm>
            <a:off x="411480" y="3058668"/>
            <a:ext cx="8298180" cy="493776"/>
          </a:xfrm>
          <a:prstGeom prst="roundRect">
            <a:avLst>
              <a:gd fmla="val 13889" name="adj"/>
            </a:avLst>
          </a:prstGeom>
          <a:solidFill>
            <a:srgbClr val="F8FA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87" name="Google Shape;987;p52"/>
          <p:cNvSpPr/>
          <p:nvPr/>
        </p:nvSpPr>
        <p:spPr>
          <a:xfrm>
            <a:off x="411480" y="3058668"/>
            <a:ext cx="1097280" cy="493776"/>
          </a:xfrm>
          <a:prstGeom prst="roundRect">
            <a:avLst>
              <a:gd fmla="val 13889" name="adj"/>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88" name="Google Shape;988;p52"/>
          <p:cNvSpPr/>
          <p:nvPr/>
        </p:nvSpPr>
        <p:spPr>
          <a:xfrm>
            <a:off x="411480" y="3058668"/>
            <a:ext cx="1097280" cy="49377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GB" sz="1600" u="none" cap="none" strike="noStrike">
                <a:solidFill>
                  <a:srgbClr val="FFFFFF"/>
                </a:solidFill>
                <a:latin typeface="Cambria"/>
                <a:ea typeface="Cambria"/>
                <a:cs typeface="Cambria"/>
                <a:sym typeface="Cambria"/>
              </a:rPr>
              <a:t>DCL</a:t>
            </a:r>
            <a:endParaRPr b="0" i="0" sz="1600" u="none" cap="none" strike="noStrike">
              <a:solidFill>
                <a:schemeClr val="dk1"/>
              </a:solidFill>
              <a:latin typeface="Calibri"/>
              <a:ea typeface="Calibri"/>
              <a:cs typeface="Calibri"/>
              <a:sym typeface="Calibri"/>
            </a:endParaRPr>
          </a:p>
        </p:txBody>
      </p:sp>
      <p:sp>
        <p:nvSpPr>
          <p:cNvPr id="989" name="Google Shape;989;p52"/>
          <p:cNvSpPr/>
          <p:nvPr/>
        </p:nvSpPr>
        <p:spPr>
          <a:xfrm>
            <a:off x="1645920" y="3058668"/>
            <a:ext cx="6858000" cy="49377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onsolas"/>
              <a:buNone/>
            </a:pPr>
            <a:r>
              <a:rPr b="0" i="0" lang="en-GB" sz="1400" u="none" cap="none" strike="noStrike">
                <a:solidFill>
                  <a:srgbClr val="16334D"/>
                </a:solidFill>
                <a:latin typeface="Consolas"/>
                <a:ea typeface="Consolas"/>
                <a:cs typeface="Consolas"/>
                <a:sym typeface="Consolas"/>
              </a:rPr>
              <a:t>GRANT · REVOKE</a:t>
            </a:r>
            <a:endParaRPr b="0" i="0" sz="1400" u="none" cap="none" strike="noStrike">
              <a:solidFill>
                <a:schemeClr val="dk1"/>
              </a:solidFill>
              <a:latin typeface="Calibri"/>
              <a:ea typeface="Calibri"/>
              <a:cs typeface="Calibri"/>
              <a:sym typeface="Calibri"/>
            </a:endParaRPr>
          </a:p>
        </p:txBody>
      </p:sp>
      <p:sp>
        <p:nvSpPr>
          <p:cNvPr id="990" name="Google Shape;990;p52"/>
          <p:cNvSpPr/>
          <p:nvPr/>
        </p:nvSpPr>
        <p:spPr>
          <a:xfrm>
            <a:off x="411480" y="3669030"/>
            <a:ext cx="8298180" cy="925830"/>
          </a:xfrm>
          <a:prstGeom prst="roundRect">
            <a:avLst>
              <a:gd fmla="val 8889" name="adj"/>
            </a:avLst>
          </a:prstGeom>
          <a:solidFill>
            <a:srgbClr val="E6ECF1"/>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991" name="Google Shape;991;p52"/>
          <p:cNvSpPr/>
          <p:nvPr/>
        </p:nvSpPr>
        <p:spPr>
          <a:xfrm>
            <a:off x="617220" y="3758184"/>
            <a:ext cx="34290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368EDE"/>
              </a:buClr>
              <a:buSzPts val="900"/>
              <a:buFont typeface="Calibri"/>
              <a:buNone/>
            </a:pPr>
            <a:r>
              <a:rPr b="1" i="0" lang="en-GB" sz="1300" u="none" cap="none" strike="noStrike">
                <a:solidFill>
                  <a:srgbClr val="368EDE"/>
                </a:solidFill>
                <a:latin typeface="Calibri"/>
                <a:ea typeface="Calibri"/>
                <a:cs typeface="Calibri"/>
                <a:sym typeface="Calibri"/>
              </a:rPr>
              <a:t>Remember the trios</a:t>
            </a:r>
            <a:endParaRPr b="0" i="0" sz="1300" u="none" cap="none" strike="noStrike">
              <a:solidFill>
                <a:schemeClr val="dk1"/>
              </a:solidFill>
              <a:latin typeface="Calibri"/>
              <a:ea typeface="Calibri"/>
              <a:cs typeface="Calibri"/>
              <a:sym typeface="Calibri"/>
            </a:endParaRPr>
          </a:p>
        </p:txBody>
      </p:sp>
      <p:sp>
        <p:nvSpPr>
          <p:cNvPr id="992" name="Google Shape;992;p52"/>
          <p:cNvSpPr/>
          <p:nvPr/>
        </p:nvSpPr>
        <p:spPr>
          <a:xfrm>
            <a:off x="617220" y="3977640"/>
            <a:ext cx="7886700" cy="5486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6334D"/>
              </a:buClr>
              <a:buSzPts val="1100"/>
              <a:buFont typeface="Calibri"/>
              <a:buNone/>
            </a:pPr>
            <a:r>
              <a:rPr b="1" i="0" lang="en-GB" sz="1400" u="none" cap="none" strike="noStrike">
                <a:solidFill>
                  <a:srgbClr val="16334D"/>
                </a:solidFill>
                <a:latin typeface="Calibri"/>
                <a:ea typeface="Calibri"/>
                <a:cs typeface="Calibri"/>
                <a:sym typeface="Calibri"/>
              </a:rPr>
              <a:t>DELETE vs TRUNCATE vs DROP   ·   COMMIT vs ROLLBACK   ·   GRANT vs REVOKE   ·   CREATE vs ALTER</a:t>
            </a:r>
            <a:endParaRPr b="0" i="0" sz="1400" u="none" cap="none" strike="noStrike">
              <a:solidFill>
                <a:schemeClr val="dk1"/>
              </a:solidFill>
              <a:latin typeface="Calibri"/>
              <a:ea typeface="Calibri"/>
              <a:cs typeface="Calibri"/>
              <a:sym typeface="Calibri"/>
            </a:endParaRPr>
          </a:p>
        </p:txBody>
      </p:sp>
      <p:pic>
        <p:nvPicPr>
          <p:cNvPr descr="/home/claude/dbms_lecture2/logo/newton_logo_transparent.png" id="993" name="Google Shape;993;p52"/>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994" name="Google Shape;994;p52"/>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1AAB2"/>
              </a:buClr>
              <a:buSzPts val="800"/>
              <a:buFont typeface="Calibri"/>
              <a:buNone/>
            </a:pPr>
            <a:r>
              <a:rPr b="0" i="0" lang="en-GB" sz="1100" u="none" cap="none" strike="noStrike">
                <a:solidFill>
                  <a:srgbClr val="A1AAB2"/>
                </a:solidFill>
                <a:latin typeface="Calibri"/>
                <a:ea typeface="Calibri"/>
                <a:cs typeface="Calibri"/>
                <a:sym typeface="Calibri"/>
              </a:rPr>
              <a:t>33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161"/>
        </a:solidFill>
      </p:bgPr>
    </p:bg>
    <p:spTree>
      <p:nvGrpSpPr>
        <p:cNvPr id="999" name="Shape 999"/>
        <p:cNvGrpSpPr/>
        <p:nvPr/>
      </p:nvGrpSpPr>
      <p:grpSpPr>
        <a:xfrm>
          <a:off x="0" y="0"/>
          <a:ext cx="0" cy="0"/>
          <a:chOff x="0" y="0"/>
          <a:chExt cx="0" cy="0"/>
        </a:xfrm>
      </p:grpSpPr>
      <p:sp>
        <p:nvSpPr>
          <p:cNvPr id="1000" name="Google Shape;1000;p53"/>
          <p:cNvSpPr/>
          <p:nvPr/>
        </p:nvSpPr>
        <p:spPr>
          <a:xfrm>
            <a:off x="411480" y="288036"/>
            <a:ext cx="54864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000"/>
              <a:buFont typeface="Calibri"/>
              <a:buNone/>
            </a:pPr>
            <a:r>
              <a:rPr b="1" i="0" lang="en-GB" sz="1300" u="none" cap="none" strike="noStrike">
                <a:solidFill>
                  <a:srgbClr val="DBE3EB"/>
                </a:solidFill>
                <a:latin typeface="Calibri"/>
                <a:ea typeface="Calibri"/>
                <a:cs typeface="Calibri"/>
                <a:sym typeface="Calibri"/>
              </a:rPr>
              <a:t>BACK TO WHERE WE STARTED</a:t>
            </a:r>
            <a:endParaRPr b="0" i="0" sz="1300" u="none" cap="none" strike="noStrike">
              <a:solidFill>
                <a:schemeClr val="dk1"/>
              </a:solidFill>
              <a:latin typeface="Calibri"/>
              <a:ea typeface="Calibri"/>
              <a:cs typeface="Calibri"/>
              <a:sym typeface="Calibri"/>
            </a:endParaRPr>
          </a:p>
        </p:txBody>
      </p:sp>
      <p:sp>
        <p:nvSpPr>
          <p:cNvPr id="1001" name="Google Shape;1001;p53"/>
          <p:cNvSpPr/>
          <p:nvPr/>
        </p:nvSpPr>
        <p:spPr>
          <a:xfrm>
            <a:off x="411480" y="651510"/>
            <a:ext cx="829818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800"/>
              <a:buFont typeface="Cambria"/>
              <a:buNone/>
            </a:pPr>
            <a:r>
              <a:rPr b="1" i="1" lang="en-GB" sz="1900" u="none" cap="none" strike="noStrike">
                <a:solidFill>
                  <a:srgbClr val="FFFFFF"/>
                </a:solidFill>
                <a:latin typeface="Cambria"/>
                <a:ea typeface="Cambria"/>
                <a:cs typeface="Cambria"/>
                <a:sym typeface="Cambria"/>
              </a:rPr>
              <a:t>"How do humans actually communicate with databases?"</a:t>
            </a:r>
            <a:endParaRPr b="0" i="0" sz="1900" u="none" cap="none" strike="noStrike">
              <a:solidFill>
                <a:schemeClr val="dk1"/>
              </a:solidFill>
              <a:latin typeface="Calibri"/>
              <a:ea typeface="Calibri"/>
              <a:cs typeface="Calibri"/>
              <a:sym typeface="Calibri"/>
            </a:endParaRPr>
          </a:p>
        </p:txBody>
      </p:sp>
      <p:sp>
        <p:nvSpPr>
          <p:cNvPr id="1002" name="Google Shape;1002;p53"/>
          <p:cNvSpPr/>
          <p:nvPr/>
        </p:nvSpPr>
        <p:spPr>
          <a:xfrm>
            <a:off x="411480" y="1474470"/>
            <a:ext cx="8298180" cy="2846070"/>
          </a:xfrm>
          <a:prstGeom prst="roundRect">
            <a:avLst>
              <a:gd fmla="val 2892" name="adj"/>
            </a:avLst>
          </a:prstGeom>
          <a:solidFill>
            <a:srgbClr val="336C9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1003" name="Google Shape;1003;p53"/>
          <p:cNvSpPr/>
          <p:nvPr/>
        </p:nvSpPr>
        <p:spPr>
          <a:xfrm>
            <a:off x="685800" y="1714500"/>
            <a:ext cx="774954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6BBEA"/>
              </a:buClr>
              <a:buSzPts val="1400"/>
              <a:buFont typeface="Cambria"/>
              <a:buNone/>
            </a:pPr>
            <a:r>
              <a:rPr b="1" i="0" lang="en-GB" sz="1700" u="none" cap="none" strike="noStrike">
                <a:solidFill>
                  <a:srgbClr val="86BBEA"/>
                </a:solidFill>
                <a:latin typeface="Cambria"/>
                <a:ea typeface="Cambria"/>
                <a:cs typeface="Cambria"/>
                <a:sym typeface="Cambria"/>
              </a:rPr>
              <a:t>SQL is not just a query language — it is the operational backbone of relational database systems.</a:t>
            </a:r>
            <a:endParaRPr b="0" i="0" sz="1700" u="none" cap="none" strike="noStrike">
              <a:solidFill>
                <a:schemeClr val="dk1"/>
              </a:solidFill>
              <a:latin typeface="Calibri"/>
              <a:ea typeface="Calibri"/>
              <a:cs typeface="Calibri"/>
              <a:sym typeface="Calibri"/>
            </a:endParaRPr>
          </a:p>
        </p:txBody>
      </p:sp>
      <p:sp>
        <p:nvSpPr>
          <p:cNvPr id="1004" name="Google Shape;1004;p53"/>
          <p:cNvSpPr/>
          <p:nvPr/>
        </p:nvSpPr>
        <p:spPr>
          <a:xfrm>
            <a:off x="685800" y="2537460"/>
            <a:ext cx="1783080" cy="685800"/>
          </a:xfrm>
          <a:prstGeom prst="roundRect">
            <a:avLst>
              <a:gd fmla="val 10000" name="adj"/>
            </a:avLst>
          </a:prstGeom>
          <a:solidFill>
            <a:srgbClr val="7AB5E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1005" name="Google Shape;1005;p53"/>
          <p:cNvSpPr/>
          <p:nvPr/>
        </p:nvSpPr>
        <p:spPr>
          <a:xfrm>
            <a:off x="754380" y="2606040"/>
            <a:ext cx="1645920" cy="5486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300" u="none" cap="none" strike="noStrike">
                <a:solidFill>
                  <a:srgbClr val="FFFFFF"/>
                </a:solidFill>
                <a:latin typeface="Calibri"/>
                <a:ea typeface="Calibri"/>
                <a:cs typeface="Calibri"/>
                <a:sym typeface="Calibri"/>
              </a:rPr>
              <a:t>structures are created</a:t>
            </a:r>
            <a:endParaRPr b="0" i="0" sz="1300" u="none" cap="none" strike="noStrike">
              <a:solidFill>
                <a:schemeClr val="dk1"/>
              </a:solidFill>
              <a:latin typeface="Calibri"/>
              <a:ea typeface="Calibri"/>
              <a:cs typeface="Calibri"/>
              <a:sym typeface="Calibri"/>
            </a:endParaRPr>
          </a:p>
        </p:txBody>
      </p:sp>
      <p:sp>
        <p:nvSpPr>
          <p:cNvPr id="1006" name="Google Shape;1006;p53"/>
          <p:cNvSpPr/>
          <p:nvPr/>
        </p:nvSpPr>
        <p:spPr>
          <a:xfrm>
            <a:off x="2640330" y="2537460"/>
            <a:ext cx="1783080" cy="685800"/>
          </a:xfrm>
          <a:prstGeom prst="roundRect">
            <a:avLst>
              <a:gd fmla="val 10000" name="adj"/>
            </a:avLst>
          </a:prstGeom>
          <a:solidFill>
            <a:srgbClr val="4192D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p:txBody>
      </p:sp>
      <p:sp>
        <p:nvSpPr>
          <p:cNvPr id="1007" name="Google Shape;1007;p53"/>
          <p:cNvSpPr/>
          <p:nvPr/>
        </p:nvSpPr>
        <p:spPr>
          <a:xfrm>
            <a:off x="2708910" y="2606040"/>
            <a:ext cx="1645920" cy="5486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300" u="none" cap="none" strike="noStrike">
                <a:solidFill>
                  <a:srgbClr val="FFFFFF"/>
                </a:solidFill>
                <a:latin typeface="Calibri"/>
                <a:ea typeface="Calibri"/>
                <a:cs typeface="Calibri"/>
                <a:sym typeface="Calibri"/>
              </a:rPr>
              <a:t>data is manipulated</a:t>
            </a:r>
            <a:endParaRPr b="0" i="0" sz="1300" u="none" cap="none" strike="noStrike">
              <a:solidFill>
                <a:schemeClr val="dk1"/>
              </a:solidFill>
              <a:latin typeface="Calibri"/>
              <a:ea typeface="Calibri"/>
              <a:cs typeface="Calibri"/>
              <a:sym typeface="Calibri"/>
            </a:endParaRPr>
          </a:p>
        </p:txBody>
      </p:sp>
      <p:sp>
        <p:nvSpPr>
          <p:cNvPr id="1008" name="Google Shape;1008;p53"/>
          <p:cNvSpPr/>
          <p:nvPr/>
        </p:nvSpPr>
        <p:spPr>
          <a:xfrm>
            <a:off x="4594860" y="2537460"/>
            <a:ext cx="1783080" cy="685800"/>
          </a:xfrm>
          <a:prstGeom prst="roundRect">
            <a:avLst>
              <a:gd fmla="val 10000" name="adj"/>
            </a:avLst>
          </a:prstGeom>
          <a:solidFill>
            <a:srgbClr val="65A9E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09" name="Google Shape;1009;p53"/>
          <p:cNvSpPr/>
          <p:nvPr/>
        </p:nvSpPr>
        <p:spPr>
          <a:xfrm>
            <a:off x="4663440" y="2606040"/>
            <a:ext cx="1645920" cy="5486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100" u="none" cap="none" strike="noStrike">
                <a:solidFill>
                  <a:srgbClr val="FFFFFF"/>
                </a:solidFill>
                <a:latin typeface="Calibri"/>
                <a:ea typeface="Calibri"/>
                <a:cs typeface="Calibri"/>
                <a:sym typeface="Calibri"/>
              </a:rPr>
              <a:t>transactions are protected</a:t>
            </a:r>
            <a:endParaRPr b="0" i="0" sz="1100" u="none" cap="none" strike="noStrike">
              <a:solidFill>
                <a:schemeClr val="dk1"/>
              </a:solidFill>
              <a:latin typeface="Calibri"/>
              <a:ea typeface="Calibri"/>
              <a:cs typeface="Calibri"/>
              <a:sym typeface="Calibri"/>
            </a:endParaRPr>
          </a:p>
        </p:txBody>
      </p:sp>
      <p:sp>
        <p:nvSpPr>
          <p:cNvPr id="1010" name="Google Shape;1010;p53"/>
          <p:cNvSpPr/>
          <p:nvPr/>
        </p:nvSpPr>
        <p:spPr>
          <a:xfrm>
            <a:off x="6549390" y="2537460"/>
            <a:ext cx="1783080" cy="685800"/>
          </a:xfrm>
          <a:prstGeom prst="roundRect">
            <a:avLst>
              <a:gd fmla="val 10000" name="adj"/>
            </a:avLst>
          </a:prstGeom>
          <a:solidFill>
            <a:srgbClr val="9BC7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11" name="Google Shape;1011;p53"/>
          <p:cNvSpPr/>
          <p:nvPr/>
        </p:nvSpPr>
        <p:spPr>
          <a:xfrm>
            <a:off x="6617970" y="2606040"/>
            <a:ext cx="1645920" cy="5486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000"/>
              <a:buFont typeface="Calibri"/>
              <a:buNone/>
            </a:pPr>
            <a:r>
              <a:rPr b="1" i="0" lang="en-GB" sz="1100" u="none" cap="none" strike="noStrike">
                <a:solidFill>
                  <a:srgbClr val="FFFFFF"/>
                </a:solidFill>
                <a:latin typeface="Calibri"/>
                <a:ea typeface="Calibri"/>
                <a:cs typeface="Calibri"/>
                <a:sym typeface="Calibri"/>
              </a:rPr>
              <a:t>access is controlled</a:t>
            </a:r>
            <a:endParaRPr b="0" i="0" sz="1100" u="none" cap="none" strike="noStrike">
              <a:solidFill>
                <a:schemeClr val="dk1"/>
              </a:solidFill>
              <a:latin typeface="Calibri"/>
              <a:ea typeface="Calibri"/>
              <a:cs typeface="Calibri"/>
              <a:sym typeface="Calibri"/>
            </a:endParaRPr>
          </a:p>
        </p:txBody>
      </p:sp>
      <p:sp>
        <p:nvSpPr>
          <p:cNvPr id="1012" name="Google Shape;1012;p53"/>
          <p:cNvSpPr/>
          <p:nvPr/>
        </p:nvSpPr>
        <p:spPr>
          <a:xfrm>
            <a:off x="685800" y="3463290"/>
            <a:ext cx="774954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BE3EB"/>
              </a:buClr>
              <a:buSzPts val="1200"/>
              <a:buFont typeface="Calibri"/>
              <a:buNone/>
            </a:pPr>
            <a:r>
              <a:rPr b="0" i="1" lang="en-GB" sz="1400" u="none" cap="none" strike="noStrike">
                <a:solidFill>
                  <a:srgbClr val="DBE3EB"/>
                </a:solidFill>
                <a:latin typeface="Calibri"/>
                <a:ea typeface="Calibri"/>
                <a:cs typeface="Calibri"/>
                <a:sym typeface="Calibri"/>
              </a:rPr>
              <a:t>Without SQL, databases would simply be storage systems with no meaningful way to interact with them.</a:t>
            </a:r>
            <a:endParaRPr b="0" i="0" sz="1400" u="none" cap="none" strike="noStrike">
              <a:solidFill>
                <a:schemeClr val="dk1"/>
              </a:solidFill>
              <a:latin typeface="Calibri"/>
              <a:ea typeface="Calibri"/>
              <a:cs typeface="Calibri"/>
              <a:sym typeface="Calibri"/>
            </a:endParaRPr>
          </a:p>
        </p:txBody>
      </p:sp>
      <p:pic>
        <p:nvPicPr>
          <p:cNvPr descr="/home/claude/dbms_lecture2/logo/newton_logo_white.png" id="1013" name="Google Shape;1013;p53"/>
          <p:cNvPicPr preferRelativeResize="0"/>
          <p:nvPr/>
        </p:nvPicPr>
        <p:blipFill rotWithShape="1">
          <a:blip r:embed="rId3">
            <a:alphaModFix/>
          </a:blip>
          <a:srcRect b="0" l="0" r="0" t="0"/>
          <a:stretch/>
        </p:blipFill>
        <p:spPr>
          <a:xfrm>
            <a:off x="8046491" y="150876"/>
            <a:ext cx="720090" cy="304903"/>
          </a:xfrm>
          <a:prstGeom prst="rect">
            <a:avLst/>
          </a:prstGeom>
          <a:noFill/>
          <a:ln>
            <a:noFill/>
          </a:ln>
        </p:spPr>
      </p:pic>
      <p:sp>
        <p:nvSpPr>
          <p:cNvPr id="1014" name="Google Shape;1014;p53"/>
          <p:cNvSpPr/>
          <p:nvPr/>
        </p:nvSpPr>
        <p:spPr>
          <a:xfrm>
            <a:off x="8526551" y="4800600"/>
            <a:ext cx="41148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A0BED9"/>
              </a:buClr>
              <a:buSzPts val="800"/>
              <a:buFont typeface="Calibri"/>
              <a:buNone/>
            </a:pPr>
            <a:r>
              <a:rPr b="0" i="0" lang="en-GB" sz="1100" u="none" cap="none" strike="noStrike">
                <a:solidFill>
                  <a:srgbClr val="A0BED9"/>
                </a:solidFill>
                <a:latin typeface="Calibri"/>
                <a:ea typeface="Calibri"/>
                <a:cs typeface="Calibri"/>
                <a:sym typeface="Calibri"/>
              </a:rPr>
              <a:t>34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54"/>
          <p:cNvSpPr/>
          <p:nvPr/>
        </p:nvSpPr>
        <p:spPr>
          <a:xfrm>
            <a:off x="7992436" y="113193"/>
            <a:ext cx="1022981" cy="263995"/>
          </a:xfrm>
          <a:custGeom>
            <a:rect b="b" l="l" r="r" t="t"/>
            <a:pathLst>
              <a:path extrusionOk="0" h="527990" w="2045962">
                <a:moveTo>
                  <a:pt x="0" y="0"/>
                </a:moveTo>
                <a:lnTo>
                  <a:pt x="2045962" y="0"/>
                </a:lnTo>
                <a:lnTo>
                  <a:pt x="2045962" y="527990"/>
                </a:lnTo>
                <a:lnTo>
                  <a:pt x="0" y="527990"/>
                </a:lnTo>
                <a:lnTo>
                  <a:pt x="0" y="0"/>
                </a:lnTo>
                <a:close/>
              </a:path>
            </a:pathLst>
          </a:custGeom>
          <a:blipFill rotWithShape="1">
            <a:blip r:embed="rId3">
              <a:alphaModFix amt="85000"/>
            </a:blip>
            <a:stretch>
              <a:fillRect b="0" l="-330" r="-330" t="0"/>
            </a:stretch>
          </a:blipFill>
          <a:ln>
            <a:noFill/>
          </a:ln>
        </p:spPr>
      </p:sp>
      <p:sp>
        <p:nvSpPr>
          <p:cNvPr id="1020" name="Google Shape;1020;p54"/>
          <p:cNvSpPr txBox="1"/>
          <p:nvPr/>
        </p:nvSpPr>
        <p:spPr>
          <a:xfrm>
            <a:off x="8629650" y="4600575"/>
            <a:ext cx="232500" cy="2463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GB" sz="1600" u="none" cap="none" strike="noStrike">
                <a:solidFill>
                  <a:srgbClr val="7E95B1"/>
                </a:solidFill>
                <a:latin typeface="Open Sans"/>
                <a:ea typeface="Open Sans"/>
                <a:cs typeface="Open Sans"/>
                <a:sym typeface="Open Sans"/>
              </a:rPr>
              <a:t>21</a:t>
            </a:r>
            <a:endParaRPr sz="700"/>
          </a:p>
        </p:txBody>
      </p:sp>
      <p:sp>
        <p:nvSpPr>
          <p:cNvPr id="1021" name="Google Shape;1021;p54"/>
          <p:cNvSpPr/>
          <p:nvPr/>
        </p:nvSpPr>
        <p:spPr>
          <a:xfrm>
            <a:off x="1232421" y="575376"/>
            <a:ext cx="6599111" cy="3992737"/>
          </a:xfrm>
          <a:custGeom>
            <a:rect b="b" l="l" r="r" t="t"/>
            <a:pathLst>
              <a:path extrusionOk="0" h="10647299" w="17597628">
                <a:moveTo>
                  <a:pt x="0" y="0"/>
                </a:moveTo>
                <a:lnTo>
                  <a:pt x="17597628" y="0"/>
                </a:lnTo>
                <a:lnTo>
                  <a:pt x="17597628" y="10647299"/>
                </a:lnTo>
                <a:lnTo>
                  <a:pt x="0" y="10647299"/>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6" name="Shape 1026"/>
        <p:cNvGrpSpPr/>
        <p:nvPr/>
      </p:nvGrpSpPr>
      <p:grpSpPr>
        <a:xfrm>
          <a:off x="0" y="0"/>
          <a:ext cx="0" cy="0"/>
          <a:chOff x="0" y="0"/>
          <a:chExt cx="0" cy="0"/>
        </a:xfrm>
      </p:grpSpPr>
      <p:pic>
        <p:nvPicPr>
          <p:cNvPr descr="assets/feedback_bg.png" id="1027" name="Google Shape;1027;p55"/>
          <p:cNvPicPr preferRelativeResize="0"/>
          <p:nvPr/>
        </p:nvPicPr>
        <p:blipFill rotWithShape="1">
          <a:blip r:embed="rId3">
            <a:alphaModFix/>
          </a:blip>
          <a:srcRect b="0" l="0" r="0" t="0"/>
          <a:stretch/>
        </p:blipFill>
        <p:spPr>
          <a:xfrm>
            <a:off x="0" y="0"/>
            <a:ext cx="9143773" cy="5143500"/>
          </a:xfrm>
          <a:prstGeom prst="rect">
            <a:avLst/>
          </a:prstGeom>
          <a:noFill/>
          <a:ln>
            <a:noFill/>
          </a:ln>
        </p:spPr>
      </p:pic>
      <p:sp>
        <p:nvSpPr>
          <p:cNvPr id="1028" name="Google Shape;1028;p55"/>
          <p:cNvSpPr/>
          <p:nvPr/>
        </p:nvSpPr>
        <p:spPr>
          <a:xfrm>
            <a:off x="960146" y="1783080"/>
            <a:ext cx="6858300" cy="1577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7385D"/>
              </a:buClr>
              <a:buSzPts val="3500"/>
              <a:buFont typeface="Poppins"/>
              <a:buNone/>
            </a:pPr>
            <a:r>
              <a:rPr b="1" i="0" lang="en-GB" sz="3500" u="none" cap="none" strike="noStrike">
                <a:solidFill>
                  <a:srgbClr val="17385D"/>
                </a:solidFill>
                <a:latin typeface="Poppins"/>
                <a:ea typeface="Poppins"/>
                <a:cs typeface="Poppins"/>
                <a:sym typeface="Poppins"/>
              </a:rPr>
              <a:t>Please fill the</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7385D"/>
              </a:buClr>
              <a:buSzPts val="3500"/>
              <a:buFont typeface="Poppins"/>
              <a:buNone/>
            </a:pPr>
            <a:r>
              <a:rPr b="1" i="0" lang="en-GB" sz="3500" u="none" cap="none" strike="noStrike">
                <a:solidFill>
                  <a:srgbClr val="17385D"/>
                </a:solidFill>
                <a:latin typeface="Poppins"/>
                <a:ea typeface="Poppins"/>
                <a:cs typeface="Poppins"/>
                <a:sym typeface="Poppins"/>
              </a:rPr>
              <a:t>feedback form.</a:t>
            </a:r>
            <a:endParaRPr b="0" i="0" sz="3500" u="none" cap="none" strike="noStrike">
              <a:solidFill>
                <a:schemeClr val="dk1"/>
              </a:solidFill>
              <a:latin typeface="Calibri"/>
              <a:ea typeface="Calibri"/>
              <a:cs typeface="Calibri"/>
              <a:sym typeface="Calibri"/>
            </a:endParaRPr>
          </a:p>
        </p:txBody>
      </p:sp>
      <p:sp>
        <p:nvSpPr>
          <p:cNvPr id="1029" name="Google Shape;1029;p55"/>
          <p:cNvSpPr/>
          <p:nvPr/>
        </p:nvSpPr>
        <p:spPr>
          <a:xfrm>
            <a:off x="8332692" y="4704588"/>
            <a:ext cx="617100" cy="2742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AFC2"/>
              </a:buClr>
              <a:buSzPts val="1200"/>
              <a:buFont typeface="Poppins"/>
              <a:buNone/>
            </a:pPr>
            <a:r>
              <a:rPr b="0" i="0" lang="en-GB" sz="1200" u="none" cap="none" strike="noStrike">
                <a:solidFill>
                  <a:srgbClr val="9AAFC2"/>
                </a:solidFill>
                <a:latin typeface="Poppins"/>
                <a:ea typeface="Poppins"/>
                <a:cs typeface="Poppins"/>
                <a:sym typeface="Poppins"/>
              </a:rPr>
              <a:t>34</a:t>
            </a:r>
            <a:endParaRPr b="0" i="0" sz="1200" u="none" cap="none" strike="noStrike">
              <a:solidFill>
                <a:schemeClr val="dk1"/>
              </a:solidFill>
              <a:latin typeface="Calibri"/>
              <a:ea typeface="Calibri"/>
              <a:cs typeface="Calibri"/>
              <a:sym typeface="Calibri"/>
            </a:endParaRPr>
          </a:p>
        </p:txBody>
      </p:sp>
      <p:sp>
        <p:nvSpPr>
          <p:cNvPr id="1030" name="Google Shape;1030;p55"/>
          <p:cNvSpPr/>
          <p:nvPr/>
        </p:nvSpPr>
        <p:spPr>
          <a:xfrm>
            <a:off x="7383216" y="139163"/>
            <a:ext cx="1314531" cy="274555"/>
          </a:xfrm>
          <a:custGeom>
            <a:rect b="b" l="l" r="r" t="t"/>
            <a:pathLst>
              <a:path extrusionOk="0" h="527990" w="2045962">
                <a:moveTo>
                  <a:pt x="0" y="0"/>
                </a:moveTo>
                <a:lnTo>
                  <a:pt x="2045962" y="0"/>
                </a:lnTo>
                <a:lnTo>
                  <a:pt x="2045962" y="527990"/>
                </a:lnTo>
                <a:lnTo>
                  <a:pt x="0" y="527990"/>
                </a:lnTo>
                <a:lnTo>
                  <a:pt x="0" y="0"/>
                </a:lnTo>
                <a:close/>
              </a:path>
            </a:pathLst>
          </a:custGeom>
          <a:blipFill rotWithShape="1">
            <a:blip r:embed="rId4">
              <a:alphaModFix amt="85000"/>
            </a:blip>
            <a:stretch>
              <a:fillRect b="0" l="-330" r="-330" t="0"/>
            </a:stretch>
          </a:blipFill>
          <a:ln>
            <a:noFill/>
          </a:ln>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5" name="Shape 1035"/>
        <p:cNvGrpSpPr/>
        <p:nvPr/>
      </p:nvGrpSpPr>
      <p:grpSpPr>
        <a:xfrm>
          <a:off x="0" y="0"/>
          <a:ext cx="0" cy="0"/>
          <a:chOff x="0" y="0"/>
          <a:chExt cx="0" cy="0"/>
        </a:xfrm>
      </p:grpSpPr>
      <p:pic>
        <p:nvPicPr>
          <p:cNvPr descr="assets/gradient_blob.png" id="1036" name="Google Shape;1036;p56"/>
          <p:cNvPicPr preferRelativeResize="0"/>
          <p:nvPr/>
        </p:nvPicPr>
        <p:blipFill rotWithShape="1">
          <a:blip r:embed="rId3">
            <a:alphaModFix/>
          </a:blip>
          <a:srcRect b="0" l="0" r="0" t="0"/>
          <a:stretch/>
        </p:blipFill>
        <p:spPr>
          <a:xfrm>
            <a:off x="0" y="0"/>
            <a:ext cx="9143773" cy="5143500"/>
          </a:xfrm>
          <a:prstGeom prst="rect">
            <a:avLst/>
          </a:prstGeom>
          <a:noFill/>
          <a:ln>
            <a:noFill/>
          </a:ln>
        </p:spPr>
      </p:pic>
      <p:sp>
        <p:nvSpPr>
          <p:cNvPr id="1037" name="Google Shape;1037;p56"/>
          <p:cNvSpPr/>
          <p:nvPr/>
        </p:nvSpPr>
        <p:spPr>
          <a:xfrm>
            <a:off x="514364" y="1028700"/>
            <a:ext cx="5486400" cy="30174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7385D"/>
              </a:buClr>
              <a:buSzPts val="4700"/>
              <a:buFont typeface="Poppins"/>
              <a:buNone/>
            </a:pPr>
            <a:r>
              <a:rPr b="1" i="0" lang="en-GB" sz="4700" u="none" cap="none" strike="noStrike">
                <a:solidFill>
                  <a:srgbClr val="17385D"/>
                </a:solidFill>
                <a:latin typeface="Poppins"/>
                <a:ea typeface="Poppins"/>
                <a:cs typeface="Poppins"/>
                <a:sym typeface="Poppins"/>
              </a:rPr>
              <a:t>Thanks</a:t>
            </a:r>
            <a:endParaRPr b="0" i="0" sz="47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17385D"/>
              </a:buClr>
              <a:buSzPts val="4700"/>
              <a:buFont typeface="Poppins"/>
              <a:buNone/>
            </a:pPr>
            <a:r>
              <a:rPr b="1" i="0" lang="en-GB" sz="4700" u="none" cap="none" strike="noStrike">
                <a:solidFill>
                  <a:srgbClr val="17385D"/>
                </a:solidFill>
                <a:latin typeface="Poppins"/>
                <a:ea typeface="Poppins"/>
                <a:cs typeface="Poppins"/>
                <a:sym typeface="Poppins"/>
              </a:rPr>
              <a:t>for</a:t>
            </a:r>
            <a:endParaRPr b="0" i="0" sz="47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17385D"/>
              </a:buClr>
              <a:buSzPts val="4700"/>
              <a:buFont typeface="Poppins"/>
              <a:buNone/>
            </a:pPr>
            <a:r>
              <a:rPr b="1" i="0" lang="en-GB" sz="4700" u="none" cap="none" strike="noStrike">
                <a:solidFill>
                  <a:srgbClr val="17385D"/>
                </a:solidFill>
                <a:latin typeface="Poppins"/>
                <a:ea typeface="Poppins"/>
                <a:cs typeface="Poppins"/>
                <a:sym typeface="Poppins"/>
              </a:rPr>
              <a:t>watching!</a:t>
            </a:r>
            <a:endParaRPr b="0" i="0" sz="4700" u="none" cap="none" strike="noStrike">
              <a:solidFill>
                <a:schemeClr val="dk1"/>
              </a:solidFill>
              <a:latin typeface="Calibri"/>
              <a:ea typeface="Calibri"/>
              <a:cs typeface="Calibri"/>
              <a:sym typeface="Calibri"/>
            </a:endParaRPr>
          </a:p>
        </p:txBody>
      </p:sp>
      <p:sp>
        <p:nvSpPr>
          <p:cNvPr id="1038" name="Google Shape;1038;p56"/>
          <p:cNvSpPr/>
          <p:nvPr/>
        </p:nvSpPr>
        <p:spPr>
          <a:xfrm>
            <a:off x="7383216" y="139163"/>
            <a:ext cx="1314531" cy="274555"/>
          </a:xfrm>
          <a:custGeom>
            <a:rect b="b" l="l" r="r" t="t"/>
            <a:pathLst>
              <a:path extrusionOk="0" h="527990" w="2045962">
                <a:moveTo>
                  <a:pt x="0" y="0"/>
                </a:moveTo>
                <a:lnTo>
                  <a:pt x="2045962" y="0"/>
                </a:lnTo>
                <a:lnTo>
                  <a:pt x="2045962" y="527990"/>
                </a:lnTo>
                <a:lnTo>
                  <a:pt x="0" y="527990"/>
                </a:lnTo>
                <a:lnTo>
                  <a:pt x="0" y="0"/>
                </a:lnTo>
                <a:close/>
              </a:path>
            </a:pathLst>
          </a:custGeom>
          <a:blipFill rotWithShape="1">
            <a:blip r:embed="rId4">
              <a:alphaModFix amt="85000"/>
            </a:blip>
            <a:stretch>
              <a:fillRect b="0" l="-330" r="-330" t="0"/>
            </a:stretch>
          </a:blipFill>
          <a:ln>
            <a:no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1001" name="Shape 1001"/>
          <p:cNvSpPr/>
          <p:nvPr/>
        </p:nvSpPr>
        <p:spPr>
          <a:xfrm>
            <a:off x="411480" y="330000"/>
            <a:ext cx="6000000" cy="22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598DBD"/>
                </a:solidFill>
                <a:latin typeface="Calibri"/>
                <a:ea typeface="Calibri"/>
                <a:cs typeface="Calibri"/>
                <a:sym typeface="Calibri"/>
              </a:rPr>
              <a:t>IN PRACTICE — POSTGRESQL</a:t>
            </a:r>
          </a:p>
        </p:txBody>
      </p:sp>
      <p:sp>
        <p:nvSpPr>
          <p:cNvPr id="1002" name="Shape 1002"/>
          <p:cNvSpPr/>
          <p:nvPr/>
        </p:nvSpPr>
        <p:spPr>
          <a:xfrm>
            <a:off x="411480" y="560000"/>
            <a:ext cx="8092350" cy="4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2000" u="none" cap="none" strike="noStrike">
                <a:solidFill>
                  <a:srgbClr val="1E4161"/>
                </a:solidFill>
                <a:latin typeface="Cambria"/>
                <a:ea typeface="Cambria"/>
                <a:cs typeface="Cambria"/>
                <a:sym typeface="Cambria"/>
              </a:rPr>
              <a:t>CREATE DATABASE — the building before the classroom</a:t>
            </a:r>
          </a:p>
        </p:txBody>
      </p:sp>
      <p:sp>
        <p:nvSpPr>
          <p:cNvPr id="1003" name="Shape 1003"/>
          <p:cNvSpPr/>
          <p:nvPr/>
        </p:nvSpPr>
        <p:spPr>
          <a:xfrm>
            <a:off x="411480" y="1150000"/>
            <a:ext cx="8321040" cy="332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 </a:t>
            </a:r>
          </a:p>
        </p:txBody>
      </p:sp>
      <p:sp>
        <p:nvSpPr>
          <p:cNvPr id="1004" name="Shape 1004"/>
          <p:cNvSpPr/>
          <p:nvPr/>
        </p:nvSpPr>
        <p:spPr>
          <a:xfrm>
            <a:off x="560000" y="1265000"/>
            <a:ext cx="8000000" cy="38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300" u="none" cap="none" strike="noStrike">
                <a:solidFill>
                  <a:srgbClr val="16334D"/>
                </a:solidFill>
                <a:latin typeface="Cambria"/>
                <a:ea typeface="Cambria"/>
                <a:cs typeface="Cambria"/>
                <a:sym typeface="Cambria"/>
              </a:rPr>
              <a:t>CREATE TABLE needs a database to live in. In PostgreSQL, one server holds many databases — you create the database first, then connect to it.</a:t>
            </a:r>
          </a:p>
        </p:txBody>
      </p:sp>
      <p:sp>
        <p:nvSpPr>
          <p:cNvPr id="1005" name="Shape 1005"/>
          <p:cNvSpPr/>
          <p:nvPr/>
        </p:nvSpPr>
        <p:spPr>
          <a:xfrm>
            <a:off x="560000" y="1750000"/>
            <a:ext cx="1800000" cy="480000"/>
          </a:xfrm>
          <a:prstGeom prst="roundRect">
            <a:avLst>
              <a:gd fmla="val 12000" name="adj"/>
            </a:avLst>
          </a:prstGeom>
          <a:solidFill>
            <a:srgbClr val="EAF2FA"/>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Calibri"/>
              <a:buNone/>
            </a:pPr>
            <a:r>
              <a:rPr b="1" i="0" lang="en-GB" sz="1150" u="none" cap="none" strike="noStrike">
                <a:solidFill>
                  <a:srgbClr val="1E4161"/>
                </a:solidFill>
                <a:latin typeface="Calibri"/>
                <a:ea typeface="Calibri"/>
                <a:cs typeface="Calibri"/>
                <a:sym typeface="Calibri"/>
              </a:rPr>
              <a:t>Server (cluster)</a:t>
            </a:r>
          </a:p>
        </p:txBody>
      </p:sp>
      <p:sp>
        <p:nvSpPr>
          <p:cNvPr id="1006" name="Shape 1006"/>
          <p:cNvSpPr/>
          <p:nvPr/>
        </p:nvSpPr>
        <p:spPr>
          <a:xfrm>
            <a:off x="2360000" y="1750000"/>
            <a:ext cx="260000" cy="480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Calibri"/>
              <a:buNone/>
            </a:pPr>
            <a:r>
              <a:rPr b="0" i="0" lang="en-GB" sz="1200" u="none" cap="none" strike="noStrike">
                <a:solidFill>
                  <a:srgbClr val="598DBD"/>
                </a:solidFill>
                <a:latin typeface="Calibri"/>
                <a:ea typeface="Calibri"/>
                <a:cs typeface="Calibri"/>
                <a:sym typeface="Calibri"/>
              </a:rPr>
              <a:t>→</a:t>
            </a:r>
          </a:p>
        </p:txBody>
      </p:sp>
      <p:sp>
        <p:nvSpPr>
          <p:cNvPr id="1007" name="Shape 1007"/>
          <p:cNvSpPr/>
          <p:nvPr/>
        </p:nvSpPr>
        <p:spPr>
          <a:xfrm>
            <a:off x="2620000" y="1750000"/>
            <a:ext cx="1800000" cy="480000"/>
          </a:xfrm>
          <a:prstGeom prst="roundRect">
            <a:avLst>
              <a:gd fmla="val 12000" name="adj"/>
            </a:avLst>
          </a:prstGeom>
          <a:solidFill>
            <a:srgbClr val="4597E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Calibri"/>
              <a:buNone/>
            </a:pPr>
            <a:r>
              <a:rPr b="1" i="0" lang="en-GB" sz="1150" u="none" cap="none" strike="noStrike">
                <a:solidFill>
                  <a:srgbClr val="FFFFFF"/>
                </a:solidFill>
                <a:latin typeface="Calibri"/>
                <a:ea typeface="Calibri"/>
                <a:cs typeface="Calibri"/>
                <a:sym typeface="Calibri"/>
              </a:rPr>
              <a:t>Database</a:t>
            </a:r>
          </a:p>
        </p:txBody>
      </p:sp>
      <p:sp>
        <p:nvSpPr>
          <p:cNvPr id="1008" name="Shape 1008"/>
          <p:cNvSpPr/>
          <p:nvPr/>
        </p:nvSpPr>
        <p:spPr>
          <a:xfrm>
            <a:off x="4420000" y="1750000"/>
            <a:ext cx="260000" cy="480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Calibri"/>
              <a:buNone/>
            </a:pPr>
            <a:r>
              <a:rPr b="0" i="0" lang="en-GB" sz="1200" u="none" cap="none" strike="noStrike">
                <a:solidFill>
                  <a:srgbClr val="598DBD"/>
                </a:solidFill>
                <a:latin typeface="Calibri"/>
                <a:ea typeface="Calibri"/>
                <a:cs typeface="Calibri"/>
                <a:sym typeface="Calibri"/>
              </a:rPr>
              <a:t>→</a:t>
            </a:r>
          </a:p>
        </p:txBody>
      </p:sp>
      <p:sp>
        <p:nvSpPr>
          <p:cNvPr id="1009" name="Shape 1009"/>
          <p:cNvSpPr/>
          <p:nvPr/>
        </p:nvSpPr>
        <p:spPr>
          <a:xfrm>
            <a:off x="4680000" y="1750000"/>
            <a:ext cx="1800000" cy="480000"/>
          </a:xfrm>
          <a:prstGeom prst="roundRect">
            <a:avLst>
              <a:gd fmla="val 12000" name="adj"/>
            </a:avLst>
          </a:prstGeom>
          <a:solidFill>
            <a:srgbClr val="EAF2FA"/>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Calibri"/>
              <a:buNone/>
            </a:pPr>
            <a:r>
              <a:rPr b="1" i="0" lang="en-GB" sz="1150" u="none" cap="none" strike="noStrike">
                <a:solidFill>
                  <a:srgbClr val="1E4161"/>
                </a:solidFill>
                <a:latin typeface="Calibri"/>
                <a:ea typeface="Calibri"/>
                <a:cs typeface="Calibri"/>
                <a:sym typeface="Calibri"/>
              </a:rPr>
              <a:t>Schema</a:t>
            </a:r>
          </a:p>
        </p:txBody>
      </p:sp>
      <p:sp>
        <p:nvSpPr>
          <p:cNvPr id="1010" name="Shape 1010"/>
          <p:cNvSpPr/>
          <p:nvPr/>
        </p:nvSpPr>
        <p:spPr>
          <a:xfrm>
            <a:off x="6480000" y="1750000"/>
            <a:ext cx="260000" cy="480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Calibri"/>
              <a:buNone/>
            </a:pPr>
            <a:r>
              <a:rPr b="0" i="0" lang="en-GB" sz="1200" u="none" cap="none" strike="noStrike">
                <a:solidFill>
                  <a:srgbClr val="598DBD"/>
                </a:solidFill>
                <a:latin typeface="Calibri"/>
                <a:ea typeface="Calibri"/>
                <a:cs typeface="Calibri"/>
                <a:sym typeface="Calibri"/>
              </a:rPr>
              <a:t>→</a:t>
            </a:r>
          </a:p>
        </p:txBody>
      </p:sp>
      <p:sp>
        <p:nvSpPr>
          <p:cNvPr id="1011" name="Shape 1011"/>
          <p:cNvSpPr/>
          <p:nvPr/>
        </p:nvSpPr>
        <p:spPr>
          <a:xfrm>
            <a:off x="6740000" y="1750000"/>
            <a:ext cx="1800000" cy="480000"/>
          </a:xfrm>
          <a:prstGeom prst="roundRect">
            <a:avLst>
              <a:gd fmla="val 12000" name="adj"/>
            </a:avLst>
          </a:prstGeom>
          <a:solidFill>
            <a:srgbClr val="EAF2FA"/>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Calibri"/>
              <a:buNone/>
            </a:pPr>
            <a:r>
              <a:rPr b="1" i="0" lang="en-GB" sz="1150" u="none" cap="none" strike="noStrike">
                <a:solidFill>
                  <a:srgbClr val="1E4161"/>
                </a:solidFill>
                <a:latin typeface="Calibri"/>
                <a:ea typeface="Calibri"/>
                <a:cs typeface="Calibri"/>
                <a:sym typeface="Calibri"/>
              </a:rPr>
              <a:t>Table</a:t>
            </a:r>
          </a:p>
        </p:txBody>
      </p:sp>
      <p:sp>
        <p:nvSpPr>
          <p:cNvPr id="1012" name="Shape 1012"/>
          <p:cNvSpPr/>
          <p:nvPr/>
        </p:nvSpPr>
        <p:spPr>
          <a:xfrm>
            <a:off x="560000" y="2300000"/>
            <a:ext cx="8000000" cy="24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1" lang="en-GB" sz="1050" u="none" cap="none" strike="noStrike">
                <a:solidFill>
                  <a:srgbClr val="598DBD"/>
                </a:solidFill>
                <a:latin typeface="Calibri"/>
                <a:ea typeface="Calibri"/>
                <a:cs typeface="Calibri"/>
                <a:sym typeface="Calibri"/>
              </a:rPr>
              <a:t>CREATE DATABASE works at the second level — every schema and table you build later lives inside it.</a:t>
            </a:r>
          </a:p>
        </p:txBody>
      </p:sp>
      <p:sp>
        <p:nvSpPr>
          <p:cNvPr id="1013" name="Shape 1013"/>
          <p:cNvSpPr/>
          <p:nvPr/>
        </p:nvSpPr>
        <p:spPr>
          <a:xfrm>
            <a:off x="560000" y="2640000"/>
            <a:ext cx="4300000" cy="1660000"/>
          </a:xfrm>
          <a:prstGeom prst="roundRect">
            <a:avLst>
              <a:gd fmla="val 4000" name="adj"/>
            </a:avLst>
          </a:prstGeom>
          <a:solidFill>
            <a:srgbClr val="16334D"/>
          </a:solidFill>
          <a:ln>
            <a:noFill/>
          </a:ln>
        </p:spPr>
        <p:txBody>
          <a:bodyPr anchorCtr="0" anchor="ctr" bIns="114300" lIns="114300" spcFirstLastPara="1" rIns="114300" wrap="square" tIns="114300">
            <a:noAutofit/>
          </a:bodyPr>
          <a:lstStyle/>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8FB6D6"/>
                </a:solidFill>
                <a:latin typeface="Consolas"/>
                <a:ea typeface="Consolas"/>
                <a:cs typeface="Consolas"/>
                <a:sym typeface="Consolas"/>
              </a:rPr>
              <a:t>-- the simplest form</a:t>
            </a:r>
          </a:p>
          <a:p>
            <a:pPr indent="0" lvl="0" marL="0" marR="0" rtl="0" algn="l">
              <a:lnSpc>
                <a:spcPct val="112000"/>
              </a:lnSpc>
              <a:spcBef>
                <a:spcPts val="0"/>
              </a:spcBef>
              <a:spcAft>
                <a:spcPts val="0"/>
              </a:spcAft>
              <a:buClr>
                <a:srgbClr val="000000"/>
              </a:buClr>
              <a:buSzPts val="1000"/>
              <a:buFont typeface="Calibri"/>
              <a:buNone/>
            </a:pPr>
            <a:r>
              <a:rPr b="1" i="0" lang="en-GB" sz="1100" u="none" cap="none" strike="noStrike">
                <a:solidFill>
                  <a:srgbClr val="7FC4FF"/>
                </a:solidFill>
                <a:latin typeface="Consolas"/>
                <a:ea typeface="Consolas"/>
                <a:cs typeface="Consolas"/>
                <a:sym typeface="Consolas"/>
              </a:rPr>
              <a:t>CREATE DATABASE university;</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D7E6F5"/>
                </a:solidFill>
                <a:latin typeface="Consolas"/>
                <a:ea typeface="Consolas"/>
                <a:cs typeface="Consolas"/>
                <a:sym typeface="Consolas"/>
              </a:rPr>
              <a:t> </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8FB6D6"/>
                </a:solidFill>
                <a:latin typeface="Consolas"/>
                <a:ea typeface="Consolas"/>
                <a:cs typeface="Consolas"/>
                <a:sym typeface="Consolas"/>
              </a:rPr>
              <a:t>-- with explicit options</a:t>
            </a:r>
          </a:p>
          <a:p>
            <a:pPr indent="0" lvl="0" marL="0" marR="0" rtl="0" algn="l">
              <a:lnSpc>
                <a:spcPct val="112000"/>
              </a:lnSpc>
              <a:spcBef>
                <a:spcPts val="0"/>
              </a:spcBef>
              <a:spcAft>
                <a:spcPts val="0"/>
              </a:spcAft>
              <a:buClr>
                <a:srgbClr val="000000"/>
              </a:buClr>
              <a:buSzPts val="1000"/>
              <a:buFont typeface="Calibri"/>
              <a:buNone/>
            </a:pPr>
            <a:r>
              <a:rPr b="1" i="0" lang="en-GB" sz="1100" u="none" cap="none" strike="noStrike">
                <a:solidFill>
                  <a:srgbClr val="7FC4FF"/>
                </a:solidFill>
                <a:latin typeface="Consolas"/>
                <a:ea typeface="Consolas"/>
                <a:cs typeface="Consolas"/>
                <a:sym typeface="Consolas"/>
              </a:rPr>
              <a:t>CREATE DATABASE university</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D7E6F5"/>
                </a:solidFill>
                <a:latin typeface="Consolas"/>
                <a:ea typeface="Consolas"/>
                <a:cs typeface="Consolas"/>
                <a:sym typeface="Consolas"/>
              </a:rPr>
              <a:t>  WITH OWNER = postgres</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D7E6F5"/>
                </a:solidFill>
                <a:latin typeface="Consolas"/>
                <a:ea typeface="Consolas"/>
                <a:cs typeface="Consolas"/>
                <a:sym typeface="Consolas"/>
              </a:rPr>
              <a:t>       ENCODING = 'UTF8';</a:t>
            </a:r>
          </a:p>
        </p:txBody>
      </p:sp>
      <p:sp>
        <p:nvSpPr>
          <p:cNvPr id="1014" name="Shape 1014"/>
          <p:cNvSpPr/>
          <p:nvPr/>
        </p:nvSpPr>
        <p:spPr>
          <a:xfrm>
            <a:off x="5060000" y="2640000"/>
            <a:ext cx="3672520" cy="1660000"/>
          </a:xfrm>
          <a:prstGeom prst="roundRect">
            <a:avLst>
              <a:gd fmla="val 5000" name="adj"/>
            </a:avLst>
          </a:prstGeom>
          <a:solidFill>
            <a:srgbClr val="FFFFFF"/>
          </a:solidFill>
          <a:ln w="9525" cap="flat">
            <a:solidFill>
              <a:srgbClr val="DCE6EE"/>
            </a:solidFill>
            <a:prstDash val="solid"/>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1015" name="Shape 1015"/>
          <p:cNvSpPr/>
          <p:nvPr/>
        </p:nvSpPr>
        <p:spPr>
          <a:xfrm>
            <a:off x="5180000" y="2720000"/>
            <a:ext cx="3432520" cy="26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200" u="none" cap="none" strike="noStrike">
                <a:solidFill>
                  <a:srgbClr val="598DBD"/>
                </a:solidFill>
                <a:latin typeface="Calibri"/>
                <a:ea typeface="Calibri"/>
                <a:cs typeface="Calibri"/>
                <a:sym typeface="Calibri"/>
              </a:rPr>
              <a:t>What PostgreSQL does</a:t>
            </a:r>
          </a:p>
        </p:txBody>
      </p:sp>
      <p:sp>
        <p:nvSpPr>
          <p:cNvPr id="1016" name="Shape 1016"/>
          <p:cNvSpPr/>
          <p:nvPr/>
        </p:nvSpPr>
        <p:spPr>
          <a:xfrm>
            <a:off x="5180000" y="3000000"/>
            <a:ext cx="3432520" cy="300000"/>
          </a:xfrm>
          <a:prstGeom prst="rect">
            <a:avLst/>
          </a:prstGeom>
          <a:noFill/>
          <a:ln>
            <a:noFill/>
          </a:ln>
        </p:spPr>
        <p:txBody>
          <a:bodyPr anchorCtr="0" anchor="ctr" bIns="68575" lIns="68575" spcFirstLastPara="1" rIns="68575" wrap="square" tIns="68575">
            <a:noAutofit/>
          </a:bodyPr>
          <a:lstStyle/>
          <a:p>
            <a:pPr indent="-190500" lvl="0" marL="190500" marR="0" rtl="0" algn="l">
              <a:lnSpc>
                <a:spcPct val="100000"/>
              </a:lnSpc>
              <a:spcBef>
                <a:spcPts val="0"/>
              </a:spcBef>
              <a:spcAft>
                <a:spcPts val="0"/>
              </a:spcAft>
              <a:buClr>
                <a:srgbClr val="4597E1"/>
              </a:buClr>
              <a:buSzPts val="1000"/>
              <a:buFont typeface="Calibri"/>
              <a:buChar char="•"/>
            </a:pPr>
            <a:r>
              <a:rPr b="0" i="0" lang="en-GB" sz="1000" u="none" cap="none" strike="noStrike">
                <a:solidFill>
                  <a:srgbClr val="16334D"/>
                </a:solidFill>
                <a:latin typeface="Calibri"/>
                <a:ea typeface="Calibri"/>
                <a:cs typeface="Calibri"/>
                <a:sym typeface="Calibri"/>
              </a:rPr>
              <a:t>Creates a brand-new, isolated database inside the running server.</a:t>
            </a:r>
          </a:p>
        </p:txBody>
      </p:sp>
      <p:sp>
        <p:nvSpPr>
          <p:cNvPr id="1017" name="Shape 1017"/>
          <p:cNvSpPr/>
          <p:nvPr/>
        </p:nvSpPr>
        <p:spPr>
          <a:xfrm>
            <a:off x="5180000" y="3310000"/>
            <a:ext cx="3432520" cy="300000"/>
          </a:xfrm>
          <a:prstGeom prst="rect">
            <a:avLst/>
          </a:prstGeom>
          <a:noFill/>
          <a:ln>
            <a:noFill/>
          </a:ln>
        </p:spPr>
        <p:txBody>
          <a:bodyPr anchorCtr="0" anchor="ctr" bIns="68575" lIns="68575" spcFirstLastPara="1" rIns="68575" wrap="square" tIns="68575">
            <a:noAutofit/>
          </a:bodyPr>
          <a:lstStyle/>
          <a:p>
            <a:pPr indent="-190500" lvl="0" marL="190500" marR="0" rtl="0" algn="l">
              <a:lnSpc>
                <a:spcPct val="100000"/>
              </a:lnSpc>
              <a:spcBef>
                <a:spcPts val="0"/>
              </a:spcBef>
              <a:spcAft>
                <a:spcPts val="0"/>
              </a:spcAft>
              <a:buClr>
                <a:srgbClr val="4597E1"/>
              </a:buClr>
              <a:buSzPts val="1000"/>
              <a:buFont typeface="Calibri"/>
              <a:buChar char="•"/>
            </a:pPr>
            <a:r>
              <a:rPr b="0" i="0" lang="en-GB" sz="1000" u="none" cap="none" strike="noStrike">
                <a:solidFill>
                  <a:srgbClr val="16334D"/>
                </a:solidFill>
                <a:latin typeface="Calibri"/>
                <a:ea typeface="Calibri"/>
                <a:cs typeface="Calibri"/>
                <a:sym typeface="Calibri"/>
              </a:rPr>
              <a:t>Copies the built-in template1 database as its starting point.</a:t>
            </a:r>
          </a:p>
        </p:txBody>
      </p:sp>
      <p:sp>
        <p:nvSpPr>
          <p:cNvPr id="1018" name="Shape 1018"/>
          <p:cNvSpPr/>
          <p:nvPr/>
        </p:nvSpPr>
        <p:spPr>
          <a:xfrm>
            <a:off x="5180000" y="3620000"/>
            <a:ext cx="3432520" cy="300000"/>
          </a:xfrm>
          <a:prstGeom prst="rect">
            <a:avLst/>
          </a:prstGeom>
          <a:noFill/>
          <a:ln>
            <a:noFill/>
          </a:ln>
        </p:spPr>
        <p:txBody>
          <a:bodyPr anchorCtr="0" anchor="ctr" bIns="68575" lIns="68575" spcFirstLastPara="1" rIns="68575" wrap="square" tIns="68575">
            <a:noAutofit/>
          </a:bodyPr>
          <a:lstStyle/>
          <a:p>
            <a:pPr indent="-190500" lvl="0" marL="190500" marR="0" rtl="0" algn="l">
              <a:lnSpc>
                <a:spcPct val="100000"/>
              </a:lnSpc>
              <a:spcBef>
                <a:spcPts val="0"/>
              </a:spcBef>
              <a:spcAft>
                <a:spcPts val="0"/>
              </a:spcAft>
              <a:buClr>
                <a:srgbClr val="4597E1"/>
              </a:buClr>
              <a:buSzPts val="1000"/>
              <a:buFont typeface="Calibri"/>
              <a:buChar char="•"/>
            </a:pPr>
            <a:r>
              <a:rPr b="0" i="0" lang="en-GB" sz="1000" u="none" cap="none" strike="noStrike">
                <a:solidFill>
                  <a:srgbClr val="16334D"/>
                </a:solidFill>
                <a:latin typeface="Calibri"/>
                <a:ea typeface="Calibri"/>
                <a:cs typeface="Calibri"/>
                <a:sym typeface="Calibri"/>
              </a:rPr>
              <a:t>Does nothing to your session — you must connect to it next.</a:t>
            </a:r>
          </a:p>
        </p:txBody>
      </p:sp>
      <p:sp>
        <p:nvSpPr>
          <p:cNvPr id="1019" name="Shape 1019"/>
          <p:cNvSpPr/>
          <p:nvPr/>
        </p:nvSpPr>
        <p:spPr>
          <a:xfrm>
            <a:off x="5180000" y="3930000"/>
            <a:ext cx="3432520" cy="300000"/>
          </a:xfrm>
          <a:prstGeom prst="rect">
            <a:avLst/>
          </a:prstGeom>
          <a:noFill/>
          <a:ln>
            <a:noFill/>
          </a:ln>
        </p:spPr>
        <p:txBody>
          <a:bodyPr anchorCtr="0" anchor="ctr" bIns="68575" lIns="68575" spcFirstLastPara="1" rIns="68575" wrap="square" tIns="68575">
            <a:noAutofit/>
          </a:bodyPr>
          <a:lstStyle/>
          <a:p>
            <a:pPr indent="-190500" lvl="0" marL="190500" marR="0" rtl="0" algn="l">
              <a:lnSpc>
                <a:spcPct val="100000"/>
              </a:lnSpc>
              <a:spcBef>
                <a:spcPts val="0"/>
              </a:spcBef>
              <a:spcAft>
                <a:spcPts val="0"/>
              </a:spcAft>
              <a:buClr>
                <a:srgbClr val="4597E1"/>
              </a:buClr>
              <a:buSzPts val="1000"/>
              <a:buFont typeface="Calibri"/>
              <a:buChar char="•"/>
            </a:pPr>
            <a:r>
              <a:rPr b="0" i="0" lang="en-GB" sz="1000" u="none" cap="none" strike="noStrike">
                <a:solidFill>
                  <a:srgbClr val="16334D"/>
                </a:solidFill>
                <a:latin typeface="Calibri"/>
                <a:ea typeface="Calibri"/>
                <a:cs typeface="Calibri"/>
                <a:sym typeface="Calibri"/>
              </a:rPr>
              <a:t>Must run outside a transaction block, and the name must be unique.</a:t>
            </a:r>
          </a:p>
        </p:txBody>
      </p:sp>
      <p:pic>
        <p:nvPicPr>
          <p:cNvPr id="1020" name="Logo 1020"/>
          <p:cNvPicPr preferRelativeResize="0"/>
          <p:nvPr/>
        </p:nvPicPr>
        <p:blipFill rotWithShape="1">
          <a:blip r:embed="rId2">
            <a:alphaModFix/>
          </a:blip>
          <a:srcRect b="0" l="0" r="0" t="0"/>
          <a:stretch/>
        </p:blipFill>
        <p:spPr>
          <a:xfrm>
            <a:off x="8046491" y="150876"/>
            <a:ext cx="720090" cy="304903"/>
          </a:xfrm>
          <a:prstGeom prst="rect">
            <a:avLst/>
          </a:prstGeom>
          <a:noFill/>
          <a:ln>
            <a:noFill/>
          </a:ln>
        </p:spPr>
      </p:pic>
      <p:sp>
        <p:nvSpPr>
          <p:cNvPr id="1021" name="Shape 1021"/>
          <p:cNvSpPr/>
          <p:nvPr/>
        </p:nvSpPr>
        <p:spPr>
          <a:xfrm>
            <a:off x="8526551" y="4800600"/>
            <a:ext cx="411525" cy="205650"/>
          </a:xfrm>
          <a:prstGeom prst="rect">
            <a:avLst/>
          </a:prstGeom>
          <a:noFill/>
          <a:ln>
            <a:noFill/>
          </a:ln>
        </p:spPr>
        <p:txBody>
          <a:bodyPr anchorCtr="0" anchor="ctr" bIns="68575" lIns="68575" spcFirstLastPara="1" rIns="68575" wrap="square" tIns="68575">
            <a:noAutofit/>
          </a:bodyPr>
          <a:lstStyle/>
          <a:p>
            <a:pPr indent="0" lvl="0" marL="0" marR="0" rtl="0" algn="r">
              <a:lnSpc>
                <a:spcPct val="100000"/>
              </a:lnSpc>
              <a:spcBef>
                <a:spcPts val="0"/>
              </a:spcBef>
              <a:spcAft>
                <a:spcPts val="0"/>
              </a:spcAft>
              <a:buClr>
                <a:srgbClr val="000000"/>
              </a:buClr>
              <a:buSzPts val="1000"/>
              <a:buFont typeface="Calibri"/>
              <a:buNone/>
            </a:pPr>
            <a:r>
              <a:rPr b="0" i="0" lang="en-GB" sz="1100" u="none" cap="none" strike="noStrike">
                <a:solidFill>
                  <a:srgbClr val="A1AAB2"/>
                </a:solidFill>
                <a:latin typeface="Calibri"/>
                <a:ea typeface="Calibri"/>
                <a:cs typeface="Calibri"/>
                <a:sym typeface="Calibri"/>
              </a:rPr>
              <a:t>12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1022" name="Shape 1022"/>
          <p:cNvSpPr/>
          <p:nvPr/>
        </p:nvSpPr>
        <p:spPr>
          <a:xfrm>
            <a:off x="411480" y="330000"/>
            <a:ext cx="6000000" cy="22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598DBD"/>
                </a:solidFill>
                <a:latin typeface="Calibri"/>
                <a:ea typeface="Calibri"/>
                <a:cs typeface="Calibri"/>
                <a:sym typeface="Calibri"/>
              </a:rPr>
              <a:t>THE SAME COMMAND, THREE DOORWAYS</a:t>
            </a:r>
          </a:p>
        </p:txBody>
      </p:sp>
      <p:sp>
        <p:nvSpPr>
          <p:cNvPr id="1023" name="Shape 1023"/>
          <p:cNvSpPr/>
          <p:nvPr/>
        </p:nvSpPr>
        <p:spPr>
          <a:xfrm>
            <a:off x="411480" y="560000"/>
            <a:ext cx="8092350" cy="4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2000" u="none" cap="none" strike="noStrike">
                <a:solidFill>
                  <a:srgbClr val="1E4161"/>
                </a:solidFill>
                <a:latin typeface="Cambria"/>
                <a:ea typeface="Cambria"/>
                <a:cs typeface="Cambria"/>
                <a:sym typeface="Cambria"/>
              </a:rPr>
              <a:t>Three ways to create a database in PostgreSQL</a:t>
            </a:r>
          </a:p>
        </p:txBody>
      </p:sp>
      <p:sp>
        <p:nvSpPr>
          <p:cNvPr id="1024" name="Shape 1024"/>
          <p:cNvSpPr/>
          <p:nvPr/>
        </p:nvSpPr>
        <p:spPr>
          <a:xfrm>
            <a:off x="411480" y="1150000"/>
            <a:ext cx="2600173" cy="298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1025" name="Shape 1025"/>
          <p:cNvSpPr/>
          <p:nvPr/>
        </p:nvSpPr>
        <p:spPr>
          <a:xfrm>
            <a:off x="551480" y="1270000"/>
            <a:ext cx="300000" cy="300000"/>
          </a:xfrm>
          <a:prstGeom prst="roundRect">
            <a:avLst>
              <a:gd fmla="val 50000" name="adj"/>
            </a:avLst>
          </a:prstGeom>
          <a:solidFill>
            <a:srgbClr val="459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Calibri"/>
              <a:buNone/>
            </a:pPr>
            <a:r>
              <a:rPr b="1" i="0" lang="en-GB" sz="1050" u="none" cap="none" strike="noStrike">
                <a:solidFill>
                  <a:srgbClr val="FFFFFF"/>
                </a:solidFill>
                <a:latin typeface="Calibri"/>
                <a:ea typeface="Calibri"/>
                <a:cs typeface="Calibri"/>
                <a:sym typeface="Calibri"/>
              </a:rPr>
              <a:t>1</a:t>
            </a:r>
          </a:p>
        </p:txBody>
      </p:sp>
      <p:sp>
        <p:nvSpPr>
          <p:cNvPr id="1026" name="Shape 1026"/>
          <p:cNvSpPr/>
          <p:nvPr/>
        </p:nvSpPr>
        <p:spPr>
          <a:xfrm>
            <a:off x="911480" y="1270000"/>
            <a:ext cx="1980173" cy="30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350" u="none" cap="none" strike="noStrike">
                <a:solidFill>
                  <a:srgbClr val="1E4161"/>
                </a:solidFill>
                <a:latin typeface="Cambria"/>
                <a:ea typeface="Cambria"/>
                <a:cs typeface="Cambria"/>
                <a:sym typeface="Cambria"/>
              </a:rPr>
              <a:t>psql (SQL)</a:t>
            </a:r>
          </a:p>
        </p:txBody>
      </p:sp>
      <p:sp>
        <p:nvSpPr>
          <p:cNvPr id="1027" name="Shape 1027"/>
          <p:cNvSpPr/>
          <p:nvPr/>
        </p:nvSpPr>
        <p:spPr>
          <a:xfrm>
            <a:off x="551480" y="1640000"/>
            <a:ext cx="2320173" cy="42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598DBD"/>
                </a:solidFill>
                <a:latin typeface="Calibri"/>
                <a:ea typeface="Calibri"/>
                <a:cs typeface="Calibri"/>
                <a:sym typeface="Calibri"/>
              </a:rPr>
              <a:t>Type SQL straight into any Postgres client.</a:t>
            </a:r>
          </a:p>
        </p:txBody>
      </p:sp>
      <p:sp>
        <p:nvSpPr>
          <p:cNvPr id="1028" name="Shape 1028"/>
          <p:cNvSpPr/>
          <p:nvPr/>
        </p:nvSpPr>
        <p:spPr>
          <a:xfrm>
            <a:off x="551480" y="2120000"/>
            <a:ext cx="2320173" cy="760000"/>
          </a:xfrm>
          <a:prstGeom prst="roundRect">
            <a:avLst>
              <a:gd fmla="val 4000" name="adj"/>
            </a:avLst>
          </a:prstGeom>
          <a:solidFill>
            <a:srgbClr val="16334D"/>
          </a:solidFill>
          <a:ln>
            <a:noFill/>
          </a:ln>
        </p:spPr>
        <p:txBody>
          <a:bodyPr anchorCtr="0" anchor="ctr" bIns="114300" lIns="114300" spcFirstLastPara="1" rIns="114300" wrap="square" tIns="114300">
            <a:noAutofit/>
          </a:bodyPr>
          <a:lstStyle/>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7FC4FF"/>
                </a:solidFill>
                <a:latin typeface="Consolas"/>
                <a:ea typeface="Consolas"/>
                <a:cs typeface="Consolas"/>
                <a:sym typeface="Consolas"/>
              </a:rPr>
              <a:t>CREATE DATABASE</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7FC4FF"/>
                </a:solidFill>
                <a:latin typeface="Consolas"/>
                <a:ea typeface="Consolas"/>
                <a:cs typeface="Consolas"/>
                <a:sym typeface="Consolas"/>
              </a:rPr>
              <a:t>university;</a:t>
            </a:r>
          </a:p>
        </p:txBody>
      </p:sp>
      <p:sp>
        <p:nvSpPr>
          <p:cNvPr id="1029" name="Shape 1029"/>
          <p:cNvSpPr/>
          <p:nvPr/>
        </p:nvSpPr>
        <p:spPr>
          <a:xfrm>
            <a:off x="551480" y="2980000"/>
            <a:ext cx="2320173" cy="9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The canonical way — works in psql, pgAdmin’s query tool, or any driver.</a:t>
            </a:r>
          </a:p>
        </p:txBody>
      </p:sp>
      <p:sp>
        <p:nvSpPr>
          <p:cNvPr id="1030" name="Shape 1030"/>
          <p:cNvSpPr/>
          <p:nvPr/>
        </p:nvSpPr>
        <p:spPr>
          <a:xfrm>
            <a:off x="3271913" y="1150000"/>
            <a:ext cx="2600173" cy="298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1031" name="Shape 1031"/>
          <p:cNvSpPr/>
          <p:nvPr/>
        </p:nvSpPr>
        <p:spPr>
          <a:xfrm>
            <a:off x="3411913" y="1270000"/>
            <a:ext cx="300000" cy="300000"/>
          </a:xfrm>
          <a:prstGeom prst="roundRect">
            <a:avLst>
              <a:gd fmla="val 50000" name="adj"/>
            </a:avLst>
          </a:prstGeom>
          <a:solidFill>
            <a:srgbClr val="459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Calibri"/>
              <a:buNone/>
            </a:pPr>
            <a:r>
              <a:rPr b="1" i="0" lang="en-GB" sz="1050" u="none" cap="none" strike="noStrike">
                <a:solidFill>
                  <a:srgbClr val="FFFFFF"/>
                </a:solidFill>
                <a:latin typeface="Calibri"/>
                <a:ea typeface="Calibri"/>
                <a:cs typeface="Calibri"/>
                <a:sym typeface="Calibri"/>
              </a:rPr>
              <a:t>2</a:t>
            </a:r>
          </a:p>
        </p:txBody>
      </p:sp>
      <p:sp>
        <p:nvSpPr>
          <p:cNvPr id="1032" name="Shape 1032"/>
          <p:cNvSpPr/>
          <p:nvPr/>
        </p:nvSpPr>
        <p:spPr>
          <a:xfrm>
            <a:off x="3771913" y="1270000"/>
            <a:ext cx="1980173" cy="30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350" u="none" cap="none" strike="noStrike">
                <a:solidFill>
                  <a:srgbClr val="1E4161"/>
                </a:solidFill>
                <a:latin typeface="Cambria"/>
                <a:ea typeface="Cambria"/>
                <a:cs typeface="Cambria"/>
                <a:sym typeface="Cambria"/>
              </a:rPr>
              <a:t>createdb (terminal)</a:t>
            </a:r>
          </a:p>
        </p:txBody>
      </p:sp>
      <p:sp>
        <p:nvSpPr>
          <p:cNvPr id="1033" name="Shape 1033"/>
          <p:cNvSpPr/>
          <p:nvPr/>
        </p:nvSpPr>
        <p:spPr>
          <a:xfrm>
            <a:off x="3411913" y="1640000"/>
            <a:ext cx="2320173" cy="42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598DBD"/>
                </a:solidFill>
                <a:latin typeface="Calibri"/>
                <a:ea typeface="Calibri"/>
                <a:cs typeface="Calibri"/>
                <a:sym typeface="Calibri"/>
              </a:rPr>
              <a:t>A command-line wrapper shipped with Postgres.</a:t>
            </a:r>
          </a:p>
        </p:txBody>
      </p:sp>
      <p:sp>
        <p:nvSpPr>
          <p:cNvPr id="1034" name="Shape 1034"/>
          <p:cNvSpPr/>
          <p:nvPr/>
        </p:nvSpPr>
        <p:spPr>
          <a:xfrm>
            <a:off x="3411913" y="2120000"/>
            <a:ext cx="2320173" cy="760000"/>
          </a:xfrm>
          <a:prstGeom prst="roundRect">
            <a:avLst>
              <a:gd fmla="val 4000" name="adj"/>
            </a:avLst>
          </a:prstGeom>
          <a:solidFill>
            <a:srgbClr val="16334D"/>
          </a:solidFill>
          <a:ln>
            <a:noFill/>
          </a:ln>
        </p:spPr>
        <p:txBody>
          <a:bodyPr anchorCtr="0" anchor="ctr" bIns="114300" lIns="114300" spcFirstLastPara="1" rIns="114300" wrap="square" tIns="114300">
            <a:noAutofit/>
          </a:bodyPr>
          <a:lstStyle/>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7FC4FF"/>
                </a:solidFill>
                <a:latin typeface="Consolas"/>
                <a:ea typeface="Consolas"/>
                <a:cs typeface="Consolas"/>
                <a:sym typeface="Consolas"/>
              </a:rPr>
              <a:t>createdb -U postgres</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7FC4FF"/>
                </a:solidFill>
                <a:latin typeface="Consolas"/>
                <a:ea typeface="Consolas"/>
                <a:cs typeface="Consolas"/>
                <a:sym typeface="Consolas"/>
              </a:rPr>
              <a:t>  university</a:t>
            </a:r>
          </a:p>
        </p:txBody>
      </p:sp>
      <p:sp>
        <p:nvSpPr>
          <p:cNvPr id="1035" name="Shape 1035"/>
          <p:cNvSpPr/>
          <p:nvPr/>
        </p:nvSpPr>
        <p:spPr>
          <a:xfrm>
            <a:off x="3411913" y="2980000"/>
            <a:ext cx="2320173" cy="9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One line in the shell — handy in scripts and setup automation.</a:t>
            </a:r>
          </a:p>
        </p:txBody>
      </p:sp>
      <p:sp>
        <p:nvSpPr>
          <p:cNvPr id="1036" name="Shape 1036"/>
          <p:cNvSpPr/>
          <p:nvPr/>
        </p:nvSpPr>
        <p:spPr>
          <a:xfrm>
            <a:off x="6132346" y="1150000"/>
            <a:ext cx="2600173" cy="298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1037" name="Shape 1037"/>
          <p:cNvSpPr/>
          <p:nvPr/>
        </p:nvSpPr>
        <p:spPr>
          <a:xfrm>
            <a:off x="6272346" y="1270000"/>
            <a:ext cx="300000" cy="300000"/>
          </a:xfrm>
          <a:prstGeom prst="roundRect">
            <a:avLst>
              <a:gd fmla="val 50000" name="adj"/>
            </a:avLst>
          </a:prstGeom>
          <a:solidFill>
            <a:srgbClr val="459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Calibri"/>
              <a:buNone/>
            </a:pPr>
            <a:r>
              <a:rPr b="1" i="0" lang="en-GB" sz="1050" u="none" cap="none" strike="noStrike">
                <a:solidFill>
                  <a:srgbClr val="FFFFFF"/>
                </a:solidFill>
                <a:latin typeface="Calibri"/>
                <a:ea typeface="Calibri"/>
                <a:cs typeface="Calibri"/>
                <a:sym typeface="Calibri"/>
              </a:rPr>
              <a:t>3</a:t>
            </a:r>
          </a:p>
        </p:txBody>
      </p:sp>
      <p:sp>
        <p:nvSpPr>
          <p:cNvPr id="1038" name="Shape 1038"/>
          <p:cNvSpPr/>
          <p:nvPr/>
        </p:nvSpPr>
        <p:spPr>
          <a:xfrm>
            <a:off x="6632346" y="1270000"/>
            <a:ext cx="1980173" cy="30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350" u="none" cap="none" strike="noStrike">
                <a:solidFill>
                  <a:srgbClr val="1E4161"/>
                </a:solidFill>
                <a:latin typeface="Cambria"/>
                <a:ea typeface="Cambria"/>
                <a:cs typeface="Cambria"/>
                <a:sym typeface="Cambria"/>
              </a:rPr>
              <a:t>pgAdmin (GUI)</a:t>
            </a:r>
          </a:p>
        </p:txBody>
      </p:sp>
      <p:sp>
        <p:nvSpPr>
          <p:cNvPr id="1039" name="Shape 1039"/>
          <p:cNvSpPr/>
          <p:nvPr/>
        </p:nvSpPr>
        <p:spPr>
          <a:xfrm>
            <a:off x="6272346" y="1640000"/>
            <a:ext cx="2320173" cy="42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598DBD"/>
                </a:solidFill>
                <a:latin typeface="Calibri"/>
                <a:ea typeface="Calibri"/>
                <a:cs typeface="Calibri"/>
                <a:sym typeface="Calibri"/>
              </a:rPr>
              <a:t>Point-and-click, no typing required.</a:t>
            </a:r>
          </a:p>
        </p:txBody>
      </p:sp>
      <p:sp>
        <p:nvSpPr>
          <p:cNvPr id="1040" name="Shape 1040"/>
          <p:cNvSpPr/>
          <p:nvPr/>
        </p:nvSpPr>
        <p:spPr>
          <a:xfrm>
            <a:off x="6272346" y="2120000"/>
            <a:ext cx="2320173" cy="760000"/>
          </a:xfrm>
          <a:prstGeom prst="roundRect">
            <a:avLst>
              <a:gd fmla="val 4000" name="adj"/>
            </a:avLst>
          </a:prstGeom>
          <a:solidFill>
            <a:srgbClr val="16334D"/>
          </a:solidFill>
          <a:ln>
            <a:noFill/>
          </a:ln>
        </p:spPr>
        <p:txBody>
          <a:bodyPr anchorCtr="0" anchor="ctr" bIns="114300" lIns="114300" spcFirstLastPara="1" rIns="114300" wrap="square" tIns="114300">
            <a:noAutofit/>
          </a:bodyPr>
          <a:lstStyle/>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7FC4FF"/>
                </a:solidFill>
                <a:latin typeface="Consolas"/>
                <a:ea typeface="Consolas"/>
                <a:cs typeface="Consolas"/>
                <a:sym typeface="Consolas"/>
              </a:rPr>
              <a:t>Databases → right-click</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7FC4FF"/>
                </a:solidFill>
                <a:latin typeface="Consolas"/>
                <a:ea typeface="Consolas"/>
                <a:cs typeface="Consolas"/>
                <a:sym typeface="Consolas"/>
              </a:rPr>
              <a:t>→ Create → Database…</a:t>
            </a:r>
          </a:p>
        </p:txBody>
      </p:sp>
      <p:sp>
        <p:nvSpPr>
          <p:cNvPr id="1041" name="Shape 1041"/>
          <p:cNvSpPr/>
          <p:nvPr/>
        </p:nvSpPr>
        <p:spPr>
          <a:xfrm>
            <a:off x="6272346" y="2980000"/>
            <a:ext cx="2320173" cy="9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Fill in name and owner, hit Save — pgAdmin writes the SQL for you.</a:t>
            </a:r>
          </a:p>
        </p:txBody>
      </p:sp>
      <p:sp>
        <p:nvSpPr>
          <p:cNvPr id="1042" name="Shape 1042"/>
          <p:cNvSpPr/>
          <p:nvPr/>
        </p:nvSpPr>
        <p:spPr>
          <a:xfrm>
            <a:off x="411480" y="4290000"/>
            <a:ext cx="8321040" cy="260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Calibri"/>
              <a:buNone/>
            </a:pPr>
            <a:r>
              <a:rPr b="0" i="1" lang="en-GB" sz="1050" u="none" cap="none" strike="noStrike">
                <a:solidFill>
                  <a:srgbClr val="598DBD"/>
                </a:solidFill>
                <a:latin typeface="Calibri"/>
                <a:ea typeface="Calibri"/>
                <a:cs typeface="Calibri"/>
                <a:sym typeface="Calibri"/>
              </a:rPr>
              <a:t>All three end at the same place: a new, empty database registered in the server. Only the doorway differs.</a:t>
            </a:r>
          </a:p>
        </p:txBody>
      </p:sp>
      <p:pic>
        <p:nvPicPr>
          <p:cNvPr id="1043" name="Logo 1043"/>
          <p:cNvPicPr preferRelativeResize="0"/>
          <p:nvPr/>
        </p:nvPicPr>
        <p:blipFill rotWithShape="1">
          <a:blip r:embed="rId2">
            <a:alphaModFix/>
          </a:blip>
          <a:srcRect b="0" l="0" r="0" t="0"/>
          <a:stretch/>
        </p:blipFill>
        <p:spPr>
          <a:xfrm>
            <a:off x="8046491" y="150876"/>
            <a:ext cx="720090" cy="304903"/>
          </a:xfrm>
          <a:prstGeom prst="rect">
            <a:avLst/>
          </a:prstGeom>
          <a:noFill/>
          <a:ln>
            <a:noFill/>
          </a:ln>
        </p:spPr>
      </p:pic>
      <p:sp>
        <p:nvSpPr>
          <p:cNvPr id="1044" name="Shape 1044"/>
          <p:cNvSpPr/>
          <p:nvPr/>
        </p:nvSpPr>
        <p:spPr>
          <a:xfrm>
            <a:off x="8526551" y="4800600"/>
            <a:ext cx="411525" cy="205650"/>
          </a:xfrm>
          <a:prstGeom prst="rect">
            <a:avLst/>
          </a:prstGeom>
          <a:noFill/>
          <a:ln>
            <a:noFill/>
          </a:ln>
        </p:spPr>
        <p:txBody>
          <a:bodyPr anchorCtr="0" anchor="ctr" bIns="68575" lIns="68575" spcFirstLastPara="1" rIns="68575" wrap="square" tIns="68575">
            <a:noAutofit/>
          </a:bodyPr>
          <a:lstStyle/>
          <a:p>
            <a:pPr indent="0" lvl="0" marL="0" marR="0" rtl="0" algn="r">
              <a:lnSpc>
                <a:spcPct val="100000"/>
              </a:lnSpc>
              <a:spcBef>
                <a:spcPts val="0"/>
              </a:spcBef>
              <a:spcAft>
                <a:spcPts val="0"/>
              </a:spcAft>
              <a:buClr>
                <a:srgbClr val="000000"/>
              </a:buClr>
              <a:buSzPts val="1000"/>
              <a:buFont typeface="Calibri"/>
              <a:buNone/>
            </a:pPr>
            <a:r>
              <a:rPr b="0" i="0" lang="en-GB" sz="1100" u="none" cap="none" strike="noStrike">
                <a:solidFill>
                  <a:srgbClr val="A1AAB2"/>
                </a:solidFill>
                <a:latin typeface="Calibri"/>
                <a:ea typeface="Calibri"/>
                <a:cs typeface="Calibri"/>
                <a:sym typeface="Calibri"/>
              </a:rPr>
              <a:t>13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1045" name="Shape 1045"/>
          <p:cNvSpPr/>
          <p:nvPr/>
        </p:nvSpPr>
        <p:spPr>
          <a:xfrm>
            <a:off x="411480" y="330000"/>
            <a:ext cx="6000000" cy="22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598DBD"/>
                </a:solidFill>
                <a:latin typeface="Calibri"/>
                <a:ea typeface="Calibri"/>
                <a:cs typeface="Calibri"/>
                <a:sym typeface="Calibri"/>
              </a:rPr>
              <a:t>END TO END</a:t>
            </a:r>
          </a:p>
        </p:txBody>
      </p:sp>
      <p:sp>
        <p:nvSpPr>
          <p:cNvPr id="1046" name="Shape 1046"/>
          <p:cNvSpPr/>
          <p:nvPr/>
        </p:nvSpPr>
        <p:spPr>
          <a:xfrm>
            <a:off x="411480" y="560000"/>
            <a:ext cx="8092350" cy="4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2000" u="none" cap="none" strike="noStrike">
                <a:solidFill>
                  <a:srgbClr val="1E4161"/>
                </a:solidFill>
                <a:latin typeface="Cambria"/>
                <a:ea typeface="Cambria"/>
                <a:cs typeface="Cambria"/>
                <a:sym typeface="Cambria"/>
              </a:rPr>
              <a:t>From database to table — one psql session</a:t>
            </a:r>
          </a:p>
        </p:txBody>
      </p:sp>
      <p:sp>
        <p:nvSpPr>
          <p:cNvPr id="1047" name="Shape 1047"/>
          <p:cNvSpPr/>
          <p:nvPr/>
        </p:nvSpPr>
        <p:spPr>
          <a:xfrm>
            <a:off x="411480" y="1150000"/>
            <a:ext cx="4900000" cy="3320000"/>
          </a:xfrm>
          <a:prstGeom prst="roundRect">
            <a:avLst>
              <a:gd fmla="val 4000" name="adj"/>
            </a:avLst>
          </a:prstGeom>
          <a:solidFill>
            <a:srgbClr val="16334D"/>
          </a:solidFill>
          <a:ln>
            <a:noFill/>
          </a:ln>
        </p:spPr>
        <p:txBody>
          <a:bodyPr anchorCtr="0" anchor="ctr" bIns="114300" lIns="114300" spcFirstLastPara="1" rIns="114300" wrap="square" tIns="114300">
            <a:noAutofit/>
          </a:bodyPr>
          <a:lstStyle/>
          <a:p>
            <a:pPr indent="0" lvl="0" marL="0" marR="0" rtl="0" algn="l">
              <a:lnSpc>
                <a:spcPct val="112000"/>
              </a:lnSpc>
              <a:spcBef>
                <a:spcPts val="0"/>
              </a:spcBef>
              <a:spcAft>
                <a:spcPts val="0"/>
              </a:spcAft>
              <a:buClr>
                <a:srgbClr val="000000"/>
              </a:buClr>
              <a:buSzPts val="1000"/>
              <a:buFont typeface="Calibri"/>
              <a:buNone/>
            </a:pPr>
            <a:r>
              <a:rPr b="1" i="0" lang="en-GB" sz="1100" u="none" cap="none" strike="noStrike">
                <a:solidFill>
                  <a:srgbClr val="9FE6B0"/>
                </a:solidFill>
                <a:latin typeface="Consolas"/>
                <a:ea typeface="Consolas"/>
                <a:cs typeface="Consolas"/>
                <a:sym typeface="Consolas"/>
              </a:rPr>
              <a:t>$ psql -U postgres</a:t>
            </a:r>
          </a:p>
          <a:p>
            <a:pPr indent="0" lvl="0" marL="0" marR="0" rtl="0" algn="l">
              <a:lnSpc>
                <a:spcPct val="112000"/>
              </a:lnSpc>
              <a:spcBef>
                <a:spcPts val="0"/>
              </a:spcBef>
              <a:spcAft>
                <a:spcPts val="0"/>
              </a:spcAft>
              <a:buClr>
                <a:srgbClr val="000000"/>
              </a:buClr>
              <a:buSzPts val="1000"/>
              <a:buFont typeface="Calibri"/>
              <a:buNone/>
            </a:pPr>
            <a:r>
              <a:rPr b="1" i="0" lang="en-GB" sz="1100" u="none" cap="none" strike="noStrike">
                <a:solidFill>
                  <a:srgbClr val="7FC4FF"/>
                </a:solidFill>
                <a:latin typeface="Consolas"/>
                <a:ea typeface="Consolas"/>
                <a:cs typeface="Consolas"/>
                <a:sym typeface="Consolas"/>
              </a:rPr>
              <a:t>postgres=# CREATE DATABASE university;</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8FB6D6"/>
                </a:solidFill>
                <a:latin typeface="Consolas"/>
                <a:ea typeface="Consolas"/>
                <a:cs typeface="Consolas"/>
                <a:sym typeface="Consolas"/>
              </a:rPr>
              <a:t>CREATE DATABASE</a:t>
            </a:r>
          </a:p>
          <a:p>
            <a:pPr indent="0" lvl="0" marL="0" marR="0" rtl="0" algn="l">
              <a:lnSpc>
                <a:spcPct val="112000"/>
              </a:lnSpc>
              <a:spcBef>
                <a:spcPts val="0"/>
              </a:spcBef>
              <a:spcAft>
                <a:spcPts val="0"/>
              </a:spcAft>
              <a:buClr>
                <a:srgbClr val="000000"/>
              </a:buClr>
              <a:buSzPts val="1000"/>
              <a:buFont typeface="Calibri"/>
              <a:buNone/>
            </a:pPr>
            <a:r>
              <a:rPr b="1" i="0" lang="en-GB" sz="1100" u="none" cap="none" strike="noStrike">
                <a:solidFill>
                  <a:srgbClr val="7FC4FF"/>
                </a:solidFill>
                <a:latin typeface="Consolas"/>
                <a:ea typeface="Consolas"/>
                <a:cs typeface="Consolas"/>
                <a:sym typeface="Consolas"/>
              </a:rPr>
              <a:t>postgres=# \c university</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8FB6D6"/>
                </a:solidFill>
                <a:latin typeface="Consolas"/>
                <a:ea typeface="Consolas"/>
                <a:cs typeface="Consolas"/>
                <a:sym typeface="Consolas"/>
              </a:rPr>
              <a:t>You are now connected to "university".</a:t>
            </a:r>
          </a:p>
          <a:p>
            <a:pPr indent="0" lvl="0" marL="0" marR="0" rtl="0" algn="l">
              <a:lnSpc>
                <a:spcPct val="112000"/>
              </a:lnSpc>
              <a:spcBef>
                <a:spcPts val="0"/>
              </a:spcBef>
              <a:spcAft>
                <a:spcPts val="0"/>
              </a:spcAft>
              <a:buClr>
                <a:srgbClr val="000000"/>
              </a:buClr>
              <a:buSzPts val="1000"/>
              <a:buFont typeface="Calibri"/>
              <a:buNone/>
            </a:pPr>
            <a:r>
              <a:rPr b="1" i="0" lang="en-GB" sz="1100" u="none" cap="none" strike="noStrike">
                <a:solidFill>
                  <a:srgbClr val="7FC4FF"/>
                </a:solidFill>
                <a:latin typeface="Consolas"/>
                <a:ea typeface="Consolas"/>
                <a:cs typeface="Consolas"/>
                <a:sym typeface="Consolas"/>
              </a:rPr>
              <a:t>university=# CREATE TABLE students (</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D7E6F5"/>
                </a:solidFill>
                <a:latin typeface="Consolas"/>
                <a:ea typeface="Consolas"/>
                <a:cs typeface="Consolas"/>
                <a:sym typeface="Consolas"/>
              </a:rPr>
              <a:t>university-#   id   INT PRIMARY KEY,</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D7E6F5"/>
                </a:solidFill>
                <a:latin typeface="Consolas"/>
                <a:ea typeface="Consolas"/>
                <a:cs typeface="Consolas"/>
                <a:sym typeface="Consolas"/>
              </a:rPr>
              <a:t>university-#   name VARCHAR(50)</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D7E6F5"/>
                </a:solidFill>
                <a:latin typeface="Consolas"/>
                <a:ea typeface="Consolas"/>
                <a:cs typeface="Consolas"/>
                <a:sym typeface="Consolas"/>
              </a:rPr>
              <a:t>university-# );</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8FB6D6"/>
                </a:solidFill>
                <a:latin typeface="Consolas"/>
                <a:ea typeface="Consolas"/>
                <a:cs typeface="Consolas"/>
                <a:sym typeface="Consolas"/>
              </a:rPr>
              <a:t>CREATE TABLE</a:t>
            </a:r>
          </a:p>
          <a:p>
            <a:pPr indent="0" lvl="0" marL="0" marR="0" rtl="0" algn="l">
              <a:lnSpc>
                <a:spcPct val="112000"/>
              </a:lnSpc>
              <a:spcBef>
                <a:spcPts val="0"/>
              </a:spcBef>
              <a:spcAft>
                <a:spcPts val="0"/>
              </a:spcAft>
              <a:buClr>
                <a:srgbClr val="000000"/>
              </a:buClr>
              <a:buSzPts val="1000"/>
              <a:buFont typeface="Calibri"/>
              <a:buNone/>
            </a:pPr>
            <a:r>
              <a:rPr b="1" i="0" lang="en-GB" sz="1100" u="none" cap="none" strike="noStrike">
                <a:solidFill>
                  <a:srgbClr val="7FC4FF"/>
                </a:solidFill>
                <a:latin typeface="Consolas"/>
                <a:ea typeface="Consolas"/>
                <a:cs typeface="Consolas"/>
                <a:sym typeface="Consolas"/>
              </a:rPr>
              <a:t>university=# \dt</a:t>
            </a:r>
          </a:p>
          <a:p>
            <a:pPr indent="0" lvl="0" marL="0" marR="0" rtl="0" algn="l">
              <a:lnSpc>
                <a:spcPct val="112000"/>
              </a:lnSpc>
              <a:spcBef>
                <a:spcPts val="0"/>
              </a:spcBef>
              <a:spcAft>
                <a:spcPts val="0"/>
              </a:spcAft>
              <a:buClr>
                <a:srgbClr val="000000"/>
              </a:buClr>
              <a:buSzPts val="1000"/>
              <a:buFont typeface="Calibri"/>
              <a:buNone/>
            </a:pPr>
            <a:r>
              <a:rPr b="0" i="0" lang="en-GB" sz="1100" u="none" cap="none" strike="noStrike">
                <a:solidFill>
                  <a:srgbClr val="8FB6D6"/>
                </a:solidFill>
                <a:latin typeface="Consolas"/>
                <a:ea typeface="Consolas"/>
                <a:cs typeface="Consolas"/>
                <a:sym typeface="Consolas"/>
              </a:rPr>
              <a:t> public | students | table | postgres</a:t>
            </a:r>
          </a:p>
        </p:txBody>
      </p:sp>
      <p:sp>
        <p:nvSpPr>
          <p:cNvPr id="1048" name="Shape 1048"/>
          <p:cNvSpPr/>
          <p:nvPr/>
        </p:nvSpPr>
        <p:spPr>
          <a:xfrm>
            <a:off x="5571740" y="1150000"/>
            <a:ext cx="3160780" cy="193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1049" name="Shape 1049"/>
          <p:cNvSpPr/>
          <p:nvPr/>
        </p:nvSpPr>
        <p:spPr>
          <a:xfrm>
            <a:off x="5711740" y="1270000"/>
            <a:ext cx="2880780" cy="26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200" u="none" cap="none" strike="noStrike">
                <a:solidFill>
                  <a:srgbClr val="1E4161"/>
                </a:solidFill>
                <a:latin typeface="Cambria"/>
                <a:ea typeface="Cambria"/>
                <a:cs typeface="Cambria"/>
                <a:sym typeface="Cambria"/>
              </a:rPr>
              <a:t>Meta-commands to remember</a:t>
            </a:r>
          </a:p>
        </p:txBody>
      </p:sp>
      <p:sp>
        <p:nvSpPr>
          <p:cNvPr id="1050" name="Shape 1050"/>
          <p:cNvSpPr/>
          <p:nvPr/>
        </p:nvSpPr>
        <p:spPr>
          <a:xfrm>
            <a:off x="5711740" y="1600000"/>
            <a:ext cx="9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4597E1"/>
                </a:solidFill>
                <a:latin typeface="Consolas"/>
                <a:ea typeface="Consolas"/>
                <a:cs typeface="Consolas"/>
                <a:sym typeface="Consolas"/>
              </a:rPr>
              <a:t>\l</a:t>
            </a:r>
          </a:p>
        </p:txBody>
      </p:sp>
      <p:sp>
        <p:nvSpPr>
          <p:cNvPr id="1051" name="Shape 1051"/>
          <p:cNvSpPr/>
          <p:nvPr/>
        </p:nvSpPr>
        <p:spPr>
          <a:xfrm>
            <a:off x="6641740" y="1600000"/>
            <a:ext cx="195078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list every database</a:t>
            </a:r>
          </a:p>
        </p:txBody>
      </p:sp>
      <p:sp>
        <p:nvSpPr>
          <p:cNvPr id="1052" name="Shape 1052"/>
          <p:cNvSpPr/>
          <p:nvPr/>
        </p:nvSpPr>
        <p:spPr>
          <a:xfrm>
            <a:off x="5711740" y="1890000"/>
            <a:ext cx="9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4597E1"/>
                </a:solidFill>
                <a:latin typeface="Consolas"/>
                <a:ea typeface="Consolas"/>
                <a:cs typeface="Consolas"/>
                <a:sym typeface="Consolas"/>
              </a:rPr>
              <a:t>\c name</a:t>
            </a:r>
          </a:p>
        </p:txBody>
      </p:sp>
      <p:sp>
        <p:nvSpPr>
          <p:cNvPr id="1053" name="Shape 1053"/>
          <p:cNvSpPr/>
          <p:nvPr/>
        </p:nvSpPr>
        <p:spPr>
          <a:xfrm>
            <a:off x="6641740" y="1890000"/>
            <a:ext cx="195078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connect to one</a:t>
            </a:r>
          </a:p>
        </p:txBody>
      </p:sp>
      <p:sp>
        <p:nvSpPr>
          <p:cNvPr id="1054" name="Shape 1054"/>
          <p:cNvSpPr/>
          <p:nvPr/>
        </p:nvSpPr>
        <p:spPr>
          <a:xfrm>
            <a:off x="5711740" y="2180000"/>
            <a:ext cx="9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4597E1"/>
                </a:solidFill>
                <a:latin typeface="Consolas"/>
                <a:ea typeface="Consolas"/>
                <a:cs typeface="Consolas"/>
                <a:sym typeface="Consolas"/>
              </a:rPr>
              <a:t>\dt</a:t>
            </a:r>
          </a:p>
        </p:txBody>
      </p:sp>
      <p:sp>
        <p:nvSpPr>
          <p:cNvPr id="1055" name="Shape 1055"/>
          <p:cNvSpPr/>
          <p:nvPr/>
        </p:nvSpPr>
        <p:spPr>
          <a:xfrm>
            <a:off x="6641740" y="2180000"/>
            <a:ext cx="195078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list tables here</a:t>
            </a:r>
          </a:p>
        </p:txBody>
      </p:sp>
      <p:sp>
        <p:nvSpPr>
          <p:cNvPr id="1056" name="Shape 1056"/>
          <p:cNvSpPr/>
          <p:nvPr/>
        </p:nvSpPr>
        <p:spPr>
          <a:xfrm>
            <a:off x="5711740" y="2470000"/>
            <a:ext cx="9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4597E1"/>
                </a:solidFill>
                <a:latin typeface="Consolas"/>
                <a:ea typeface="Consolas"/>
                <a:cs typeface="Consolas"/>
                <a:sym typeface="Consolas"/>
              </a:rPr>
              <a:t>\d students</a:t>
            </a:r>
          </a:p>
        </p:txBody>
      </p:sp>
      <p:sp>
        <p:nvSpPr>
          <p:cNvPr id="1057" name="Shape 1057"/>
          <p:cNvSpPr/>
          <p:nvPr/>
        </p:nvSpPr>
        <p:spPr>
          <a:xfrm>
            <a:off x="6641740" y="2470000"/>
            <a:ext cx="195078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describe a table</a:t>
            </a:r>
          </a:p>
        </p:txBody>
      </p:sp>
      <p:sp>
        <p:nvSpPr>
          <p:cNvPr id="1058" name="Shape 1058"/>
          <p:cNvSpPr/>
          <p:nvPr/>
        </p:nvSpPr>
        <p:spPr>
          <a:xfrm>
            <a:off x="5711740" y="2760000"/>
            <a:ext cx="9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4597E1"/>
                </a:solidFill>
                <a:latin typeface="Consolas"/>
                <a:ea typeface="Consolas"/>
                <a:cs typeface="Consolas"/>
                <a:sym typeface="Consolas"/>
              </a:rPr>
              <a:t>\q</a:t>
            </a:r>
          </a:p>
        </p:txBody>
      </p:sp>
      <p:sp>
        <p:nvSpPr>
          <p:cNvPr id="1059" name="Shape 1059"/>
          <p:cNvSpPr/>
          <p:nvPr/>
        </p:nvSpPr>
        <p:spPr>
          <a:xfrm>
            <a:off x="6641740" y="2760000"/>
            <a:ext cx="195078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quit psql</a:t>
            </a:r>
          </a:p>
        </p:txBody>
      </p:sp>
      <p:sp>
        <p:nvSpPr>
          <p:cNvPr id="1060" name="Shape 1060"/>
          <p:cNvSpPr/>
          <p:nvPr/>
        </p:nvSpPr>
        <p:spPr>
          <a:xfrm>
            <a:off x="5571740" y="3220000"/>
            <a:ext cx="3160780" cy="1250000"/>
          </a:xfrm>
          <a:prstGeom prst="roundRect">
            <a:avLst>
              <a:gd fmla="val 5000" name="adj"/>
            </a:avLst>
          </a:prstGeom>
          <a:solidFill>
            <a:srgbClr val="FDF3F3"/>
          </a:solidFill>
          <a:ln w="9525" cap="flat">
            <a:solidFill>
              <a:srgbClr val="F0D2D2"/>
            </a:solidFill>
            <a:prstDash val="solid"/>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1061" name="Shape 1061"/>
          <p:cNvSpPr/>
          <p:nvPr/>
        </p:nvSpPr>
        <p:spPr>
          <a:xfrm>
            <a:off x="5711740" y="3330000"/>
            <a:ext cx="2880780" cy="24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100" u="none" cap="none" strike="noStrike">
                <a:solidFill>
                  <a:srgbClr val="B4404A"/>
                </a:solidFill>
                <a:latin typeface="Calibri"/>
                <a:ea typeface="Calibri"/>
                <a:cs typeface="Calibri"/>
                <a:sym typeface="Calibri"/>
              </a:rPr>
              <a:t>Handle with care</a:t>
            </a:r>
          </a:p>
        </p:txBody>
      </p:sp>
      <p:sp>
        <p:nvSpPr>
          <p:cNvPr id="1062" name="Shape 1062"/>
          <p:cNvSpPr/>
          <p:nvPr/>
        </p:nvSpPr>
        <p:spPr>
          <a:xfrm>
            <a:off x="5711740" y="3600000"/>
            <a:ext cx="2880780" cy="76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8A4A50"/>
                </a:solidFill>
                <a:latin typeface="Calibri"/>
                <a:ea typeface="Calibri"/>
                <a:cs typeface="Calibri"/>
                <a:sym typeface="Calibri"/>
              </a:rPr>
              <a:t>DROP DATABASE university;  removes the database and every table, row and schema inside it — permanently, with no WHERE and no undo.</a:t>
            </a:r>
          </a:p>
        </p:txBody>
      </p:sp>
      <p:pic>
        <p:nvPicPr>
          <p:cNvPr id="1063" name="Logo 1063"/>
          <p:cNvPicPr preferRelativeResize="0"/>
          <p:nvPr/>
        </p:nvPicPr>
        <p:blipFill rotWithShape="1">
          <a:blip r:embed="rId2">
            <a:alphaModFix/>
          </a:blip>
          <a:srcRect b="0" l="0" r="0" t="0"/>
          <a:stretch/>
        </p:blipFill>
        <p:spPr>
          <a:xfrm>
            <a:off x="8046491" y="150876"/>
            <a:ext cx="720090" cy="304903"/>
          </a:xfrm>
          <a:prstGeom prst="rect">
            <a:avLst/>
          </a:prstGeom>
          <a:noFill/>
          <a:ln>
            <a:noFill/>
          </a:ln>
        </p:spPr>
      </p:pic>
      <p:sp>
        <p:nvSpPr>
          <p:cNvPr id="1064" name="Shape 1064"/>
          <p:cNvSpPr/>
          <p:nvPr/>
        </p:nvSpPr>
        <p:spPr>
          <a:xfrm>
            <a:off x="8526551" y="4800600"/>
            <a:ext cx="411525" cy="205650"/>
          </a:xfrm>
          <a:prstGeom prst="rect">
            <a:avLst/>
          </a:prstGeom>
          <a:noFill/>
          <a:ln>
            <a:noFill/>
          </a:ln>
        </p:spPr>
        <p:txBody>
          <a:bodyPr anchorCtr="0" anchor="ctr" bIns="68575" lIns="68575" spcFirstLastPara="1" rIns="68575" wrap="square" tIns="68575">
            <a:noAutofit/>
          </a:bodyPr>
          <a:lstStyle/>
          <a:p>
            <a:pPr indent="0" lvl="0" marL="0" marR="0" rtl="0" algn="r">
              <a:lnSpc>
                <a:spcPct val="100000"/>
              </a:lnSpc>
              <a:spcBef>
                <a:spcPts val="0"/>
              </a:spcBef>
              <a:spcAft>
                <a:spcPts val="0"/>
              </a:spcAft>
              <a:buClr>
                <a:srgbClr val="000000"/>
              </a:buClr>
              <a:buSzPts val="1000"/>
              <a:buFont typeface="Calibri"/>
              <a:buNone/>
            </a:pPr>
            <a:r>
              <a:rPr b="0" i="0" lang="en-GB" sz="1100" u="none" cap="none" strike="noStrike">
                <a:solidFill>
                  <a:srgbClr val="A1AAB2"/>
                </a:solidFill>
                <a:latin typeface="Calibri"/>
                <a:ea typeface="Calibri"/>
                <a:cs typeface="Calibri"/>
                <a:sym typeface="Calibri"/>
              </a:rPr>
              <a:t>14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001" name="Shape 2001"/>
          <p:cNvSpPr/>
          <p:nvPr/>
        </p:nvSpPr>
        <p:spPr>
          <a:xfrm>
            <a:off x="411480" y="330000"/>
            <a:ext cx="6000000" cy="22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598DBD"/>
                </a:solidFill>
                <a:latin typeface="Calibri"/>
                <a:ea typeface="Calibri"/>
                <a:cs typeface="Calibri"/>
                <a:sym typeface="Calibri"/>
              </a:rPr>
              <a:t>DDL COMMAND 2 · IN DEPTH</a:t>
            </a:r>
          </a:p>
        </p:txBody>
      </p:sp>
      <p:sp>
        <p:nvSpPr>
          <p:cNvPr id="2002" name="Shape 2002"/>
          <p:cNvSpPr/>
          <p:nvPr/>
        </p:nvSpPr>
        <p:spPr>
          <a:xfrm>
            <a:off x="411480" y="560000"/>
            <a:ext cx="8092350" cy="4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2000" u="none" cap="none" strike="noStrike">
                <a:solidFill>
                  <a:srgbClr val="1E4161"/>
                </a:solidFill>
                <a:latin typeface="Cambria"/>
                <a:ea typeface="Cambria"/>
                <a:cs typeface="Cambria"/>
                <a:sym typeface="Cambria"/>
              </a:rPr>
              <a:t>Everything ALTER can change about a table</a:t>
            </a:r>
          </a:p>
        </p:txBody>
      </p:sp>
      <p:sp>
        <p:nvSpPr>
          <p:cNvPr id="2003" name="Shape 2003"/>
          <p:cNvSpPr/>
          <p:nvPr/>
        </p:nvSpPr>
        <p:spPr>
          <a:xfrm>
            <a:off x="411480" y="1050000"/>
            <a:ext cx="8321040" cy="25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1" lang="en-GB" sz="1100" u="none" cap="none" strike="noStrike">
                <a:solidFill>
                  <a:srgbClr val="598DBD"/>
                </a:solidFill>
                <a:latin typeface="Calibri"/>
                <a:ea typeface="Calibri"/>
                <a:cs typeface="Calibri"/>
                <a:sym typeface="Calibri"/>
              </a:rPr>
              <a:t>One statement, many jobs. ALTER never touches the rows you already have — it reshapes the structure around them.</a:t>
            </a:r>
          </a:p>
        </p:txBody>
      </p:sp>
      <p:sp>
        <p:nvSpPr>
          <p:cNvPr id="2004" name="Shape 2004"/>
          <p:cNvSpPr/>
          <p:nvPr/>
        </p:nvSpPr>
        <p:spPr>
          <a:xfrm>
            <a:off x="411480" y="1400000"/>
            <a:ext cx="2680000" cy="147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2005" name="Shape 2005"/>
          <p:cNvSpPr/>
          <p:nvPr/>
        </p:nvSpPr>
        <p:spPr>
          <a:xfrm>
            <a:off x="531480" y="1510000"/>
            <a:ext cx="2440000" cy="25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200" u="none" cap="none" strike="noStrike">
                <a:solidFill>
                  <a:srgbClr val="1E4161"/>
                </a:solidFill>
                <a:latin typeface="Cambria"/>
                <a:ea typeface="Cambria"/>
                <a:cs typeface="Cambria"/>
                <a:sym typeface="Cambria"/>
              </a:rPr>
              <a:t>ADD COLUMN</a:t>
            </a:r>
          </a:p>
        </p:txBody>
      </p:sp>
      <p:sp>
        <p:nvSpPr>
          <p:cNvPr id="2006" name="Shape 2006"/>
          <p:cNvSpPr/>
          <p:nvPr/>
        </p:nvSpPr>
        <p:spPr>
          <a:xfrm>
            <a:off x="531480" y="1790000"/>
            <a:ext cx="2440000" cy="3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alibri"/>
                <a:ea typeface="Calibri"/>
                <a:cs typeface="Calibri"/>
                <a:sym typeface="Calibri"/>
              </a:rPr>
              <a:t>Add a new field to an existing table.</a:t>
            </a:r>
          </a:p>
        </p:txBody>
      </p:sp>
      <p:sp>
        <p:nvSpPr>
          <p:cNvPr id="2007" name="Shape 2007"/>
          <p:cNvSpPr/>
          <p:nvPr/>
        </p:nvSpPr>
        <p:spPr>
          <a:xfrm>
            <a:off x="531480" y="2160000"/>
            <a:ext cx="2440000" cy="600000"/>
          </a:xfrm>
          <a:prstGeom prst="roundRect">
            <a:avLst>
              <a:gd fmla="val 4000" name="adj"/>
            </a:avLst>
          </a:prstGeom>
          <a:solidFill>
            <a:srgbClr val="16334D"/>
          </a:solidFill>
          <a:ln>
            <a:noFill/>
          </a:ln>
        </p:spPr>
        <p:txBody>
          <a:bodyPr anchorCtr="0" anchor="ctr" bIns="100000" lIns="100000" spcFirstLastPara="1" rIns="100000" wrap="square" tIns="100000">
            <a:noAutofit/>
          </a:bodyPr>
          <a:lstStyle/>
          <a:p>
            <a:pPr indent="0" lvl="0" marL="0" marR="0" rtl="0" algn="l">
              <a:lnSpc>
                <a:spcPct val="112000"/>
              </a:lnSpc>
              <a:spcBef>
                <a:spcPts val="0"/>
              </a:spcBef>
              <a:spcAft>
                <a:spcPts val="0"/>
              </a:spcAft>
              <a:buClr>
                <a:srgbClr val="000000"/>
              </a:buClr>
              <a:buSzPts val="1000"/>
              <a:buFont typeface="Calibri"/>
              <a:buNone/>
            </a:pPr>
            <a:r>
              <a:rPr b="1" i="0" lang="en-GB" sz="9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900" u="none" cap="none" strike="noStrike">
                <a:solidFill>
                  <a:srgbClr val="D7E6F5"/>
                </a:solidFill>
                <a:latin typeface="Consolas"/>
                <a:ea typeface="Consolas"/>
                <a:cs typeface="Consolas"/>
                <a:sym typeface="Consolas"/>
              </a:rPr>
              <a:t>ADD COLUMN branch VARCHAR(20);</a:t>
            </a:r>
          </a:p>
        </p:txBody>
      </p:sp>
      <p:sp>
        <p:nvSpPr>
          <p:cNvPr id="2008" name="Shape 2008"/>
          <p:cNvSpPr/>
          <p:nvPr/>
        </p:nvSpPr>
        <p:spPr>
          <a:xfrm>
            <a:off x="3231740" y="1400000"/>
            <a:ext cx="2680000" cy="147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2009" name="Shape 2009"/>
          <p:cNvSpPr/>
          <p:nvPr/>
        </p:nvSpPr>
        <p:spPr>
          <a:xfrm>
            <a:off x="3351740" y="1510000"/>
            <a:ext cx="2440000" cy="25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200" u="none" cap="none" strike="noStrike">
                <a:solidFill>
                  <a:srgbClr val="1E4161"/>
                </a:solidFill>
                <a:latin typeface="Cambria"/>
                <a:ea typeface="Cambria"/>
                <a:cs typeface="Cambria"/>
                <a:sym typeface="Cambria"/>
              </a:rPr>
              <a:t>DROP COLUMN</a:t>
            </a:r>
          </a:p>
        </p:txBody>
      </p:sp>
      <p:sp>
        <p:nvSpPr>
          <p:cNvPr id="2010" name="Shape 2010"/>
          <p:cNvSpPr/>
          <p:nvPr/>
        </p:nvSpPr>
        <p:spPr>
          <a:xfrm>
            <a:off x="3351740" y="1790000"/>
            <a:ext cx="2440000" cy="3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alibri"/>
                <a:ea typeface="Calibri"/>
                <a:cs typeface="Calibri"/>
                <a:sym typeface="Calibri"/>
              </a:rPr>
              <a:t>Remove a field and all data in it.</a:t>
            </a:r>
          </a:p>
        </p:txBody>
      </p:sp>
      <p:sp>
        <p:nvSpPr>
          <p:cNvPr id="2011" name="Shape 2011"/>
          <p:cNvSpPr/>
          <p:nvPr/>
        </p:nvSpPr>
        <p:spPr>
          <a:xfrm>
            <a:off x="3351740" y="2160000"/>
            <a:ext cx="2440000" cy="600000"/>
          </a:xfrm>
          <a:prstGeom prst="roundRect">
            <a:avLst>
              <a:gd fmla="val 4000" name="adj"/>
            </a:avLst>
          </a:prstGeom>
          <a:solidFill>
            <a:srgbClr val="16334D"/>
          </a:solidFill>
          <a:ln>
            <a:noFill/>
          </a:ln>
        </p:spPr>
        <p:txBody>
          <a:bodyPr anchorCtr="0" anchor="ctr" bIns="100000" lIns="100000" spcFirstLastPara="1" rIns="100000" wrap="square" tIns="100000">
            <a:noAutofit/>
          </a:bodyPr>
          <a:lstStyle/>
          <a:p>
            <a:pPr indent="0" lvl="0" marL="0" marR="0" rtl="0" algn="l">
              <a:lnSpc>
                <a:spcPct val="112000"/>
              </a:lnSpc>
              <a:spcBef>
                <a:spcPts val="0"/>
              </a:spcBef>
              <a:spcAft>
                <a:spcPts val="0"/>
              </a:spcAft>
              <a:buClr>
                <a:srgbClr val="000000"/>
              </a:buClr>
              <a:buSzPts val="1000"/>
              <a:buFont typeface="Calibri"/>
              <a:buNone/>
            </a:pPr>
            <a:r>
              <a:rPr b="1" i="0" lang="en-GB" sz="9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900" u="none" cap="none" strike="noStrike">
                <a:solidFill>
                  <a:srgbClr val="D7E6F5"/>
                </a:solidFill>
                <a:latin typeface="Consolas"/>
                <a:ea typeface="Consolas"/>
                <a:cs typeface="Consolas"/>
                <a:sym typeface="Consolas"/>
              </a:rPr>
              <a:t>DROP COLUMN branch;</a:t>
            </a:r>
          </a:p>
        </p:txBody>
      </p:sp>
      <p:sp>
        <p:nvSpPr>
          <p:cNvPr id="2012" name="Shape 2012"/>
          <p:cNvSpPr/>
          <p:nvPr/>
        </p:nvSpPr>
        <p:spPr>
          <a:xfrm>
            <a:off x="6052000" y="1400000"/>
            <a:ext cx="2680000" cy="147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2013" name="Shape 2013"/>
          <p:cNvSpPr/>
          <p:nvPr/>
        </p:nvSpPr>
        <p:spPr>
          <a:xfrm>
            <a:off x="6172000" y="1510000"/>
            <a:ext cx="2440000" cy="25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200" u="none" cap="none" strike="noStrike">
                <a:solidFill>
                  <a:srgbClr val="1E4161"/>
                </a:solidFill>
                <a:latin typeface="Cambria"/>
                <a:ea typeface="Cambria"/>
                <a:cs typeface="Cambria"/>
                <a:sym typeface="Cambria"/>
              </a:rPr>
              <a:t>RENAME COLUMN</a:t>
            </a:r>
          </a:p>
        </p:txBody>
      </p:sp>
      <p:sp>
        <p:nvSpPr>
          <p:cNvPr id="2014" name="Shape 2014"/>
          <p:cNvSpPr/>
          <p:nvPr/>
        </p:nvSpPr>
        <p:spPr>
          <a:xfrm>
            <a:off x="6172000" y="1790000"/>
            <a:ext cx="2440000" cy="3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alibri"/>
                <a:ea typeface="Calibri"/>
                <a:cs typeface="Calibri"/>
                <a:sym typeface="Calibri"/>
              </a:rPr>
              <a:t>Give an existing field a new name.</a:t>
            </a:r>
          </a:p>
        </p:txBody>
      </p:sp>
      <p:sp>
        <p:nvSpPr>
          <p:cNvPr id="2015" name="Shape 2015"/>
          <p:cNvSpPr/>
          <p:nvPr/>
        </p:nvSpPr>
        <p:spPr>
          <a:xfrm>
            <a:off x="6172000" y="2160000"/>
            <a:ext cx="2440000" cy="600000"/>
          </a:xfrm>
          <a:prstGeom prst="roundRect">
            <a:avLst>
              <a:gd fmla="val 4000" name="adj"/>
            </a:avLst>
          </a:prstGeom>
          <a:solidFill>
            <a:srgbClr val="16334D"/>
          </a:solidFill>
          <a:ln>
            <a:noFill/>
          </a:ln>
        </p:spPr>
        <p:txBody>
          <a:bodyPr anchorCtr="0" anchor="ctr" bIns="100000" lIns="100000" spcFirstLastPara="1" rIns="100000" wrap="square" tIns="100000">
            <a:noAutofit/>
          </a:bodyPr>
          <a:lstStyle/>
          <a:p>
            <a:pPr indent="0" lvl="0" marL="0" marR="0" rtl="0" algn="l">
              <a:lnSpc>
                <a:spcPct val="112000"/>
              </a:lnSpc>
              <a:spcBef>
                <a:spcPts val="0"/>
              </a:spcBef>
              <a:spcAft>
                <a:spcPts val="0"/>
              </a:spcAft>
              <a:buClr>
                <a:srgbClr val="000000"/>
              </a:buClr>
              <a:buSzPts val="1000"/>
              <a:buFont typeface="Calibri"/>
              <a:buNone/>
            </a:pPr>
            <a:r>
              <a:rPr b="1" i="0" lang="en-GB" sz="9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900" u="none" cap="none" strike="noStrike">
                <a:solidFill>
                  <a:srgbClr val="D7E6F5"/>
                </a:solidFill>
                <a:latin typeface="Consolas"/>
                <a:ea typeface="Consolas"/>
                <a:cs typeface="Consolas"/>
                <a:sym typeface="Consolas"/>
              </a:rPr>
              <a:t>RENAME COLUMN name TO full_name;</a:t>
            </a:r>
          </a:p>
        </p:txBody>
      </p:sp>
      <p:sp>
        <p:nvSpPr>
          <p:cNvPr id="2016" name="Shape 2016"/>
          <p:cNvSpPr/>
          <p:nvPr/>
        </p:nvSpPr>
        <p:spPr>
          <a:xfrm>
            <a:off x="411480" y="2990000"/>
            <a:ext cx="2680000" cy="147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2017" name="Shape 2017"/>
          <p:cNvSpPr/>
          <p:nvPr/>
        </p:nvSpPr>
        <p:spPr>
          <a:xfrm>
            <a:off x="531480" y="3100000"/>
            <a:ext cx="2440000" cy="25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200" u="none" cap="none" strike="noStrike">
                <a:solidFill>
                  <a:srgbClr val="1E4161"/>
                </a:solidFill>
                <a:latin typeface="Cambria"/>
                <a:ea typeface="Cambria"/>
                <a:cs typeface="Cambria"/>
                <a:sym typeface="Cambria"/>
              </a:rPr>
              <a:t>ALTER COLUMN TYPE</a:t>
            </a:r>
          </a:p>
        </p:txBody>
      </p:sp>
      <p:sp>
        <p:nvSpPr>
          <p:cNvPr id="2018" name="Shape 2018"/>
          <p:cNvSpPr/>
          <p:nvPr/>
        </p:nvSpPr>
        <p:spPr>
          <a:xfrm>
            <a:off x="531480" y="3380000"/>
            <a:ext cx="2440000" cy="3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alibri"/>
                <a:ea typeface="Calibri"/>
                <a:cs typeface="Calibri"/>
                <a:sym typeface="Calibri"/>
              </a:rPr>
              <a:t>Change a field’s data type or size.</a:t>
            </a:r>
          </a:p>
        </p:txBody>
      </p:sp>
      <p:sp>
        <p:nvSpPr>
          <p:cNvPr id="2019" name="Shape 2019"/>
          <p:cNvSpPr/>
          <p:nvPr/>
        </p:nvSpPr>
        <p:spPr>
          <a:xfrm>
            <a:off x="531480" y="3750000"/>
            <a:ext cx="2440000" cy="600000"/>
          </a:xfrm>
          <a:prstGeom prst="roundRect">
            <a:avLst>
              <a:gd fmla="val 4000" name="adj"/>
            </a:avLst>
          </a:prstGeom>
          <a:solidFill>
            <a:srgbClr val="16334D"/>
          </a:solidFill>
          <a:ln>
            <a:noFill/>
          </a:ln>
        </p:spPr>
        <p:txBody>
          <a:bodyPr anchorCtr="0" anchor="ctr" bIns="100000" lIns="100000" spcFirstLastPara="1" rIns="100000" wrap="square" tIns="100000">
            <a:noAutofit/>
          </a:bodyPr>
          <a:lstStyle/>
          <a:p>
            <a:pPr indent="0" lvl="0" marL="0" marR="0" rtl="0" algn="l">
              <a:lnSpc>
                <a:spcPct val="112000"/>
              </a:lnSpc>
              <a:spcBef>
                <a:spcPts val="0"/>
              </a:spcBef>
              <a:spcAft>
                <a:spcPts val="0"/>
              </a:spcAft>
              <a:buClr>
                <a:srgbClr val="000000"/>
              </a:buClr>
              <a:buSzPts val="1000"/>
              <a:buFont typeface="Calibri"/>
              <a:buNone/>
            </a:pPr>
            <a:r>
              <a:rPr b="1" i="0" lang="en-GB" sz="9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900" u="none" cap="none" strike="noStrike">
                <a:solidFill>
                  <a:srgbClr val="D7E6F5"/>
                </a:solidFill>
                <a:latin typeface="Consolas"/>
                <a:ea typeface="Consolas"/>
                <a:cs typeface="Consolas"/>
                <a:sym typeface="Consolas"/>
              </a:rPr>
              <a:t>ALTER COLUMN name TYPE VARCHAR(100);</a:t>
            </a:r>
          </a:p>
        </p:txBody>
      </p:sp>
      <p:sp>
        <p:nvSpPr>
          <p:cNvPr id="2020" name="Shape 2020"/>
          <p:cNvSpPr/>
          <p:nvPr/>
        </p:nvSpPr>
        <p:spPr>
          <a:xfrm>
            <a:off x="3231740" y="2990000"/>
            <a:ext cx="2680000" cy="147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2021" name="Shape 2021"/>
          <p:cNvSpPr/>
          <p:nvPr/>
        </p:nvSpPr>
        <p:spPr>
          <a:xfrm>
            <a:off x="3351740" y="3100000"/>
            <a:ext cx="2440000" cy="25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200" u="none" cap="none" strike="noStrike">
                <a:solidFill>
                  <a:srgbClr val="1E4161"/>
                </a:solidFill>
                <a:latin typeface="Cambria"/>
                <a:ea typeface="Cambria"/>
                <a:cs typeface="Cambria"/>
                <a:sym typeface="Cambria"/>
              </a:rPr>
              <a:t>SET / DROP DEFAULT</a:t>
            </a:r>
          </a:p>
        </p:txBody>
      </p:sp>
      <p:sp>
        <p:nvSpPr>
          <p:cNvPr id="2022" name="Shape 2022"/>
          <p:cNvSpPr/>
          <p:nvPr/>
        </p:nvSpPr>
        <p:spPr>
          <a:xfrm>
            <a:off x="3351740" y="3380000"/>
            <a:ext cx="2440000" cy="3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alibri"/>
                <a:ea typeface="Calibri"/>
                <a:cs typeface="Calibri"/>
                <a:sym typeface="Calibri"/>
              </a:rPr>
              <a:t>Control the value used when none is given.</a:t>
            </a:r>
          </a:p>
        </p:txBody>
      </p:sp>
      <p:sp>
        <p:nvSpPr>
          <p:cNvPr id="2023" name="Shape 2023"/>
          <p:cNvSpPr/>
          <p:nvPr/>
        </p:nvSpPr>
        <p:spPr>
          <a:xfrm>
            <a:off x="3351740" y="3750000"/>
            <a:ext cx="2440000" cy="600000"/>
          </a:xfrm>
          <a:prstGeom prst="roundRect">
            <a:avLst>
              <a:gd fmla="val 4000" name="adj"/>
            </a:avLst>
          </a:prstGeom>
          <a:solidFill>
            <a:srgbClr val="16334D"/>
          </a:solidFill>
          <a:ln>
            <a:noFill/>
          </a:ln>
        </p:spPr>
        <p:txBody>
          <a:bodyPr anchorCtr="0" anchor="ctr" bIns="100000" lIns="100000" spcFirstLastPara="1" rIns="100000" wrap="square" tIns="100000">
            <a:noAutofit/>
          </a:bodyPr>
          <a:lstStyle/>
          <a:p>
            <a:pPr indent="0" lvl="0" marL="0" marR="0" rtl="0" algn="l">
              <a:lnSpc>
                <a:spcPct val="112000"/>
              </a:lnSpc>
              <a:spcBef>
                <a:spcPts val="0"/>
              </a:spcBef>
              <a:spcAft>
                <a:spcPts val="0"/>
              </a:spcAft>
              <a:buClr>
                <a:srgbClr val="000000"/>
              </a:buClr>
              <a:buSzPts val="1000"/>
              <a:buFont typeface="Calibri"/>
              <a:buNone/>
            </a:pPr>
            <a:r>
              <a:rPr b="1" i="0" lang="en-GB" sz="9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900" u="none" cap="none" strike="noStrike">
                <a:solidFill>
                  <a:srgbClr val="D7E6F5"/>
                </a:solidFill>
                <a:latin typeface="Consolas"/>
                <a:ea typeface="Consolas"/>
                <a:cs typeface="Consolas"/>
                <a:sym typeface="Consolas"/>
              </a:rPr>
              <a:t>ALTER COLUMN branch SET DEFAULT 'CSE';</a:t>
            </a:r>
          </a:p>
        </p:txBody>
      </p:sp>
      <p:sp>
        <p:nvSpPr>
          <p:cNvPr id="2024" name="Shape 2024"/>
          <p:cNvSpPr/>
          <p:nvPr/>
        </p:nvSpPr>
        <p:spPr>
          <a:xfrm>
            <a:off x="6052000" y="2990000"/>
            <a:ext cx="2680000" cy="147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2025" name="Shape 2025"/>
          <p:cNvSpPr/>
          <p:nvPr/>
        </p:nvSpPr>
        <p:spPr>
          <a:xfrm>
            <a:off x="6172000" y="3100000"/>
            <a:ext cx="2440000" cy="25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200" u="none" cap="none" strike="noStrike">
                <a:solidFill>
                  <a:srgbClr val="1E4161"/>
                </a:solidFill>
                <a:latin typeface="Cambria"/>
                <a:ea typeface="Cambria"/>
                <a:cs typeface="Cambria"/>
                <a:sym typeface="Cambria"/>
              </a:rPr>
              <a:t>ADD CONSTRAINT</a:t>
            </a:r>
          </a:p>
        </p:txBody>
      </p:sp>
      <p:sp>
        <p:nvSpPr>
          <p:cNvPr id="2026" name="Shape 2026"/>
          <p:cNvSpPr/>
          <p:nvPr/>
        </p:nvSpPr>
        <p:spPr>
          <a:xfrm>
            <a:off x="6172000" y="3380000"/>
            <a:ext cx="2440000" cy="300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alibri"/>
                <a:ea typeface="Calibri"/>
                <a:cs typeface="Calibri"/>
                <a:sym typeface="Calibri"/>
              </a:rPr>
              <a:t>Enforce a rule: PRIMARY KEY, UNIQUE, CHECK.</a:t>
            </a:r>
          </a:p>
        </p:txBody>
      </p:sp>
      <p:sp>
        <p:nvSpPr>
          <p:cNvPr id="2027" name="Shape 2027"/>
          <p:cNvSpPr/>
          <p:nvPr/>
        </p:nvSpPr>
        <p:spPr>
          <a:xfrm>
            <a:off x="6172000" y="3750000"/>
            <a:ext cx="2440000" cy="600000"/>
          </a:xfrm>
          <a:prstGeom prst="roundRect">
            <a:avLst>
              <a:gd fmla="val 4000" name="adj"/>
            </a:avLst>
          </a:prstGeom>
          <a:solidFill>
            <a:srgbClr val="16334D"/>
          </a:solidFill>
          <a:ln>
            <a:noFill/>
          </a:ln>
        </p:spPr>
        <p:txBody>
          <a:bodyPr anchorCtr="0" anchor="ctr" bIns="100000" lIns="100000" spcFirstLastPara="1" rIns="100000" wrap="square" tIns="100000">
            <a:noAutofit/>
          </a:bodyPr>
          <a:lstStyle/>
          <a:p>
            <a:pPr indent="0" lvl="0" marL="0" marR="0" rtl="0" algn="l">
              <a:lnSpc>
                <a:spcPct val="112000"/>
              </a:lnSpc>
              <a:spcBef>
                <a:spcPts val="0"/>
              </a:spcBef>
              <a:spcAft>
                <a:spcPts val="0"/>
              </a:spcAft>
              <a:buClr>
                <a:srgbClr val="000000"/>
              </a:buClr>
              <a:buSzPts val="1000"/>
              <a:buFont typeface="Calibri"/>
              <a:buNone/>
            </a:pPr>
            <a:r>
              <a:rPr b="1" i="0" lang="en-GB" sz="9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900" u="none" cap="none" strike="noStrike">
                <a:solidFill>
                  <a:srgbClr val="D7E6F5"/>
                </a:solidFill>
                <a:latin typeface="Consolas"/>
                <a:ea typeface="Consolas"/>
                <a:cs typeface="Consolas"/>
                <a:sym typeface="Consolas"/>
              </a:rPr>
              <a:t>ADD CONSTRAINT uq_email UNIQUE (email);</a:t>
            </a:r>
          </a:p>
        </p:txBody>
      </p:sp>
      <p:sp>
        <p:nvSpPr>
          <p:cNvPr id="2028" name="Shape 2028"/>
          <p:cNvSpPr/>
          <p:nvPr/>
        </p:nvSpPr>
        <p:spPr>
          <a:xfrm>
            <a:off x="411480" y="4500000"/>
            <a:ext cx="8321040" cy="24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16334D"/>
                </a:solidFill>
                <a:latin typeface="Calibri"/>
                <a:ea typeface="Calibri"/>
                <a:cs typeface="Calibri"/>
                <a:sym typeface="Calibri"/>
              </a:rPr>
              <a:t>Also available: RENAME TO (rename the whole table), DROP CONSTRAINT, SET NOT NULL / DROP NOT NULL, and OWNER TO.</a:t>
            </a:r>
          </a:p>
        </p:txBody>
      </p:sp>
      <p:pic>
        <p:nvPicPr>
          <p:cNvPr id="2029" name="Logo 2029"/>
          <p:cNvPicPr preferRelativeResize="0"/>
          <p:nvPr/>
        </p:nvPicPr>
        <p:blipFill rotWithShape="1">
          <a:blip r:embed="rId2">
            <a:alphaModFix/>
          </a:blip>
          <a:srcRect b="0" l="0" r="0" t="0"/>
          <a:stretch/>
        </p:blipFill>
        <p:spPr>
          <a:xfrm>
            <a:off x="8046491" y="150876"/>
            <a:ext cx="720090" cy="304903"/>
          </a:xfrm>
          <a:prstGeom prst="rect">
            <a:avLst/>
          </a:prstGeom>
          <a:noFill/>
          <a:ln>
            <a:noFill/>
          </a:ln>
        </p:spPr>
      </p:pic>
      <p:sp>
        <p:nvSpPr>
          <p:cNvPr id="2030" name="Shape 2030"/>
          <p:cNvSpPr/>
          <p:nvPr/>
        </p:nvSpPr>
        <p:spPr>
          <a:xfrm>
            <a:off x="8526551" y="4800600"/>
            <a:ext cx="411525" cy="205650"/>
          </a:xfrm>
          <a:prstGeom prst="rect">
            <a:avLst/>
          </a:prstGeom>
          <a:noFill/>
          <a:ln>
            <a:noFill/>
          </a:ln>
        </p:spPr>
        <p:txBody>
          <a:bodyPr anchorCtr="0" anchor="ctr" bIns="68575" lIns="68575" spcFirstLastPara="1" rIns="68575" wrap="square" tIns="68575">
            <a:noAutofit/>
          </a:bodyPr>
          <a:lstStyle/>
          <a:p>
            <a:pPr indent="0" lvl="0" marL="0" marR="0" rtl="0" algn="r">
              <a:lnSpc>
                <a:spcPct val="100000"/>
              </a:lnSpc>
              <a:spcBef>
                <a:spcPts val="0"/>
              </a:spcBef>
              <a:spcAft>
                <a:spcPts val="0"/>
              </a:spcAft>
              <a:buClr>
                <a:srgbClr val="000000"/>
              </a:buClr>
              <a:buSzPts val="1000"/>
              <a:buFont typeface="Calibri"/>
              <a:buNone/>
            </a:pPr>
            <a:r>
              <a:rPr b="0" i="0" lang="en-GB" sz="1100" u="none" cap="none" strike="noStrike">
                <a:solidFill>
                  <a:srgbClr val="A1AAB2"/>
                </a:solidFill>
                <a:latin typeface="Calibri"/>
                <a:ea typeface="Calibri"/>
                <a:cs typeface="Calibri"/>
                <a:sym typeface="Calibri"/>
              </a:rPr>
              <a:t>17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031" name="Shape 2031"/>
          <p:cNvSpPr/>
          <p:nvPr/>
        </p:nvSpPr>
        <p:spPr>
          <a:xfrm>
            <a:off x="411480" y="330000"/>
            <a:ext cx="6000000" cy="22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00" u="none" cap="none" strike="noStrike">
                <a:solidFill>
                  <a:srgbClr val="598DBD"/>
                </a:solidFill>
                <a:latin typeface="Calibri"/>
                <a:ea typeface="Calibri"/>
                <a:cs typeface="Calibri"/>
                <a:sym typeface="Calibri"/>
              </a:rPr>
              <a:t>ALTER IN ACTION</a:t>
            </a:r>
          </a:p>
        </p:txBody>
      </p:sp>
      <p:sp>
        <p:nvSpPr>
          <p:cNvPr id="2032" name="Shape 2032"/>
          <p:cNvSpPr/>
          <p:nvPr/>
        </p:nvSpPr>
        <p:spPr>
          <a:xfrm>
            <a:off x="411480" y="560000"/>
            <a:ext cx="8092350" cy="4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2000" u="none" cap="none" strike="noStrike">
                <a:solidFill>
                  <a:srgbClr val="1E4161"/>
                </a:solidFill>
                <a:latin typeface="Cambria"/>
                <a:ea typeface="Cambria"/>
                <a:cs typeface="Cambria"/>
                <a:sym typeface="Cambria"/>
              </a:rPr>
              <a:t>Four renovations, one students table</a:t>
            </a:r>
          </a:p>
        </p:txBody>
      </p:sp>
      <p:sp>
        <p:nvSpPr>
          <p:cNvPr id="2033" name="Shape 2033"/>
          <p:cNvSpPr/>
          <p:nvPr/>
        </p:nvSpPr>
        <p:spPr>
          <a:xfrm>
            <a:off x="411480" y="1100000"/>
            <a:ext cx="4560000" cy="3080000"/>
          </a:xfrm>
          <a:prstGeom prst="roundRect">
            <a:avLst>
              <a:gd fmla="val 4000" name="adj"/>
            </a:avLst>
          </a:prstGeom>
          <a:solidFill>
            <a:srgbClr val="16334D"/>
          </a:solidFill>
          <a:ln>
            <a:noFill/>
          </a:ln>
        </p:spPr>
        <p:txBody>
          <a:bodyPr anchorCtr="0" anchor="ctr" bIns="100000" lIns="100000" spcFirstLastPara="1" rIns="100000" wrap="square" tIns="100000">
            <a:noAutofit/>
          </a:bodyPr>
          <a:lstStyle/>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8FB6D6"/>
                </a:solidFill>
                <a:latin typeface="Consolas"/>
                <a:ea typeface="Consolas"/>
                <a:cs typeface="Consolas"/>
                <a:sym typeface="Consolas"/>
              </a:rPr>
              <a:t>-- 1. add a column</a:t>
            </a:r>
          </a:p>
          <a:p>
            <a:pPr indent="0" lvl="0" marL="0" marR="0" rtl="0" algn="l">
              <a:lnSpc>
                <a:spcPct val="112000"/>
              </a:lnSpc>
              <a:spcBef>
                <a:spcPts val="0"/>
              </a:spcBef>
              <a:spcAft>
                <a:spcPts val="0"/>
              </a:spcAft>
              <a:buClr>
                <a:srgbClr val="000000"/>
              </a:buClr>
              <a:buSzPts val="1000"/>
              <a:buFont typeface="Calibri"/>
              <a:buNone/>
            </a:pPr>
            <a:r>
              <a:rPr b="1" i="0" lang="en-GB" sz="10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D7E6F5"/>
                </a:solidFill>
                <a:latin typeface="Consolas"/>
                <a:ea typeface="Consolas"/>
                <a:cs typeface="Consolas"/>
                <a:sym typeface="Consolas"/>
              </a:rPr>
              <a:t>  ADD COLUMN email VARCHAR(60);</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D7E6F5"/>
                </a:solidFill>
                <a:latin typeface="Consolas"/>
                <a:ea typeface="Consolas"/>
                <a:cs typeface="Consolas"/>
                <a:sym typeface="Consolas"/>
              </a:rPr>
              <a:t> </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8FB6D6"/>
                </a:solidFill>
                <a:latin typeface="Consolas"/>
                <a:ea typeface="Consolas"/>
                <a:cs typeface="Consolas"/>
                <a:sym typeface="Consolas"/>
              </a:rPr>
              <a:t>-- 2. widen an existing column</a:t>
            </a:r>
          </a:p>
          <a:p>
            <a:pPr indent="0" lvl="0" marL="0" marR="0" rtl="0" algn="l">
              <a:lnSpc>
                <a:spcPct val="112000"/>
              </a:lnSpc>
              <a:spcBef>
                <a:spcPts val="0"/>
              </a:spcBef>
              <a:spcAft>
                <a:spcPts val="0"/>
              </a:spcAft>
              <a:buClr>
                <a:srgbClr val="000000"/>
              </a:buClr>
              <a:buSzPts val="1000"/>
              <a:buFont typeface="Calibri"/>
              <a:buNone/>
            </a:pPr>
            <a:r>
              <a:rPr b="1" i="0" lang="en-GB" sz="10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D7E6F5"/>
                </a:solidFill>
                <a:latin typeface="Consolas"/>
                <a:ea typeface="Consolas"/>
                <a:cs typeface="Consolas"/>
                <a:sym typeface="Consolas"/>
              </a:rPr>
              <a:t>  ALTER COLUMN name TYPE VARCHAR(100);</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D7E6F5"/>
                </a:solidFill>
                <a:latin typeface="Consolas"/>
                <a:ea typeface="Consolas"/>
                <a:cs typeface="Consolas"/>
                <a:sym typeface="Consolas"/>
              </a:rPr>
              <a:t> </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8FB6D6"/>
                </a:solidFill>
                <a:latin typeface="Consolas"/>
                <a:ea typeface="Consolas"/>
                <a:cs typeface="Consolas"/>
                <a:sym typeface="Consolas"/>
              </a:rPr>
              <a:t>-- 3. enforce a rule</a:t>
            </a:r>
          </a:p>
          <a:p>
            <a:pPr indent="0" lvl="0" marL="0" marR="0" rtl="0" algn="l">
              <a:lnSpc>
                <a:spcPct val="112000"/>
              </a:lnSpc>
              <a:spcBef>
                <a:spcPts val="0"/>
              </a:spcBef>
              <a:spcAft>
                <a:spcPts val="0"/>
              </a:spcAft>
              <a:buClr>
                <a:srgbClr val="000000"/>
              </a:buClr>
              <a:buSzPts val="1000"/>
              <a:buFont typeface="Calibri"/>
              <a:buNone/>
            </a:pPr>
            <a:r>
              <a:rPr b="1" i="0" lang="en-GB" sz="10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D7E6F5"/>
                </a:solidFill>
                <a:latin typeface="Consolas"/>
                <a:ea typeface="Consolas"/>
                <a:cs typeface="Consolas"/>
                <a:sym typeface="Consolas"/>
              </a:rPr>
              <a:t>  ADD CONSTRAINT uq_email UNIQUE (email);</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D7E6F5"/>
                </a:solidFill>
                <a:latin typeface="Consolas"/>
                <a:ea typeface="Consolas"/>
                <a:cs typeface="Consolas"/>
                <a:sym typeface="Consolas"/>
              </a:rPr>
              <a:t> </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8FB6D6"/>
                </a:solidFill>
                <a:latin typeface="Consolas"/>
                <a:ea typeface="Consolas"/>
                <a:cs typeface="Consolas"/>
                <a:sym typeface="Consolas"/>
              </a:rPr>
              <a:t>-- 4. remove what is no longer needed</a:t>
            </a:r>
          </a:p>
          <a:p>
            <a:pPr indent="0" lvl="0" marL="0" marR="0" rtl="0" algn="l">
              <a:lnSpc>
                <a:spcPct val="112000"/>
              </a:lnSpc>
              <a:spcBef>
                <a:spcPts val="0"/>
              </a:spcBef>
              <a:spcAft>
                <a:spcPts val="0"/>
              </a:spcAft>
              <a:buClr>
                <a:srgbClr val="000000"/>
              </a:buClr>
              <a:buSzPts val="1000"/>
              <a:buFont typeface="Calibri"/>
              <a:buNone/>
            </a:pPr>
            <a:r>
              <a:rPr b="1" i="0" lang="en-GB" sz="1000" u="none" cap="none" strike="noStrike">
                <a:solidFill>
                  <a:srgbClr val="7FC4FF"/>
                </a:solidFill>
                <a:latin typeface="Consolas"/>
                <a:ea typeface="Consolas"/>
                <a:cs typeface="Consolas"/>
                <a:sym typeface="Consolas"/>
              </a:rPr>
              <a:t>ALTER TABLE students</a:t>
            </a:r>
          </a:p>
          <a:p>
            <a:pPr indent="0" lvl="0" marL="0" marR="0" rtl="0" algn="l">
              <a:lnSpc>
                <a:spcPct val="112000"/>
              </a:lnSpc>
              <a:spcBef>
                <a:spcPts val="0"/>
              </a:spcBef>
              <a:spcAft>
                <a:spcPts val="0"/>
              </a:spcAft>
              <a:buClr>
                <a:srgbClr val="000000"/>
              </a:buClr>
              <a:buSzPts val="1000"/>
              <a:buFont typeface="Calibri"/>
              <a:buNone/>
            </a:pPr>
            <a:r>
              <a:rPr b="0" i="0" lang="en-GB" sz="1000" u="none" cap="none" strike="noStrike">
                <a:solidFill>
                  <a:srgbClr val="D7E6F5"/>
                </a:solidFill>
                <a:latin typeface="Consolas"/>
                <a:ea typeface="Consolas"/>
                <a:cs typeface="Consolas"/>
                <a:sym typeface="Consolas"/>
              </a:rPr>
              <a:t>  DROP COLUMN email;</a:t>
            </a:r>
          </a:p>
        </p:txBody>
      </p:sp>
      <p:sp>
        <p:nvSpPr>
          <p:cNvPr id="2034" name="Shape 2034"/>
          <p:cNvSpPr/>
          <p:nvPr/>
        </p:nvSpPr>
        <p:spPr>
          <a:xfrm>
            <a:off x="5171480" y="1100000"/>
            <a:ext cx="3561040" cy="1520000"/>
          </a:xfrm>
          <a:prstGeom prst="roundRect">
            <a:avLst>
              <a:gd fmla="val 2609" name="adj"/>
            </a:avLst>
          </a:prstGeom>
          <a:solidFill>
            <a:srgbClr val="F8FAFB"/>
          </a:solidFill>
          <a:ln>
            <a:noFill/>
          </a:ln>
          <a:effectLst>
            <a:outerShdw blurRad="76200" rotWithShape="0" algn="bl" dir="5400000" dist="25400">
              <a:srgbClr val="3D444B">
                <a:alpha val="18039"/>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2035" name="Shape 2035"/>
          <p:cNvSpPr/>
          <p:nvPr/>
        </p:nvSpPr>
        <p:spPr>
          <a:xfrm>
            <a:off x="5291480" y="1190000"/>
            <a:ext cx="3321040" cy="23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950" u="none" cap="none" strike="noStrike">
                <a:solidFill>
                  <a:srgbClr val="598DBD"/>
                </a:solidFill>
                <a:latin typeface="Calibri"/>
                <a:ea typeface="Calibri"/>
                <a:cs typeface="Calibri"/>
                <a:sym typeface="Calibri"/>
              </a:rPr>
              <a:t>STRUCTURE BEFORE</a:t>
            </a:r>
          </a:p>
        </p:txBody>
      </p:sp>
      <p:sp>
        <p:nvSpPr>
          <p:cNvPr id="2036" name="Shape 2036"/>
          <p:cNvSpPr/>
          <p:nvPr/>
        </p:nvSpPr>
        <p:spPr>
          <a:xfrm>
            <a:off x="5291480" y="1470000"/>
            <a:ext cx="15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50" u="none" cap="none" strike="noStrike">
                <a:solidFill>
                  <a:srgbClr val="16334D"/>
                </a:solidFill>
                <a:latin typeface="Consolas"/>
                <a:ea typeface="Consolas"/>
                <a:cs typeface="Consolas"/>
                <a:sym typeface="Consolas"/>
              </a:rPr>
              <a:t>id</a:t>
            </a:r>
          </a:p>
        </p:txBody>
      </p:sp>
      <p:sp>
        <p:nvSpPr>
          <p:cNvPr id="2037" name="Shape 2037"/>
          <p:cNvSpPr/>
          <p:nvPr/>
        </p:nvSpPr>
        <p:spPr>
          <a:xfrm>
            <a:off x="6791480" y="1470000"/>
            <a:ext cx="182104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50" u="none" cap="none" strike="noStrike">
                <a:solidFill>
                  <a:srgbClr val="598DBD"/>
                </a:solidFill>
                <a:latin typeface="Consolas"/>
                <a:ea typeface="Consolas"/>
                <a:cs typeface="Consolas"/>
                <a:sym typeface="Consolas"/>
              </a:rPr>
              <a:t>INT</a:t>
            </a:r>
          </a:p>
        </p:txBody>
      </p:sp>
      <p:sp>
        <p:nvSpPr>
          <p:cNvPr id="2038" name="Shape 2038"/>
          <p:cNvSpPr/>
          <p:nvPr/>
        </p:nvSpPr>
        <p:spPr>
          <a:xfrm>
            <a:off x="5291480" y="1770000"/>
            <a:ext cx="15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50" u="none" cap="none" strike="noStrike">
                <a:solidFill>
                  <a:srgbClr val="16334D"/>
                </a:solidFill>
                <a:latin typeface="Consolas"/>
                <a:ea typeface="Consolas"/>
                <a:cs typeface="Consolas"/>
                <a:sym typeface="Consolas"/>
              </a:rPr>
              <a:t>name</a:t>
            </a:r>
          </a:p>
        </p:txBody>
      </p:sp>
      <p:sp>
        <p:nvSpPr>
          <p:cNvPr id="2039" name="Shape 2039"/>
          <p:cNvSpPr/>
          <p:nvPr/>
        </p:nvSpPr>
        <p:spPr>
          <a:xfrm>
            <a:off x="6791480" y="1770000"/>
            <a:ext cx="182104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50" u="none" cap="none" strike="noStrike">
                <a:solidFill>
                  <a:srgbClr val="598DBD"/>
                </a:solidFill>
                <a:latin typeface="Consolas"/>
                <a:ea typeface="Consolas"/>
                <a:cs typeface="Consolas"/>
                <a:sym typeface="Consolas"/>
              </a:rPr>
              <a:t>VARCHAR(50)</a:t>
            </a:r>
          </a:p>
        </p:txBody>
      </p:sp>
      <p:sp>
        <p:nvSpPr>
          <p:cNvPr id="2040" name="Shape 2040"/>
          <p:cNvSpPr/>
          <p:nvPr/>
        </p:nvSpPr>
        <p:spPr>
          <a:xfrm>
            <a:off x="5171480" y="2720000"/>
            <a:ext cx="3561040" cy="1460000"/>
          </a:xfrm>
          <a:prstGeom prst="roundRect">
            <a:avLst>
              <a:gd fmla="val 2609" name="adj"/>
            </a:avLst>
          </a:prstGeom>
          <a:solidFill>
            <a:srgbClr val="F1F8F3"/>
          </a:solidFill>
          <a:ln w="9525" cap="flat">
            <a:solidFill>
              <a:srgbClr val="CFE6D6"/>
            </a:solidFill>
            <a:prstDash val="solid"/>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00" u="none" cap="none" strike="noStrike">
                <a:solidFill>
                  <a:srgbClr val="16334D"/>
                </a:solidFill>
                <a:latin typeface="Calibri"/>
                <a:ea typeface="Calibri"/>
                <a:cs typeface="Calibri"/>
                <a:sym typeface="Calibri"/>
              </a:rPr>
              <a:t> </a:t>
            </a:r>
          </a:p>
        </p:txBody>
      </p:sp>
      <p:sp>
        <p:nvSpPr>
          <p:cNvPr id="2041" name="Shape 2041"/>
          <p:cNvSpPr/>
          <p:nvPr/>
        </p:nvSpPr>
        <p:spPr>
          <a:xfrm>
            <a:off x="5291480" y="2810000"/>
            <a:ext cx="3321040" cy="23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950" u="none" cap="none" strike="noStrike">
                <a:solidFill>
                  <a:srgbClr val="3A7D52"/>
                </a:solidFill>
                <a:latin typeface="Calibri"/>
                <a:ea typeface="Calibri"/>
                <a:cs typeface="Calibri"/>
                <a:sym typeface="Calibri"/>
              </a:rPr>
              <a:t>STRUCTURE AFTER STEPS 1–3</a:t>
            </a:r>
          </a:p>
        </p:txBody>
      </p:sp>
      <p:sp>
        <p:nvSpPr>
          <p:cNvPr id="2042" name="Shape 2042"/>
          <p:cNvSpPr/>
          <p:nvPr/>
        </p:nvSpPr>
        <p:spPr>
          <a:xfrm>
            <a:off x="5291480" y="3090000"/>
            <a:ext cx="13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50" u="none" cap="none" strike="noStrike">
                <a:solidFill>
                  <a:srgbClr val="16334D"/>
                </a:solidFill>
                <a:latin typeface="Consolas"/>
                <a:ea typeface="Consolas"/>
                <a:cs typeface="Consolas"/>
                <a:sym typeface="Consolas"/>
              </a:rPr>
              <a:t>id</a:t>
            </a:r>
          </a:p>
        </p:txBody>
      </p:sp>
      <p:sp>
        <p:nvSpPr>
          <p:cNvPr id="2043" name="Shape 2043"/>
          <p:cNvSpPr/>
          <p:nvPr/>
        </p:nvSpPr>
        <p:spPr>
          <a:xfrm>
            <a:off x="6591480" y="3090000"/>
            <a:ext cx="15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onsolas"/>
                <a:ea typeface="Consolas"/>
                <a:cs typeface="Consolas"/>
                <a:sym typeface="Consolas"/>
              </a:rPr>
              <a:t>INT</a:t>
            </a:r>
          </a:p>
        </p:txBody>
      </p:sp>
      <p:sp>
        <p:nvSpPr>
          <p:cNvPr id="2044" name="Shape 2044"/>
          <p:cNvSpPr/>
          <p:nvPr/>
        </p:nvSpPr>
        <p:spPr>
          <a:xfrm>
            <a:off x="5291480" y="3390000"/>
            <a:ext cx="13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50" u="none" cap="none" strike="noStrike">
                <a:solidFill>
                  <a:srgbClr val="16334D"/>
                </a:solidFill>
                <a:latin typeface="Consolas"/>
                <a:ea typeface="Consolas"/>
                <a:cs typeface="Consolas"/>
                <a:sym typeface="Consolas"/>
              </a:rPr>
              <a:t>name</a:t>
            </a:r>
          </a:p>
        </p:txBody>
      </p:sp>
      <p:sp>
        <p:nvSpPr>
          <p:cNvPr id="2045" name="Shape 2045"/>
          <p:cNvSpPr/>
          <p:nvPr/>
        </p:nvSpPr>
        <p:spPr>
          <a:xfrm>
            <a:off x="6591480" y="3390000"/>
            <a:ext cx="15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onsolas"/>
                <a:ea typeface="Consolas"/>
                <a:cs typeface="Consolas"/>
                <a:sym typeface="Consolas"/>
              </a:rPr>
              <a:t>VARCHAR(100)</a:t>
            </a:r>
          </a:p>
        </p:txBody>
      </p:sp>
      <p:sp>
        <p:nvSpPr>
          <p:cNvPr id="2046" name="Shape 2046"/>
          <p:cNvSpPr/>
          <p:nvPr/>
        </p:nvSpPr>
        <p:spPr>
          <a:xfrm>
            <a:off x="8091480" y="3390000"/>
            <a:ext cx="600000" cy="270000"/>
          </a:xfrm>
          <a:prstGeom prst="rect">
            <a:avLst/>
          </a:prstGeom>
          <a:noFill/>
          <a:ln>
            <a:noFill/>
          </a:ln>
        </p:spPr>
        <p:txBody>
          <a:bodyPr anchorCtr="0" anchor="ctr" bIns="68575" lIns="68575" spcFirstLastPara="1" rIns="68575" wrap="square" tIns="68575">
            <a:noAutofit/>
          </a:bodyPr>
          <a:lstStyle/>
          <a:p>
            <a:pPr indent="0" lvl="0" marL="0" marR="0" rtl="0" algn="r">
              <a:lnSpc>
                <a:spcPct val="100000"/>
              </a:lnSpc>
              <a:spcBef>
                <a:spcPts val="0"/>
              </a:spcBef>
              <a:spcAft>
                <a:spcPts val="0"/>
              </a:spcAft>
              <a:buClr>
                <a:srgbClr val="000000"/>
              </a:buClr>
              <a:buSzPts val="1000"/>
              <a:buFont typeface="Calibri"/>
              <a:buNone/>
            </a:pPr>
            <a:r>
              <a:rPr b="1" i="0" lang="en-GB" sz="850" u="none" cap="none" strike="noStrike">
                <a:solidFill>
                  <a:srgbClr val="3A7D52"/>
                </a:solidFill>
                <a:latin typeface="Calibri"/>
                <a:ea typeface="Calibri"/>
                <a:cs typeface="Calibri"/>
                <a:sym typeface="Calibri"/>
              </a:rPr>
              <a:t>widened</a:t>
            </a:r>
          </a:p>
        </p:txBody>
      </p:sp>
      <p:sp>
        <p:nvSpPr>
          <p:cNvPr id="2047" name="Shape 2047"/>
          <p:cNvSpPr/>
          <p:nvPr/>
        </p:nvSpPr>
        <p:spPr>
          <a:xfrm>
            <a:off x="5291480" y="3690000"/>
            <a:ext cx="13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1" i="0" lang="en-GB" sz="1050" u="none" cap="none" strike="noStrike">
                <a:solidFill>
                  <a:srgbClr val="16334D"/>
                </a:solidFill>
                <a:latin typeface="Consolas"/>
                <a:ea typeface="Consolas"/>
                <a:cs typeface="Consolas"/>
                <a:sym typeface="Consolas"/>
              </a:rPr>
              <a:t>email</a:t>
            </a:r>
          </a:p>
        </p:txBody>
      </p:sp>
      <p:sp>
        <p:nvSpPr>
          <p:cNvPr id="2048" name="Shape 2048"/>
          <p:cNvSpPr/>
          <p:nvPr/>
        </p:nvSpPr>
        <p:spPr>
          <a:xfrm>
            <a:off x="6591480" y="3690000"/>
            <a:ext cx="1500000" cy="270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950" u="none" cap="none" strike="noStrike">
                <a:solidFill>
                  <a:srgbClr val="598DBD"/>
                </a:solidFill>
                <a:latin typeface="Consolas"/>
                <a:ea typeface="Consolas"/>
                <a:cs typeface="Consolas"/>
                <a:sym typeface="Consolas"/>
              </a:rPr>
              <a:t>VARCHAR(60) UNIQUE</a:t>
            </a:r>
          </a:p>
        </p:txBody>
      </p:sp>
      <p:sp>
        <p:nvSpPr>
          <p:cNvPr id="2049" name="Shape 2049"/>
          <p:cNvSpPr/>
          <p:nvPr/>
        </p:nvSpPr>
        <p:spPr>
          <a:xfrm>
            <a:off x="8091480" y="3690000"/>
            <a:ext cx="600000" cy="270000"/>
          </a:xfrm>
          <a:prstGeom prst="rect">
            <a:avLst/>
          </a:prstGeom>
          <a:noFill/>
          <a:ln>
            <a:noFill/>
          </a:ln>
        </p:spPr>
        <p:txBody>
          <a:bodyPr anchorCtr="0" anchor="ctr" bIns="68575" lIns="68575" spcFirstLastPara="1" rIns="68575" wrap="square" tIns="68575">
            <a:noAutofit/>
          </a:bodyPr>
          <a:lstStyle/>
          <a:p>
            <a:pPr indent="0" lvl="0" marL="0" marR="0" rtl="0" algn="r">
              <a:lnSpc>
                <a:spcPct val="100000"/>
              </a:lnSpc>
              <a:spcBef>
                <a:spcPts val="0"/>
              </a:spcBef>
              <a:spcAft>
                <a:spcPts val="0"/>
              </a:spcAft>
              <a:buClr>
                <a:srgbClr val="000000"/>
              </a:buClr>
              <a:buSzPts val="1000"/>
              <a:buFont typeface="Calibri"/>
              <a:buNone/>
            </a:pPr>
            <a:r>
              <a:rPr b="1" i="0" lang="en-GB" sz="850" u="none" cap="none" strike="noStrike">
                <a:solidFill>
                  <a:srgbClr val="3A7D52"/>
                </a:solidFill>
                <a:latin typeface="Calibri"/>
                <a:ea typeface="Calibri"/>
                <a:cs typeface="Calibri"/>
                <a:sym typeface="Calibri"/>
              </a:rPr>
              <a:t>new</a:t>
            </a:r>
          </a:p>
        </p:txBody>
      </p:sp>
      <p:sp>
        <p:nvSpPr>
          <p:cNvPr id="2050" name="Shape 2050"/>
          <p:cNvSpPr/>
          <p:nvPr/>
        </p:nvSpPr>
        <p:spPr>
          <a:xfrm>
            <a:off x="411480" y="4300000"/>
            <a:ext cx="8321040" cy="420000"/>
          </a:xfrm>
          <a:prstGeom prst="roundRect">
            <a:avLst>
              <a:gd fmla="val 4000" name="adj"/>
            </a:avLst>
          </a:prstGeom>
          <a:solidFill>
            <a:srgbClr val="FDF3F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00"/>
              <a:buFont typeface="Calibri"/>
              <a:buNone/>
            </a:pPr>
            <a:r>
              <a:rPr b="0" i="0" lang="en-GB" sz="1000" u="none" cap="none" strike="noStrike">
                <a:solidFill>
                  <a:srgbClr val="8A4A50"/>
                </a:solidFill>
                <a:latin typeface="Calibri"/>
                <a:ea typeface="Calibri"/>
                <a:cs typeface="Calibri"/>
                <a:sym typeface="Calibri"/>
              </a:rPr>
              <a:t>Existing rows survive every one of these — except DROP COLUMN, which deletes that column’s data for every row. Adding a NOT NULL column to a table that already has rows needs a DEFAULT, or PostgreSQL refuses.</a:t>
            </a:r>
          </a:p>
        </p:txBody>
      </p:sp>
      <p:pic>
        <p:nvPicPr>
          <p:cNvPr id="2051" name="Logo 2051"/>
          <p:cNvPicPr preferRelativeResize="0"/>
          <p:nvPr/>
        </p:nvPicPr>
        <p:blipFill rotWithShape="1">
          <a:blip r:embed="rId2">
            <a:alphaModFix/>
          </a:blip>
          <a:srcRect b="0" l="0" r="0" t="0"/>
          <a:stretch/>
        </p:blipFill>
        <p:spPr>
          <a:xfrm>
            <a:off x="8046491" y="150876"/>
            <a:ext cx="720090" cy="304903"/>
          </a:xfrm>
          <a:prstGeom prst="rect">
            <a:avLst/>
          </a:prstGeom>
          <a:noFill/>
          <a:ln>
            <a:noFill/>
          </a:ln>
        </p:spPr>
      </p:pic>
      <p:sp>
        <p:nvSpPr>
          <p:cNvPr id="2052" name="Shape 2052"/>
          <p:cNvSpPr/>
          <p:nvPr/>
        </p:nvSpPr>
        <p:spPr>
          <a:xfrm>
            <a:off x="8526551" y="4800600"/>
            <a:ext cx="411525" cy="205650"/>
          </a:xfrm>
          <a:prstGeom prst="rect">
            <a:avLst/>
          </a:prstGeom>
          <a:noFill/>
          <a:ln>
            <a:noFill/>
          </a:ln>
        </p:spPr>
        <p:txBody>
          <a:bodyPr anchorCtr="0" anchor="ctr" bIns="68575" lIns="68575" spcFirstLastPara="1" rIns="68575" wrap="square" tIns="68575">
            <a:noAutofit/>
          </a:bodyPr>
          <a:lstStyle/>
          <a:p>
            <a:pPr indent="0" lvl="0" marL="0" marR="0" rtl="0" algn="r">
              <a:lnSpc>
                <a:spcPct val="100000"/>
              </a:lnSpc>
              <a:spcBef>
                <a:spcPts val="0"/>
              </a:spcBef>
              <a:spcAft>
                <a:spcPts val="0"/>
              </a:spcAft>
              <a:buClr>
                <a:srgbClr val="000000"/>
              </a:buClr>
              <a:buSzPts val="1000"/>
              <a:buFont typeface="Calibri"/>
              <a:buNone/>
            </a:pPr>
            <a:r>
              <a:rPr b="0" i="0" lang="en-GB" sz="1100" u="none" cap="none" strike="noStrike">
                <a:solidFill>
                  <a:srgbClr val="A1AAB2"/>
                </a:solidFill>
                <a:latin typeface="Calibri"/>
                <a:ea typeface="Calibri"/>
                <a:cs typeface="Calibri"/>
                <a:sym typeface="Calibri"/>
              </a:rPr>
              <a:t>18</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a:dk1>
        <a:srgbClr val="1D2D3C"/>
      </a:dk1>
      <a:lt1>
        <a:srgbClr val="FFFFFF"/>
      </a:lt1>
      <a:dk2>
        <a:srgbClr val="1D65B5"/>
      </a:dk2>
      <a:lt2>
        <a:srgbClr val="EEF2F7"/>
      </a:lt2>
      <a:accent1>
        <a:srgbClr val="519CDE"/>
      </a:accent1>
      <a:accent2>
        <a:srgbClr val="1D65B5"/>
      </a:accent2>
      <a:accent3>
        <a:srgbClr val="2260B1"/>
      </a:accent3>
      <a:accent4>
        <a:srgbClr val="A9B9CD"/>
      </a:accent4>
      <a:accent5>
        <a:srgbClr val="595959"/>
      </a:accent5>
      <a:accent6>
        <a:srgbClr val="0D1A27"/>
      </a:accent6>
      <a:hlink>
        <a:srgbClr val="519CDE"/>
      </a:hlink>
      <a:folHlink>
        <a:srgbClr val="1D6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